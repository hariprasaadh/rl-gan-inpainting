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  Backbone</c:v>
                </c:pt>
              </c:strCache>
            </c:strRef>
          </c:tx>
          <c:spPr>
            <a:solidFill>
              <a:srgbClr val="8A93B8"/>
            </a:solidFill>
            <a:effectLst/>
          </c:spPr>
          <c:invertIfNegative val="0"/>
          <c:dLbls>
            <c:numFmt formatCode="0.0" sourceLinked="0"/>
            <c:txPr>
              <a:bodyPr/>
              <a:lstStyle/>
              <a:p>
                <a:pPr>
                  <a:defRPr b="0" i="0" strike="noStrike" sz="900" u="none">
                    <a:solidFill>
                      <a:srgbClr val="1B214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Alpine lake</c:v>
                  </c:pt>
                  <c:pt idx="1">
                    <c:v>Lush meadow</c:v>
                  </c:pt>
                  <c:pt idx="2">
                    <c:v>Sunset peaks</c:v>
                  </c:pt>
                </c:lvl>
              </c:multiLvlStrCache>
            </c:multiLvlStrRef>
          </c:cat>
          <c:val>
            <c:numRef>
              <c:f>Sheet1!$B$2:$B$4</c:f>
              <c:numCache>
                <c:formatCode>General</c:formatCode>
                <c:ptCount val="3"/>
                <c:pt idx="0">
                  <c:v>34.45</c:v>
                </c:pt>
                <c:pt idx="1">
                  <c:v>33.72</c:v>
                </c:pt>
                <c:pt idx="2">
                  <c:v>40.58</c:v>
                </c:pt>
              </c:numCache>
            </c:numRef>
          </c:val>
        </c:ser>
        <c:ser>
          <c:idx val="1"/>
          <c:order val="1"/>
          <c:tx>
            <c:strRef>
              <c:f>Sheet1!$C$1</c:f>
              <c:strCache>
                <c:ptCount val="1"/>
                <c:pt idx="0">
                  <c:v>B  Fixed Global</c:v>
                </c:pt>
              </c:strCache>
            </c:strRef>
          </c:tx>
          <c:spPr>
            <a:solidFill>
              <a:srgbClr val="14B8A6"/>
            </a:solidFill>
            <a:effectLst/>
          </c:spPr>
          <c:invertIfNegative val="0"/>
          <c:dLbls>
            <c:numFmt formatCode="0.0" sourceLinked="0"/>
            <c:txPr>
              <a:bodyPr/>
              <a:lstStyle/>
              <a:p>
                <a:pPr>
                  <a:defRPr b="0" i="0" strike="noStrike" sz="900" u="none">
                    <a:solidFill>
                      <a:srgbClr val="1B214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Alpine lake</c:v>
                  </c:pt>
                  <c:pt idx="1">
                    <c:v>Lush meadow</c:v>
                  </c:pt>
                  <c:pt idx="2">
                    <c:v>Sunset peaks</c:v>
                  </c:pt>
                </c:lvl>
              </c:multiLvlStrCache>
            </c:multiLvlStrRef>
          </c:cat>
          <c:val>
            <c:numRef>
              <c:f>Sheet1!$C$2:$C$4</c:f>
              <c:numCache>
                <c:formatCode>General</c:formatCode>
                <c:ptCount val="3"/>
                <c:pt idx="0">
                  <c:v>35.21</c:v>
                </c:pt>
                <c:pt idx="1">
                  <c:v>34.54</c:v>
                </c:pt>
                <c:pt idx="2">
                  <c:v>40</c:v>
                </c:pt>
              </c:numCache>
            </c:numRef>
          </c:val>
        </c:ser>
        <c:ser>
          <c:idx val="2"/>
          <c:order val="2"/>
          <c:tx>
            <c:strRef>
              <c:f>Sheet1!$D$1</c:f>
              <c:strCache>
                <c:ptCount val="1"/>
                <c:pt idx="0">
                  <c:v>C  PPO-selected</c:v>
                </c:pt>
              </c:strCache>
            </c:strRef>
          </c:tx>
          <c:spPr>
            <a:solidFill>
              <a:srgbClr val="6D5DFC"/>
            </a:solidFill>
            <a:effectLst/>
          </c:spPr>
          <c:invertIfNegative val="0"/>
          <c:dLbls>
            <c:numFmt formatCode="0.0" sourceLinked="0"/>
            <c:txPr>
              <a:bodyPr/>
              <a:lstStyle/>
              <a:p>
                <a:pPr>
                  <a:defRPr b="0" i="0" strike="noStrike" sz="900" u="none">
                    <a:solidFill>
                      <a:srgbClr val="1B214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Alpine lake</c:v>
                  </c:pt>
                  <c:pt idx="1">
                    <c:v>Lush meadow</c:v>
                  </c:pt>
                  <c:pt idx="2">
                    <c:v>Sunset peaks</c:v>
                  </c:pt>
                </c:lvl>
              </c:multiLvlStrCache>
            </c:multiLvlStrRef>
          </c:cat>
          <c:val>
            <c:numRef>
              <c:f>Sheet1!$D$2:$D$4</c:f>
              <c:numCache>
                <c:formatCode>General</c:formatCode>
                <c:ptCount val="3"/>
                <c:pt idx="0">
                  <c:v>32.25</c:v>
                </c:pt>
                <c:pt idx="1">
                  <c:v>34.54</c:v>
                </c:pt>
                <c:pt idx="2">
                  <c:v>36.8</c:v>
                </c:pt>
              </c:numCache>
            </c:numRef>
          </c:val>
        </c:ser>
        <c:ser>
          <c:idx val="3"/>
          <c:order val="3"/>
          <c:tx>
            <c:strRef>
              <c:f>Sheet1!$E$1</c:f>
              <c:strCache>
                <c:ptCount val="1"/>
                <c:pt idx="0">
                  <c:v>D  PPO + refine</c:v>
                </c:pt>
              </c:strCache>
            </c:strRef>
          </c:tx>
          <c:spPr>
            <a:solidFill>
              <a:srgbClr val="F59E0B"/>
            </a:solidFill>
            <a:effectLst/>
          </c:spPr>
          <c:invertIfNegative val="0"/>
          <c:dLbls>
            <c:numFmt formatCode="0.0" sourceLinked="0"/>
            <c:txPr>
              <a:bodyPr/>
              <a:lstStyle/>
              <a:p>
                <a:pPr>
                  <a:defRPr b="0" i="0" strike="noStrike" sz="900" u="none">
                    <a:solidFill>
                      <a:srgbClr val="1B214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Alpine lake</c:v>
                  </c:pt>
                  <c:pt idx="1">
                    <c:v>Lush meadow</c:v>
                  </c:pt>
                  <c:pt idx="2">
                    <c:v>Sunset peaks</c:v>
                  </c:pt>
                </c:lvl>
              </c:multiLvlStrCache>
            </c:multiLvlStrRef>
          </c:cat>
          <c:val>
            <c:numRef>
              <c:f>Sheet1!$E$2:$E$4</c:f>
              <c:numCache>
                <c:formatCode>General</c:formatCode>
                <c:ptCount val="3"/>
                <c:pt idx="0">
                  <c:v>37.23</c:v>
                </c:pt>
                <c:pt idx="1">
                  <c:v>39.65</c:v>
                </c:pt>
                <c:pt idx="2">
                  <c:v>43.19</c:v>
                </c:pt>
              </c:numCache>
            </c:numRef>
          </c:val>
        </c:ser>
        <c:dLbls>
          <c:numFmt formatCode="0.0" sourceLinked="0"/>
          <c:txPr>
            <a:bodyPr/>
            <a:lstStyle/>
            <a:p>
              <a:pPr>
                <a:defRPr b="0" i="0" strike="noStrike" sz="900" u="none">
                  <a:solidFill>
                    <a:srgbClr val="1B214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140"/>
                </a:solidFill>
                <a:latin typeface="Calibri"/>
              </a:defRPr>
            </a:pPr>
            <a:endParaRPr lang="en-US"/>
          </a:p>
        </c:txPr>
        <c:crossAx val="2094734552"/>
        <c:crosses val="autoZero"/>
        <c:auto val="1"/>
        <c:lblAlgn val="ctr"/>
        <c:noMultiLvlLbl val="1"/>
      </c:catAx>
      <c:valAx>
        <c:axId val="2094734552"/>
        <c:scaling>
          <c:orientation val="minMax"/>
          <c:max val="46"/>
          <c:min val="28"/>
        </c:scaling>
        <c:delete val="0"/>
        <c:axPos val="l"/>
        <c:majorGridlines>
          <c:spPr>
            <a:ln w="6350" cap="flat">
              <a:solidFill>
                <a:srgbClr val="E3E6F0"/>
              </a:solidFill>
              <a:prstDash val="solid"/>
              <a:round/>
            </a:ln>
          </c:spPr>
        </c:majorGridlines>
        <c:title>
          <c:tx>
            <c:rich>
              <a:bodyPr/>
              <a:lstStyle/>
              <a:p>
                <a:pPr>
                  <a:defRPr sz="1000" b="0" i="0" u="none" strike="noStrike">
                    <a:solidFill>
                      <a:srgbClr val="5B6285"/>
                    </a:solidFill>
                    <a:latin typeface="Arial"/>
                  </a:defRPr>
                </a:pPr>
                <a:r>
                  <a:rPr sz="1000" b="0" i="0" u="none" strike="noStrike">
                    <a:solidFill>
                      <a:srgbClr val="5B6285"/>
                    </a:solidFill>
                    <a:latin typeface="Arial"/>
                  </a:rPr>
                  <a:t>PSNR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285"/>
                </a:solidFill>
                <a:latin typeface="Calibri"/>
              </a:defRPr>
            </a:pPr>
            <a:endParaRPr lang="en-US"/>
          </a:p>
        </c:txPr>
        <c:crossAx val="2094734554"/>
        <c:crosses val="autoZero"/>
        <c:crossBetween val="between"/>
        <c:majorUnit val="4"/>
      </c:valAx>
      <c:spPr>
        <a:noFill/>
        <a:ln>
          <a:noFill/>
        </a:ln>
        <a:effectLst/>
      </c:spPr>
    </c:plotArea>
    <c:legend>
      <c:legendPos val="b"/>
      <c:overlay val="0"/>
      <c:txPr>
        <a:bodyPr/>
        <a:lstStyle/>
        <a:p>
          <a:pPr>
            <a:defRPr sz="1100">
              <a:solidFill>
                <a:srgbClr val="5B628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Global</c:v>
                </c:pt>
              </c:strCache>
            </c:strRef>
          </c:tx>
          <c:spPr>
            <a:solidFill>
              <a:srgbClr val="6D5DF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Image 0</c:v>
                  </c:pt>
                  <c:pt idx="1">
                    <c:v>Image 1</c:v>
                  </c:pt>
                  <c:pt idx="2">
                    <c:v>Image 2</c:v>
                  </c:pt>
                  <c:pt idx="3">
                    <c:v>Image 3</c:v>
                  </c:pt>
                  <c:pt idx="4">
                    <c:v>Image 4</c:v>
                  </c:pt>
                </c:lvl>
              </c:multiLvlStrCache>
            </c:multiLvlStrRef>
          </c:cat>
          <c:val>
            <c:numRef>
              <c:f>Sheet1!$B$2:$B$6</c:f>
              <c:numCache>
                <c:formatCode>General</c:formatCode>
                <c:ptCount val="5"/>
                <c:pt idx="0">
                  <c:v>30.28</c:v>
                </c:pt>
                <c:pt idx="1">
                  <c:v>26.72</c:v>
                </c:pt>
                <c:pt idx="2">
                  <c:v>25.94</c:v>
                </c:pt>
                <c:pt idx="3">
                  <c:v>23.12</c:v>
                </c:pt>
                <c:pt idx="4">
                  <c:v>30.35</c:v>
                </c:pt>
              </c:numCache>
            </c:numRef>
          </c:val>
        </c:ser>
        <c:ser>
          <c:idx val="1"/>
          <c:order val="1"/>
          <c:tx>
            <c:strRef>
              <c:f>Sheet1!$C$1</c:f>
              <c:strCache>
                <c:ptCount val="1"/>
                <c:pt idx="0">
                  <c:v>Local</c:v>
                </c:pt>
              </c:strCache>
            </c:strRef>
          </c:tx>
          <c:spPr>
            <a:solidFill>
              <a:srgbClr val="0EA5E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Image 0</c:v>
                  </c:pt>
                  <c:pt idx="1">
                    <c:v>Image 1</c:v>
                  </c:pt>
                  <c:pt idx="2">
                    <c:v>Image 2</c:v>
                  </c:pt>
                  <c:pt idx="3">
                    <c:v>Image 3</c:v>
                  </c:pt>
                  <c:pt idx="4">
                    <c:v>Image 4</c:v>
                  </c:pt>
                </c:lvl>
              </c:multiLvlStrCache>
            </c:multiLvlStrRef>
          </c:cat>
          <c:val>
            <c:numRef>
              <c:f>Sheet1!$C$2:$C$6</c:f>
              <c:numCache>
                <c:formatCode>General</c:formatCode>
                <c:ptCount val="5"/>
                <c:pt idx="0">
                  <c:v>30.18</c:v>
                </c:pt>
                <c:pt idx="1">
                  <c:v>27.04</c:v>
                </c:pt>
                <c:pt idx="2">
                  <c:v>26.23</c:v>
                </c:pt>
                <c:pt idx="3">
                  <c:v>22.89</c:v>
                </c:pt>
                <c:pt idx="4">
                  <c:v>30.46</c:v>
                </c:pt>
              </c:numCache>
            </c:numRef>
          </c:val>
        </c:ser>
        <c:ser>
          <c:idx val="2"/>
          <c:order val="2"/>
          <c:tx>
            <c:strRef>
              <c:f>Sheet1!$D$1</c:f>
              <c:strCache>
                <c:ptCount val="1"/>
                <c:pt idx="0">
                  <c:v>Boundary</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Image 0</c:v>
                  </c:pt>
                  <c:pt idx="1">
                    <c:v>Image 1</c:v>
                  </c:pt>
                  <c:pt idx="2">
                    <c:v>Image 2</c:v>
                  </c:pt>
                  <c:pt idx="3">
                    <c:v>Image 3</c:v>
                  </c:pt>
                  <c:pt idx="4">
                    <c:v>Image 4</c:v>
                  </c:pt>
                </c:lvl>
              </c:multiLvlStrCache>
            </c:multiLvlStrRef>
          </c:cat>
          <c:val>
            <c:numRef>
              <c:f>Sheet1!$D$2:$D$6</c:f>
              <c:numCache>
                <c:formatCode>General</c:formatCode>
                <c:ptCount val="5"/>
                <c:pt idx="0">
                  <c:v>28.97</c:v>
                </c:pt>
                <c:pt idx="1">
                  <c:v>26.09</c:v>
                </c:pt>
                <c:pt idx="2">
                  <c:v>24.16</c:v>
                </c:pt>
                <c:pt idx="3">
                  <c:v>21.95</c:v>
                </c:pt>
                <c:pt idx="4">
                  <c:v>28.04</c:v>
                </c:pt>
              </c:numCache>
            </c:numRef>
          </c:val>
        </c:ser>
        <c:ser>
          <c:idx val="3"/>
          <c:order val="3"/>
          <c:tx>
            <c:strRef>
              <c:f>Sheet1!$E$1</c:f>
              <c:strCache>
                <c:ptCount val="1"/>
                <c:pt idx="0">
                  <c:v>Texture</c:v>
                </c:pt>
              </c:strCache>
            </c:strRef>
          </c:tx>
          <c:spPr>
            <a:solidFill>
              <a:srgbClr val="EC48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Image 0</c:v>
                  </c:pt>
                  <c:pt idx="1">
                    <c:v>Image 1</c:v>
                  </c:pt>
                  <c:pt idx="2">
                    <c:v>Image 2</c:v>
                  </c:pt>
                  <c:pt idx="3">
                    <c:v>Image 3</c:v>
                  </c:pt>
                  <c:pt idx="4">
                    <c:v>Image 4</c:v>
                  </c:pt>
                </c:lvl>
              </c:multiLvlStrCache>
            </c:multiLvlStrRef>
          </c:cat>
          <c:val>
            <c:numRef>
              <c:f>Sheet1!$E$2:$E$6</c:f>
              <c:numCache>
                <c:formatCode>General</c:formatCode>
                <c:ptCount val="5"/>
                <c:pt idx="0">
                  <c:v>29.82</c:v>
                </c:pt>
                <c:pt idx="1">
                  <c:v>25.98</c:v>
                </c:pt>
                <c:pt idx="2">
                  <c:v>24.9</c:v>
                </c:pt>
                <c:pt idx="3">
                  <c:v>22.68</c:v>
                </c:pt>
                <c:pt idx="4">
                  <c:v>28.42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140"/>
                </a:solidFill>
                <a:latin typeface="Calibri"/>
              </a:defRPr>
            </a:pPr>
            <a:endParaRPr lang="en-US"/>
          </a:p>
        </c:txPr>
        <c:crossAx val="2094734552"/>
        <c:crosses val="autoZero"/>
        <c:auto val="1"/>
        <c:lblAlgn val="ctr"/>
        <c:noMultiLvlLbl val="1"/>
      </c:catAx>
      <c:valAx>
        <c:axId val="2094734552"/>
        <c:scaling>
          <c:orientation val="minMax"/>
          <c:max val="32"/>
          <c:min val="20"/>
        </c:scaling>
        <c:delete val="0"/>
        <c:axPos val="l"/>
        <c:majorGridlines>
          <c:spPr>
            <a:ln w="6350" cap="flat">
              <a:solidFill>
                <a:srgbClr val="E3E6F0"/>
              </a:solidFill>
              <a:prstDash val="solid"/>
              <a:round/>
            </a:ln>
          </c:spPr>
        </c:majorGridlines>
        <c:title>
          <c:tx>
            <c:rich>
              <a:bodyPr/>
              <a:lstStyle/>
              <a:p>
                <a:pPr>
                  <a:defRPr sz="1000" b="0" i="0" u="none" strike="noStrike">
                    <a:solidFill>
                      <a:srgbClr val="5B6285"/>
                    </a:solidFill>
                    <a:latin typeface="Arial"/>
                  </a:defRPr>
                </a:pPr>
                <a:r>
                  <a:rPr sz="1000" b="0" i="0" u="none" strike="noStrike">
                    <a:solidFill>
                      <a:srgbClr val="5B6285"/>
                    </a:solidFill>
                    <a:latin typeface="Arial"/>
                  </a:rPr>
                  <a:t>PSNR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285"/>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5B628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inpainting normally uses one fixed network for every hole. Our system keeps a strong frozen backbone and lets a PPO agent choose one of four specialised repair adapters for each image. Mention the course (BCSE432E) and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damage varies: thin scratches, large missing regions, textured areas. A single fixed inpainting pass treats them all the same. We make the strategy a learned decision. Point to the four numbers: four adapters, 261-dimensional state, one decision per image, and about 235 ms per request on an RTX 3050.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 the top row, then the bottom row. The damaged image goes through the frozen coarse stage. Its bottleneck features plus mask statistics and a boundary-gradient value form the 261-dimensional state. The PPO policy outputs an action 0 to 3. In parallel the refine stage with contextual attention produces the refined image, the selected adapter edits it, and the result is composited back into the hole: completed = masked + refined *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never sees raw pixels. The state is 256 latent values from the coarse bottleneck (96 channels, global average pooled, then a two-layer head), four mask statistics, and one boundary-gradient value computed on the coarse composite. It tells the agent how big the hole is, how fragmented, where it is, and how much structure crosses its border.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adapter is a small residual network on the 3-channel refined RGB output. It uses conv, instance norm and ELU with FiLM conditioning from a 64-dimensional strategy embedding, and finishes with tanh(x + 0.5*tanh(delta)). Global is the plain pass. Local scales the input by 1 + 0.5*mask. Boundary blends with a dilate-minus-erode ring. Texture adds a Laplacian high-pass term in the hole plus a small high-frequency branch. Costs 0, 0.10, 0.15, 0.20 are charged in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 needs exactly one decision and its quality is known immediately, so every episode is one step with discount gamma equal to zero. The environment is a Gymnasium environment: reset samples an image and mask, runs the coarse pass and builds the state; step applies the chosen adapter, measures PSNR, SSIM, LPIPS and the discriminator score, computes the reward and draws the next sample. We train with Stable-Baselines3 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considered a sequential formulation: the agent applies edits step by step and emits a STOP action. That exists in the repo as env_multistep.py. For this problem the best adapter is determined by the damage itself and the quality is known immediately after one refine pass, so there is nothing to plan across steps. A contextual bandit with gamma zero removes credit assignment and gives low-variance PPO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is the measured improvement of the adapter result versus the coarse composite. Each delta is normalised and clipped to plus or minus 2 so PSNR cannot dominate; the total is clipped to plus or minus 10. LPIPS is a distance so it is subtracted. The discriminator term uses a spectral-normalised PatchGAN. The cost term makes expensive adapters earn their place. Weights come from the config: 1, 1, 0.5, 0.3,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Stable-Baselines3 PPO with the default MlpPolicy: two small MLPs on the 261-D state. The actor outputs a softmax over the four adapters. The critic predicts the expected reward V(s). Because gamma is zero, the advantage is simply reward minus V(s). The clipped objective keeps each policy update close to the previous policy, with the clip range at the SB3 default of 0.2. An entropy bonus of 0.05 keeps the agent exploring all four adapters; the value loss is weighted 0.5 and gradients are clipped at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pretrains the adapters on COCO val2017 resized to 256, with random irregular stroke masks generated on the fly; each adapter has its own loss. A verification gate checks that no single strategy wins more than 80 percent of images. Stage 2 freezes everything except the policy and trains PPO. Each PPO iteration collects 128 one-step episodes, computes advantages, then runs 4 epochs of minibatch updates of size 32. A callback logs the action distribution and every reward component to TensorBoard. Seed 42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PSNR in dB across three hand-masked scenes. The fixed Global adapter lifts the alpine lake and meadow by about 0.8 dB. On the meadow the PPO agent chose the Global adapter, giving +0.82 dB with no ground truth. Stage D shows the capacity of the adapter structure: 37 to 43 dB, up to +5.9 dB over the backbone, with SSIM up to 0.9946. Stage D uses the ground truth, so present it as the upper reach of the adapters.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PSNR for the four adapters on five verification images. The best adapter changes from image to image: Global wins two, Local wins three. No strategy takes more than 80 percent of images, which is exactly the condition a learned selector needs: the right choice depends on the image. This is the motivation for a state-conditioned PPO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scenes, left to right: ground truth, masked input, backbone only (A), PPO-selected adapter (C), and PPO plus refinement (D). The PPO agent chose Boundary for the lake and sunset scenes and Global for the meadow. Stage D visibly tightens colour and texture inside the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 studio served by app.py on port 7860. Draw a mask or load a preset, press Run. The server runs the coarse pass, builds the 261-D state, asks PPO for the action, computes a backbone baseline and the adapter result, and returns PSNR/SSIM with the decision. Instant mode takes about 235 ms warm on an RTX 3050; Ultra-Precision adds 60 AdamW steps on the chosen adapter and then restores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invite questions. Mention the repository has docs for architecture, training, evaluation and the studio, plus a 24-page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5B6285"/>
                </a:solidFill>
                <a:latin typeface="Calibri" pitchFamily="34" charset="0"/>
                <a:ea typeface="Calibri" pitchFamily="34" charset="-122"/>
                <a:cs typeface="Calibri" pitchFamily="34" charset="-120"/>
              </a:rPr>
              <a:t>RL-GAN Adaptive Image Inpainting</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0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slideLayout" Target="../slideLayouts/slideLayout2.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669280" y="-1097280"/>
            <a:ext cx="4572000" cy="4572000"/>
          </a:xfrm>
          <a:prstGeom prst="ellipse">
            <a:avLst/>
          </a:prstGeom>
          <a:solidFill>
            <a:srgbClr val="6D5DFC">
              <a:alpha val="18000"/>
            </a:srgbClr>
          </a:solidFill>
          <a:ln w="12700">
            <a:solidFill>
              <a:srgbClr val="6D5DFC">
                <a:alpha val="0"/>
              </a:srgbClr>
            </a:solidFill>
            <a:prstDash val="solid"/>
          </a:ln>
        </p:spPr>
      </p:sp>
      <p:sp>
        <p:nvSpPr>
          <p:cNvPr id="4" name="Shape 1"/>
          <p:cNvSpPr/>
          <p:nvPr/>
        </p:nvSpPr>
        <p:spPr>
          <a:xfrm>
            <a:off x="-1371600" y="3383280"/>
            <a:ext cx="3657600" cy="3657600"/>
          </a:xfrm>
          <a:prstGeom prst="ellipse">
            <a:avLst/>
          </a:prstGeom>
          <a:solidFill>
            <a:srgbClr val="0EA5E9">
              <a:alpha val="12000"/>
            </a:srgbClr>
          </a:solidFill>
          <a:ln w="12700">
            <a:solidFill>
              <a:srgbClr val="0EA5E9">
                <a:alpha val="0"/>
              </a:srgbClr>
            </a:solidFill>
            <a:prstDash val="solid"/>
          </a:ln>
        </p:spPr>
      </p:sp>
      <p:sp>
        <p:nvSpPr>
          <p:cNvPr id="5" name="Text 2"/>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200" b="1" spc="400" kern="0" dirty="0">
                <a:solidFill>
                  <a:srgbClr val="0EA5E9"/>
                </a:solidFill>
                <a:latin typeface="Calibri" pitchFamily="34" charset="0"/>
                <a:ea typeface="Calibri" pitchFamily="34" charset="-122"/>
                <a:cs typeface="Calibri" pitchFamily="34" charset="-120"/>
              </a:rPr>
              <a:t>REINFORCEMENT LEARNING  ·  BCSE432E</a:t>
            </a:r>
            <a:endParaRPr lang="en-US" sz="1200" dirty="0"/>
          </a:p>
        </p:txBody>
      </p:sp>
      <p:sp>
        <p:nvSpPr>
          <p:cNvPr id="6" name="Text 3"/>
          <p:cNvSpPr txBox="1"/>
          <p:nvPr/>
        </p:nvSpPr>
        <p:spPr>
          <a:xfrm>
            <a:off x="548640" y="1097280"/>
            <a:ext cx="4937760" cy="15544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RL-GAN Adaptive Image Inpainting</a:t>
            </a:r>
            <a:endParaRPr lang="en-US" sz="4000" dirty="0"/>
          </a:p>
        </p:txBody>
      </p:sp>
      <p:sp>
        <p:nvSpPr>
          <p:cNvPr id="7" name="Text 4"/>
          <p:cNvSpPr txBox="1"/>
          <p:nvPr/>
        </p:nvSpPr>
        <p:spPr>
          <a:xfrm>
            <a:off x="548640" y="2743200"/>
            <a:ext cx="4480560" cy="822960"/>
          </a:xfrm>
          <a:prstGeom prst="rect">
            <a:avLst/>
          </a:prstGeom>
          <a:noFill/>
          <a:ln/>
        </p:spPr>
        <p:txBody>
          <a:bodyPr wrap="square" lIns="0" tIns="0" rIns="0" bIns="0" rtlCol="0" anchor="t"/>
          <a:lstStyle/>
          <a:p>
            <a:pPr indent="0" marL="0">
              <a:buNone/>
            </a:pPr>
            <a:r>
              <a:rPr lang="en-US" sz="1800" dirty="0">
                <a:solidFill>
                  <a:srgbClr val="C9D1F5"/>
                </a:solidFill>
                <a:latin typeface="Calibri" pitchFamily="34" charset="0"/>
                <a:ea typeface="Calibri" pitchFamily="34" charset="-122"/>
                <a:cs typeface="Calibri" pitchFamily="34" charset="-120"/>
              </a:rPr>
              <a:t>A PPO agent that chooses the right repair strategy for every damaged image</a:t>
            </a:r>
            <a:endParaRPr lang="en-US" sz="1800" dirty="0"/>
          </a:p>
        </p:txBody>
      </p:sp>
      <p:sp>
        <p:nvSpPr>
          <p:cNvPr id="8" name="Text 5"/>
          <p:cNvSpPr txBox="1"/>
          <p:nvPr/>
        </p:nvSpPr>
        <p:spPr>
          <a:xfrm>
            <a:off x="548640" y="4023360"/>
            <a:ext cx="4572000"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Hariprasaadh K  ·  Nithish Kumar CS</a:t>
            </a:r>
            <a:endParaRPr lang="en-US" sz="1400" dirty="0"/>
          </a:p>
          <a:p>
            <a:pPr indent="0" marL="0">
              <a:buNone/>
            </a:pPr>
            <a:r>
              <a:rPr lang="en-US" sz="1400" dirty="0">
                <a:solidFill>
                  <a:srgbClr val="C9D1F5"/>
                </a:solidFill>
                <a:latin typeface="Calibri" pitchFamily="34" charset="0"/>
                <a:ea typeface="Calibri" pitchFamily="34" charset="-122"/>
                <a:cs typeface="Calibri" pitchFamily="34" charset="-120"/>
              </a:rPr>
              <a:t>Faculty: Dr. Bharadwaja Kumar G</a:t>
            </a:r>
            <a:endParaRPr lang="en-US" sz="1400" dirty="0"/>
          </a:p>
        </p:txBody>
      </p:sp>
      <p:sp>
        <p:nvSpPr>
          <p:cNvPr id="9" name="Shape 6"/>
          <p:cNvSpPr/>
          <p:nvPr/>
        </p:nvSpPr>
        <p:spPr>
          <a:xfrm>
            <a:off x="5577840" y="914400"/>
            <a:ext cx="3017520" cy="3246120"/>
          </a:xfrm>
          <a:prstGeom prst="roundRect">
            <a:avLst>
              <a:gd name="adj" fmla="val 4545"/>
            </a:avLst>
          </a:prstGeom>
          <a:solidFill>
            <a:srgbClr val="151C42"/>
          </a:solidFill>
          <a:ln w="12700">
            <a:solidFill>
              <a:srgbClr val="2B3566"/>
            </a:solidFill>
            <a:prstDash val="solid"/>
          </a:ln>
        </p:spPr>
      </p:sp>
      <p:pic>
        <p:nvPicPr>
          <p:cNvPr id="10" name="Image 0" descr="Damaged input">    </p:cNvPr>
          <p:cNvPicPr>
            <a:picLocks noChangeAspect="1"/>
          </p:cNvPicPr>
          <p:nvPr/>
        </p:nvPicPr>
        <p:blipFill>
          <a:blip r:embed="rId1"/>
          <a:stretch>
            <a:fillRect/>
          </a:stretch>
        </p:blipFill>
        <p:spPr>
          <a:xfrm>
            <a:off x="5760720" y="1097280"/>
            <a:ext cx="1234440" cy="1234440"/>
          </a:xfrm>
          <a:prstGeom prst="rect">
            <a:avLst/>
          </a:prstGeom>
        </p:spPr>
      </p:pic>
      <p:pic>
        <p:nvPicPr>
          <p:cNvPr id="11" name="Image 1" descr="RL-GAN output">    </p:cNvPr>
          <p:cNvPicPr>
            <a:picLocks noChangeAspect="1"/>
          </p:cNvPicPr>
          <p:nvPr/>
        </p:nvPicPr>
        <p:blipFill>
          <a:blip r:embed="rId2"/>
          <a:stretch>
            <a:fillRect/>
          </a:stretch>
        </p:blipFill>
        <p:spPr>
          <a:xfrm>
            <a:off x="7178040" y="1097280"/>
            <a:ext cx="1234440" cy="1234440"/>
          </a:xfrm>
          <a:prstGeom prst="rect">
            <a:avLst/>
          </a:prstGeom>
        </p:spPr>
      </p:pic>
      <p:sp>
        <p:nvSpPr>
          <p:cNvPr id="12" name="Shape 7"/>
          <p:cNvSpPr/>
          <p:nvPr/>
        </p:nvSpPr>
        <p:spPr>
          <a:xfrm>
            <a:off x="7022592" y="1719072"/>
            <a:ext cx="128016" cy="0"/>
          </a:xfrm>
          <a:prstGeom prst="line">
            <a:avLst/>
          </a:prstGeom>
          <a:noFill/>
          <a:ln w="31750">
            <a:solidFill>
              <a:srgbClr val="0EA5E9"/>
            </a:solidFill>
            <a:prstDash val="solid"/>
            <a:tailEnd type="triangle"/>
          </a:ln>
        </p:spPr>
      </p:sp>
      <p:sp>
        <p:nvSpPr>
          <p:cNvPr id="13" name="Text 8"/>
          <p:cNvSpPr txBox="1"/>
          <p:nvPr/>
        </p:nvSpPr>
        <p:spPr>
          <a:xfrm>
            <a:off x="5760720" y="2377440"/>
            <a:ext cx="1234440" cy="228600"/>
          </a:xfrm>
          <a:prstGeom prst="rect">
            <a:avLst/>
          </a:prstGeom>
          <a:noFill/>
          <a:ln/>
        </p:spPr>
        <p:txBody>
          <a:bodyPr wrap="square" lIns="0" tIns="0" rIns="0" bIns="0" rtlCol="0" anchor="t"/>
          <a:lstStyle/>
          <a:p>
            <a:pPr algn="ctr" indent="0" marL="0">
              <a:buNone/>
            </a:pPr>
            <a:r>
              <a:rPr lang="en-US" sz="1100" dirty="0">
                <a:solidFill>
                  <a:srgbClr val="C9D1F5"/>
                </a:solidFill>
                <a:latin typeface="Calibri" pitchFamily="34" charset="0"/>
                <a:ea typeface="Calibri" pitchFamily="34" charset="-122"/>
                <a:cs typeface="Calibri" pitchFamily="34" charset="-120"/>
              </a:rPr>
              <a:t>Damaged</a:t>
            </a:r>
            <a:endParaRPr lang="en-US" sz="1100" dirty="0"/>
          </a:p>
        </p:txBody>
      </p:sp>
      <p:sp>
        <p:nvSpPr>
          <p:cNvPr id="14" name="Text 9"/>
          <p:cNvSpPr txBox="1"/>
          <p:nvPr/>
        </p:nvSpPr>
        <p:spPr>
          <a:xfrm>
            <a:off x="7178040" y="2377440"/>
            <a:ext cx="1234440" cy="228600"/>
          </a:xfrm>
          <a:prstGeom prst="rect">
            <a:avLst/>
          </a:prstGeom>
          <a:noFill/>
          <a:ln/>
        </p:spPr>
        <p:txBody>
          <a:bodyPr wrap="square" lIns="0" tIns="0" rIns="0" bIns="0" rtlCol="0" anchor="t"/>
          <a:lstStyle/>
          <a:p>
            <a:pPr algn="ctr" indent="0" marL="0">
              <a:buNone/>
            </a:pPr>
            <a:r>
              <a:rPr lang="en-US" sz="1100" dirty="0">
                <a:solidFill>
                  <a:srgbClr val="C9D1F5"/>
                </a:solidFill>
                <a:latin typeface="Calibri" pitchFamily="34" charset="0"/>
                <a:ea typeface="Calibri" pitchFamily="34" charset="-122"/>
                <a:cs typeface="Calibri" pitchFamily="34" charset="-120"/>
              </a:rPr>
              <a:t>RL-GAN output</a:t>
            </a:r>
            <a:endParaRPr lang="en-US" sz="1100" dirty="0"/>
          </a:p>
        </p:txBody>
      </p:sp>
      <p:sp>
        <p:nvSpPr>
          <p:cNvPr id="15" name="Shape 10"/>
          <p:cNvSpPr/>
          <p:nvPr/>
        </p:nvSpPr>
        <p:spPr>
          <a:xfrm>
            <a:off x="5760720" y="2788920"/>
            <a:ext cx="2651760" cy="1143000"/>
          </a:xfrm>
          <a:prstGeom prst="roundRect">
            <a:avLst>
              <a:gd name="adj" fmla="val 8000"/>
            </a:avLst>
          </a:prstGeom>
          <a:solidFill>
            <a:srgbClr val="0B1026"/>
          </a:solidFill>
          <a:ln w="19050">
            <a:solidFill>
              <a:srgbClr val="6D5DFC"/>
            </a:solidFill>
            <a:prstDash val="solid"/>
          </a:ln>
        </p:spPr>
      </p:sp>
      <p:sp>
        <p:nvSpPr>
          <p:cNvPr id="16" name="Text 11"/>
          <p:cNvSpPr txBox="1"/>
          <p:nvPr/>
        </p:nvSpPr>
        <p:spPr>
          <a:xfrm>
            <a:off x="5897880" y="2880360"/>
            <a:ext cx="2377440" cy="228600"/>
          </a:xfrm>
          <a:prstGeom prst="rect">
            <a:avLst/>
          </a:prstGeom>
          <a:noFill/>
          <a:ln/>
        </p:spPr>
        <p:txBody>
          <a:bodyPr wrap="square" lIns="0" tIns="0" rIns="0" bIns="0" rtlCol="0" anchor="t"/>
          <a:lstStyle/>
          <a:p>
            <a:pPr indent="0" marL="0">
              <a:buNone/>
            </a:pPr>
            <a:r>
              <a:rPr lang="en-US" sz="1000" b="1" spc="200" kern="0" dirty="0">
                <a:solidFill>
                  <a:srgbClr val="0EA5E9"/>
                </a:solidFill>
                <a:latin typeface="Calibri" pitchFamily="34" charset="0"/>
                <a:ea typeface="Calibri" pitchFamily="34" charset="-122"/>
                <a:cs typeface="Calibri" pitchFamily="34" charset="-120"/>
              </a:rPr>
              <a:t>PPO POLICY DECISION</a:t>
            </a:r>
            <a:endParaRPr lang="en-US" sz="1000" dirty="0"/>
          </a:p>
        </p:txBody>
      </p:sp>
      <p:sp>
        <p:nvSpPr>
          <p:cNvPr id="17" name="Text 12"/>
          <p:cNvSpPr txBox="1"/>
          <p:nvPr/>
        </p:nvSpPr>
        <p:spPr>
          <a:xfrm>
            <a:off x="5897880" y="3127248"/>
            <a:ext cx="237744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Global Completion</a:t>
            </a:r>
            <a:endParaRPr lang="en-US" sz="2000" dirty="0"/>
          </a:p>
        </p:txBody>
      </p:sp>
      <p:sp>
        <p:nvSpPr>
          <p:cNvPr id="18" name="Text 13"/>
          <p:cNvSpPr txBox="1"/>
          <p:nvPr/>
        </p:nvSpPr>
        <p:spPr>
          <a:xfrm>
            <a:off x="5897880" y="3520440"/>
            <a:ext cx="2377440" cy="274320"/>
          </a:xfrm>
          <a:prstGeom prst="rect">
            <a:avLst/>
          </a:prstGeom>
          <a:noFill/>
          <a:ln/>
        </p:spPr>
        <p:txBody>
          <a:bodyPr wrap="square" lIns="0" tIns="0" rIns="0" bIns="0" rtlCol="0" anchor="t"/>
          <a:lstStyle/>
          <a:p>
            <a:pPr indent="0" marL="0">
              <a:buNone/>
            </a:pPr>
            <a:r>
              <a:rPr lang="en-US" sz="1200" dirty="0">
                <a:solidFill>
                  <a:srgbClr val="C9D1F5"/>
                </a:solidFill>
                <a:latin typeface="Calibri" pitchFamily="34" charset="0"/>
                <a:ea typeface="Calibri" pitchFamily="34" charset="-122"/>
                <a:cs typeface="Calibri" pitchFamily="34" charset="-120"/>
              </a:rPr>
              <a:t>chosen from 4 strategies in one step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One hole, many repair needs</a:t>
            </a:r>
            <a:endParaRPr lang="en-US" sz="3000" dirty="0"/>
          </a:p>
        </p:txBody>
      </p:sp>
      <p:sp>
        <p:nvSpPr>
          <p:cNvPr id="5" name="Text 2"/>
          <p:cNvSpPr txBox="1"/>
          <p:nvPr/>
        </p:nvSpPr>
        <p:spPr>
          <a:xfrm>
            <a:off x="457200" y="1325880"/>
            <a:ext cx="3931920" cy="731520"/>
          </a:xfrm>
          <a:prstGeom prst="rect">
            <a:avLst/>
          </a:prstGeom>
          <a:noFill/>
          <a:ln/>
        </p:spPr>
        <p:txBody>
          <a:bodyPr wrap="square" lIns="0" tIns="0" rIns="0" bIns="0" rtlCol="0" anchor="t"/>
          <a:lstStyle/>
          <a:p>
            <a:pPr indent="0" marL="0">
              <a:buNone/>
            </a:pPr>
            <a:r>
              <a:rPr lang="en-US" sz="2000" b="1" dirty="0">
                <a:solidFill>
                  <a:srgbClr val="1B2140"/>
                </a:solidFill>
                <a:latin typeface="Cambria" pitchFamily="34" charset="0"/>
                <a:ea typeface="Cambria" pitchFamily="34" charset="-122"/>
                <a:cs typeface="Cambria" pitchFamily="34" charset="-120"/>
              </a:rPr>
              <a:t>Different damage calls for different repair strategies.</a:t>
            </a:r>
            <a:endParaRPr lang="en-US" sz="2000" dirty="0"/>
          </a:p>
        </p:txBody>
      </p:sp>
      <p:sp>
        <p:nvSpPr>
          <p:cNvPr id="6" name="Shape 3"/>
          <p:cNvSpPr/>
          <p:nvPr/>
        </p:nvSpPr>
        <p:spPr>
          <a:xfrm>
            <a:off x="457200" y="2194560"/>
            <a:ext cx="548640" cy="548640"/>
          </a:xfrm>
          <a:prstGeom prst="ellipse">
            <a:avLst/>
          </a:prstGeom>
          <a:solidFill>
            <a:srgbClr val="6D5DFC"/>
          </a:solidFill>
          <a:ln w="12700">
            <a:solidFill>
              <a:srgbClr val="6D5DFC"/>
            </a:solidFill>
            <a:prstDash val="solid"/>
          </a:ln>
        </p:spPr>
      </p:sp>
      <p:pic>
        <p:nvPicPr>
          <p:cNvPr id="7" name="Image 0" descr="preencoded.png">    </p:cNvPr>
          <p:cNvPicPr>
            <a:picLocks noChangeAspect="1"/>
          </p:cNvPicPr>
          <p:nvPr/>
        </p:nvPicPr>
        <p:blipFill>
          <a:blip r:embed="rId1"/>
          <a:stretch>
            <a:fillRect/>
          </a:stretch>
        </p:blipFill>
        <p:spPr>
          <a:xfrm>
            <a:off x="594360" y="2331720"/>
            <a:ext cx="274320" cy="274320"/>
          </a:xfrm>
          <a:prstGeom prst="rect">
            <a:avLst/>
          </a:prstGeom>
        </p:spPr>
      </p:pic>
      <p:sp>
        <p:nvSpPr>
          <p:cNvPr id="8" name="Text 4"/>
          <p:cNvSpPr txBox="1"/>
          <p:nvPr/>
        </p:nvSpPr>
        <p:spPr>
          <a:xfrm>
            <a:off x="1188720" y="2212848"/>
            <a:ext cx="3200400" cy="27432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Thin scratches</a:t>
            </a:r>
            <a:endParaRPr lang="en-US" sz="1600" dirty="0"/>
          </a:p>
        </p:txBody>
      </p:sp>
      <p:sp>
        <p:nvSpPr>
          <p:cNvPr id="9" name="Text 5"/>
          <p:cNvSpPr txBox="1"/>
          <p:nvPr/>
        </p:nvSpPr>
        <p:spPr>
          <a:xfrm>
            <a:off x="1188720" y="2487168"/>
            <a:ext cx="3200400" cy="274320"/>
          </a:xfrm>
          <a:prstGeom prst="rect">
            <a:avLst/>
          </a:prstGeom>
          <a:noFill/>
          <a:ln/>
        </p:spPr>
        <p:txBody>
          <a:bodyPr wrap="square" lIns="0" tIns="0" rIns="0" bIns="0" rtlCol="0" anchor="t"/>
          <a:lstStyle/>
          <a:p>
            <a:pPr indent="0" marL="0">
              <a:buNone/>
            </a:pPr>
            <a:r>
              <a:rPr lang="en-US" sz="1400" dirty="0">
                <a:solidFill>
                  <a:srgbClr val="5B6285"/>
                </a:solidFill>
                <a:latin typeface="Calibri" pitchFamily="34" charset="0"/>
                <a:ea typeface="Calibri" pitchFamily="34" charset="-122"/>
                <a:cs typeface="Calibri" pitchFamily="34" charset="-120"/>
              </a:rPr>
              <a:t>Seam continuity matters most</a:t>
            </a:r>
            <a:endParaRPr lang="en-US" sz="1400" dirty="0"/>
          </a:p>
        </p:txBody>
      </p:sp>
      <p:sp>
        <p:nvSpPr>
          <p:cNvPr id="10" name="Shape 6"/>
          <p:cNvSpPr/>
          <p:nvPr/>
        </p:nvSpPr>
        <p:spPr>
          <a:xfrm>
            <a:off x="457200" y="2971800"/>
            <a:ext cx="548640" cy="548640"/>
          </a:xfrm>
          <a:prstGeom prst="ellipse">
            <a:avLst/>
          </a:prstGeom>
          <a:solidFill>
            <a:srgbClr val="0EA5E9"/>
          </a:solidFill>
          <a:ln w="12700">
            <a:solidFill>
              <a:srgbClr val="0EA5E9"/>
            </a:solidFill>
            <a:prstDash val="solid"/>
          </a:ln>
        </p:spPr>
      </p:sp>
      <p:pic>
        <p:nvPicPr>
          <p:cNvPr id="11" name="Image 1" descr="preencoded.png">    </p:cNvPr>
          <p:cNvPicPr>
            <a:picLocks noChangeAspect="1"/>
          </p:cNvPicPr>
          <p:nvPr/>
        </p:nvPicPr>
        <p:blipFill>
          <a:blip r:embed="rId2"/>
          <a:stretch>
            <a:fillRect/>
          </a:stretch>
        </p:blipFill>
        <p:spPr>
          <a:xfrm>
            <a:off x="594360" y="3108960"/>
            <a:ext cx="274320" cy="274320"/>
          </a:xfrm>
          <a:prstGeom prst="rect">
            <a:avLst/>
          </a:prstGeom>
        </p:spPr>
      </p:pic>
      <p:sp>
        <p:nvSpPr>
          <p:cNvPr id="12" name="Text 7"/>
          <p:cNvSpPr txBox="1"/>
          <p:nvPr/>
        </p:nvSpPr>
        <p:spPr>
          <a:xfrm>
            <a:off x="1188720" y="2990088"/>
            <a:ext cx="3200400" cy="27432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Large missing regions</a:t>
            </a:r>
            <a:endParaRPr lang="en-US" sz="1600" dirty="0"/>
          </a:p>
        </p:txBody>
      </p:sp>
      <p:sp>
        <p:nvSpPr>
          <p:cNvPr id="13" name="Text 8"/>
          <p:cNvSpPr txBox="1"/>
          <p:nvPr/>
        </p:nvSpPr>
        <p:spPr>
          <a:xfrm>
            <a:off x="1188720" y="3264408"/>
            <a:ext cx="3200400" cy="274320"/>
          </a:xfrm>
          <a:prstGeom prst="rect">
            <a:avLst/>
          </a:prstGeom>
          <a:noFill/>
          <a:ln/>
        </p:spPr>
        <p:txBody>
          <a:bodyPr wrap="square" lIns="0" tIns="0" rIns="0" bIns="0" rtlCol="0" anchor="t"/>
          <a:lstStyle/>
          <a:p>
            <a:pPr indent="0" marL="0">
              <a:buNone/>
            </a:pPr>
            <a:r>
              <a:rPr lang="en-US" sz="1400" dirty="0">
                <a:solidFill>
                  <a:srgbClr val="5B6285"/>
                </a:solidFill>
                <a:latin typeface="Calibri" pitchFamily="34" charset="0"/>
                <a:ea typeface="Calibri" pitchFamily="34" charset="-122"/>
                <a:cs typeface="Calibri" pitchFamily="34" charset="-120"/>
              </a:rPr>
              <a:t>Global structure must be rebuilt</a:t>
            </a:r>
            <a:endParaRPr lang="en-US" sz="1400" dirty="0"/>
          </a:p>
        </p:txBody>
      </p:sp>
      <p:sp>
        <p:nvSpPr>
          <p:cNvPr id="14" name="Shape 9"/>
          <p:cNvSpPr/>
          <p:nvPr/>
        </p:nvSpPr>
        <p:spPr>
          <a:xfrm>
            <a:off x="457200" y="3749040"/>
            <a:ext cx="548640" cy="548640"/>
          </a:xfrm>
          <a:prstGeom prst="ellipse">
            <a:avLst/>
          </a:prstGeom>
          <a:solidFill>
            <a:srgbClr val="EC4899"/>
          </a:solidFill>
          <a:ln w="12700">
            <a:solidFill>
              <a:srgbClr val="EC4899"/>
            </a:solidFill>
            <a:prstDash val="solid"/>
          </a:ln>
        </p:spPr>
      </p:sp>
      <p:pic>
        <p:nvPicPr>
          <p:cNvPr id="15" name="Image 2" descr="preencoded.png">    </p:cNvPr>
          <p:cNvPicPr>
            <a:picLocks noChangeAspect="1"/>
          </p:cNvPicPr>
          <p:nvPr/>
        </p:nvPicPr>
        <p:blipFill>
          <a:blip r:embed="rId3"/>
          <a:stretch>
            <a:fillRect/>
          </a:stretch>
        </p:blipFill>
        <p:spPr>
          <a:xfrm>
            <a:off x="594360" y="3886200"/>
            <a:ext cx="274320" cy="274320"/>
          </a:xfrm>
          <a:prstGeom prst="rect">
            <a:avLst/>
          </a:prstGeom>
        </p:spPr>
      </p:pic>
      <p:sp>
        <p:nvSpPr>
          <p:cNvPr id="16" name="Text 10"/>
          <p:cNvSpPr txBox="1"/>
          <p:nvPr/>
        </p:nvSpPr>
        <p:spPr>
          <a:xfrm>
            <a:off x="1188720" y="3767328"/>
            <a:ext cx="3200400" cy="27432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Textured surfaces</a:t>
            </a:r>
            <a:endParaRPr lang="en-US" sz="1600" dirty="0"/>
          </a:p>
        </p:txBody>
      </p:sp>
      <p:sp>
        <p:nvSpPr>
          <p:cNvPr id="17" name="Text 11"/>
          <p:cNvSpPr txBox="1"/>
          <p:nvPr/>
        </p:nvSpPr>
        <p:spPr>
          <a:xfrm>
            <a:off x="1188720" y="4041648"/>
            <a:ext cx="3200400" cy="274320"/>
          </a:xfrm>
          <a:prstGeom prst="rect">
            <a:avLst/>
          </a:prstGeom>
          <a:noFill/>
          <a:ln/>
        </p:spPr>
        <p:txBody>
          <a:bodyPr wrap="square" lIns="0" tIns="0" rIns="0" bIns="0" rtlCol="0" anchor="t"/>
          <a:lstStyle/>
          <a:p>
            <a:pPr indent="0" marL="0">
              <a:buNone/>
            </a:pPr>
            <a:r>
              <a:rPr lang="en-US" sz="1400" dirty="0">
                <a:solidFill>
                  <a:srgbClr val="5B6285"/>
                </a:solidFill>
                <a:latin typeface="Calibri" pitchFamily="34" charset="0"/>
                <a:ea typeface="Calibri" pitchFamily="34" charset="-122"/>
                <a:cs typeface="Calibri" pitchFamily="34" charset="-120"/>
              </a:rPr>
              <a:t>High-frequency detail needs care</a:t>
            </a:r>
            <a:endParaRPr lang="en-US" sz="1400" dirty="0"/>
          </a:p>
        </p:txBody>
      </p:sp>
      <p:sp>
        <p:nvSpPr>
          <p:cNvPr id="18" name="Shape 12"/>
          <p:cNvSpPr/>
          <p:nvPr/>
        </p:nvSpPr>
        <p:spPr>
          <a:xfrm>
            <a:off x="4846320" y="137160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9" name="Text 13"/>
          <p:cNvSpPr txBox="1"/>
          <p:nvPr/>
        </p:nvSpPr>
        <p:spPr>
          <a:xfrm>
            <a:off x="4846320" y="1600200"/>
            <a:ext cx="1828800" cy="640080"/>
          </a:xfrm>
          <a:prstGeom prst="rect">
            <a:avLst/>
          </a:prstGeom>
          <a:noFill/>
          <a:ln/>
        </p:spPr>
        <p:txBody>
          <a:bodyPr wrap="square" lIns="0" tIns="0" rIns="0" bIns="0" rtlCol="0" anchor="ctr"/>
          <a:lstStyle/>
          <a:p>
            <a:pPr algn="ctr" indent="0" marL="0">
              <a:buNone/>
            </a:pPr>
            <a:r>
              <a:rPr lang="en-US" sz="3600" b="1" dirty="0">
                <a:solidFill>
                  <a:srgbClr val="6D5DFC"/>
                </a:solidFill>
                <a:latin typeface="Cambria" pitchFamily="34" charset="0"/>
                <a:ea typeface="Cambria" pitchFamily="34" charset="-122"/>
                <a:cs typeface="Cambria" pitchFamily="34" charset="-120"/>
              </a:rPr>
              <a:t>4</a:t>
            </a:r>
            <a:endParaRPr lang="en-US" sz="3600" dirty="0"/>
          </a:p>
        </p:txBody>
      </p:sp>
      <p:sp>
        <p:nvSpPr>
          <p:cNvPr id="20" name="Text 14"/>
          <p:cNvSpPr txBox="1"/>
          <p:nvPr/>
        </p:nvSpPr>
        <p:spPr>
          <a:xfrm>
            <a:off x="4937760" y="2240280"/>
            <a:ext cx="1645920" cy="365760"/>
          </a:xfrm>
          <a:prstGeom prst="rect">
            <a:avLst/>
          </a:prstGeom>
          <a:noFill/>
          <a:ln/>
        </p:spPr>
        <p:txBody>
          <a:bodyPr wrap="square" lIns="0" tIns="0" rIns="0" bIns="0" rtlCol="0" anchor="t"/>
          <a:lstStyle/>
          <a:p>
            <a:pPr algn="ctr" indent="0" marL="0">
              <a:buNone/>
            </a:pPr>
            <a:r>
              <a:rPr lang="en-US" sz="1400" dirty="0">
                <a:solidFill>
                  <a:srgbClr val="5B6285"/>
                </a:solidFill>
                <a:latin typeface="Calibri" pitchFamily="34" charset="0"/>
                <a:ea typeface="Calibri" pitchFamily="34" charset="-122"/>
                <a:cs typeface="Calibri" pitchFamily="34" charset="-120"/>
              </a:rPr>
              <a:t>strategy adapters</a:t>
            </a:r>
            <a:endParaRPr lang="en-US" sz="1400" dirty="0"/>
          </a:p>
        </p:txBody>
      </p:sp>
      <p:sp>
        <p:nvSpPr>
          <p:cNvPr id="21" name="Shape 15"/>
          <p:cNvSpPr/>
          <p:nvPr/>
        </p:nvSpPr>
        <p:spPr>
          <a:xfrm>
            <a:off x="6858000" y="137160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2" name="Text 16"/>
          <p:cNvSpPr txBox="1"/>
          <p:nvPr/>
        </p:nvSpPr>
        <p:spPr>
          <a:xfrm>
            <a:off x="6858000" y="1600200"/>
            <a:ext cx="1828800" cy="640080"/>
          </a:xfrm>
          <a:prstGeom prst="rect">
            <a:avLst/>
          </a:prstGeom>
          <a:noFill/>
          <a:ln/>
        </p:spPr>
        <p:txBody>
          <a:bodyPr wrap="square" lIns="0" tIns="0" rIns="0" bIns="0" rtlCol="0" anchor="ctr"/>
          <a:lstStyle/>
          <a:p>
            <a:pPr algn="ctr" indent="0" marL="0">
              <a:buNone/>
            </a:pPr>
            <a:r>
              <a:rPr lang="en-US" sz="3600" b="1" dirty="0">
                <a:solidFill>
                  <a:srgbClr val="0EA5E9"/>
                </a:solidFill>
                <a:latin typeface="Cambria" pitchFamily="34" charset="0"/>
                <a:ea typeface="Cambria" pitchFamily="34" charset="-122"/>
                <a:cs typeface="Cambria" pitchFamily="34" charset="-120"/>
              </a:rPr>
              <a:t>261-D</a:t>
            </a:r>
            <a:endParaRPr lang="en-US" sz="3600" dirty="0"/>
          </a:p>
        </p:txBody>
      </p:sp>
      <p:sp>
        <p:nvSpPr>
          <p:cNvPr id="23" name="Text 17"/>
          <p:cNvSpPr txBox="1"/>
          <p:nvPr/>
        </p:nvSpPr>
        <p:spPr>
          <a:xfrm>
            <a:off x="6949440" y="2240280"/>
            <a:ext cx="1645920" cy="365760"/>
          </a:xfrm>
          <a:prstGeom prst="rect">
            <a:avLst/>
          </a:prstGeom>
          <a:noFill/>
          <a:ln/>
        </p:spPr>
        <p:txBody>
          <a:bodyPr wrap="square" lIns="0" tIns="0" rIns="0" bIns="0" rtlCol="0" anchor="t"/>
          <a:lstStyle/>
          <a:p>
            <a:pPr algn="ctr" indent="0" marL="0">
              <a:buNone/>
            </a:pPr>
            <a:r>
              <a:rPr lang="en-US" sz="1400" dirty="0">
                <a:solidFill>
                  <a:srgbClr val="5B6285"/>
                </a:solidFill>
                <a:latin typeface="Calibri" pitchFamily="34" charset="0"/>
                <a:ea typeface="Calibri" pitchFamily="34" charset="-122"/>
                <a:cs typeface="Calibri" pitchFamily="34" charset="-120"/>
              </a:rPr>
              <a:t>state per image</a:t>
            </a:r>
            <a:endParaRPr lang="en-US" sz="1400" dirty="0"/>
          </a:p>
        </p:txBody>
      </p:sp>
      <p:sp>
        <p:nvSpPr>
          <p:cNvPr id="24" name="Shape 18"/>
          <p:cNvSpPr/>
          <p:nvPr/>
        </p:nvSpPr>
        <p:spPr>
          <a:xfrm>
            <a:off x="4846320" y="297180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5" name="Text 19"/>
          <p:cNvSpPr txBox="1"/>
          <p:nvPr/>
        </p:nvSpPr>
        <p:spPr>
          <a:xfrm>
            <a:off x="4846320" y="3200400"/>
            <a:ext cx="1828800" cy="640080"/>
          </a:xfrm>
          <a:prstGeom prst="rect">
            <a:avLst/>
          </a:prstGeom>
          <a:noFill/>
          <a:ln/>
        </p:spPr>
        <p:txBody>
          <a:bodyPr wrap="square" lIns="0" tIns="0" rIns="0" bIns="0" rtlCol="0" anchor="ctr"/>
          <a:lstStyle/>
          <a:p>
            <a:pPr algn="ctr" indent="0" marL="0">
              <a:buNone/>
            </a:pPr>
            <a:r>
              <a:rPr lang="en-US" sz="3600" b="1" dirty="0">
                <a:solidFill>
                  <a:srgbClr val="F59E0B"/>
                </a:solidFill>
                <a:latin typeface="Cambria" pitchFamily="34" charset="0"/>
                <a:ea typeface="Cambria" pitchFamily="34" charset="-122"/>
                <a:cs typeface="Cambria" pitchFamily="34" charset="-120"/>
              </a:rPr>
              <a:t>1</a:t>
            </a:r>
            <a:endParaRPr lang="en-US" sz="3600" dirty="0"/>
          </a:p>
        </p:txBody>
      </p:sp>
      <p:sp>
        <p:nvSpPr>
          <p:cNvPr id="26" name="Text 20"/>
          <p:cNvSpPr txBox="1"/>
          <p:nvPr/>
        </p:nvSpPr>
        <p:spPr>
          <a:xfrm>
            <a:off x="4937760" y="3840480"/>
            <a:ext cx="1645920" cy="365760"/>
          </a:xfrm>
          <a:prstGeom prst="rect">
            <a:avLst/>
          </a:prstGeom>
          <a:noFill/>
          <a:ln/>
        </p:spPr>
        <p:txBody>
          <a:bodyPr wrap="square" lIns="0" tIns="0" rIns="0" bIns="0" rtlCol="0" anchor="t"/>
          <a:lstStyle/>
          <a:p>
            <a:pPr algn="ctr" indent="0" marL="0">
              <a:buNone/>
            </a:pPr>
            <a:r>
              <a:rPr lang="en-US" sz="1400" dirty="0">
                <a:solidFill>
                  <a:srgbClr val="5B6285"/>
                </a:solidFill>
                <a:latin typeface="Calibri" pitchFamily="34" charset="0"/>
                <a:ea typeface="Calibri" pitchFamily="34" charset="-122"/>
                <a:cs typeface="Calibri" pitchFamily="34" charset="-120"/>
              </a:rPr>
              <a:t>decision per image</a:t>
            </a:r>
            <a:endParaRPr lang="en-US" sz="1400" dirty="0"/>
          </a:p>
        </p:txBody>
      </p:sp>
      <p:sp>
        <p:nvSpPr>
          <p:cNvPr id="27" name="Shape 21"/>
          <p:cNvSpPr/>
          <p:nvPr/>
        </p:nvSpPr>
        <p:spPr>
          <a:xfrm>
            <a:off x="6858000" y="297180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8" name="Text 22"/>
          <p:cNvSpPr txBox="1"/>
          <p:nvPr/>
        </p:nvSpPr>
        <p:spPr>
          <a:xfrm>
            <a:off x="6858000" y="3200400"/>
            <a:ext cx="1828800" cy="640080"/>
          </a:xfrm>
          <a:prstGeom prst="rect">
            <a:avLst/>
          </a:prstGeom>
          <a:noFill/>
          <a:ln/>
        </p:spPr>
        <p:txBody>
          <a:bodyPr wrap="square" lIns="0" tIns="0" rIns="0" bIns="0" rtlCol="0" anchor="ctr"/>
          <a:lstStyle/>
          <a:p>
            <a:pPr algn="ctr" indent="0" marL="0">
              <a:buNone/>
            </a:pPr>
            <a:r>
              <a:rPr lang="en-US" sz="3600" b="1" dirty="0">
                <a:solidFill>
                  <a:srgbClr val="EC4899"/>
                </a:solidFill>
                <a:latin typeface="Cambria" pitchFamily="34" charset="0"/>
                <a:ea typeface="Cambria" pitchFamily="34" charset="-122"/>
                <a:cs typeface="Cambria" pitchFamily="34" charset="-120"/>
              </a:rPr>
              <a:t>235 ms</a:t>
            </a:r>
            <a:endParaRPr lang="en-US" sz="3600" dirty="0"/>
          </a:p>
        </p:txBody>
      </p:sp>
      <p:sp>
        <p:nvSpPr>
          <p:cNvPr id="29" name="Text 23"/>
          <p:cNvSpPr txBox="1"/>
          <p:nvPr/>
        </p:nvSpPr>
        <p:spPr>
          <a:xfrm>
            <a:off x="6949440" y="3840480"/>
            <a:ext cx="1645920" cy="365760"/>
          </a:xfrm>
          <a:prstGeom prst="rect">
            <a:avLst/>
          </a:prstGeom>
          <a:noFill/>
          <a:ln/>
        </p:spPr>
        <p:txBody>
          <a:bodyPr wrap="square" lIns="0" tIns="0" rIns="0" bIns="0" rtlCol="0" anchor="t"/>
          <a:lstStyle/>
          <a:p>
            <a:pPr algn="ctr" indent="0" marL="0">
              <a:buNone/>
            </a:pPr>
            <a:r>
              <a:rPr lang="en-US" sz="1400" dirty="0">
                <a:solidFill>
                  <a:srgbClr val="5B6285"/>
                </a:solidFill>
                <a:latin typeface="Calibri" pitchFamily="34" charset="0"/>
                <a:ea typeface="Calibri" pitchFamily="34" charset="-122"/>
                <a:cs typeface="Calibri" pitchFamily="34" charset="-120"/>
              </a:rPr>
              <a:t>per request, RTX 3050</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The inference pipeline</a:t>
            </a:r>
            <a:endParaRPr lang="en-US" sz="3000" dirty="0"/>
          </a:p>
        </p:txBody>
      </p:sp>
      <p:sp>
        <p:nvSpPr>
          <p:cNvPr id="5" name="Shape 2"/>
          <p:cNvSpPr/>
          <p:nvPr/>
        </p:nvSpPr>
        <p:spPr>
          <a:xfrm>
            <a:off x="5577840" y="347472"/>
            <a:ext cx="164592" cy="164592"/>
          </a:xfrm>
          <a:prstGeom prst="roundRect">
            <a:avLst>
              <a:gd name="adj" fmla="val 22222"/>
            </a:avLst>
          </a:prstGeom>
          <a:solidFill>
            <a:srgbClr val="E4E8FB"/>
          </a:solidFill>
          <a:ln w="15240">
            <a:solidFill>
              <a:srgbClr val="9AA6E8"/>
            </a:solidFill>
            <a:prstDash val="solid"/>
          </a:ln>
        </p:spPr>
      </p:sp>
      <p:sp>
        <p:nvSpPr>
          <p:cNvPr id="6" name="Text 3"/>
          <p:cNvSpPr txBox="1"/>
          <p:nvPr/>
        </p:nvSpPr>
        <p:spPr>
          <a:xfrm>
            <a:off x="5806440" y="310896"/>
            <a:ext cx="914400" cy="237744"/>
          </a:xfrm>
          <a:prstGeom prst="rect">
            <a:avLst/>
          </a:prstGeom>
          <a:noFill/>
          <a:ln/>
        </p:spPr>
        <p:txBody>
          <a:bodyPr wrap="square" lIns="0" tIns="0" rIns="0" bIns="0" rtlCol="0" anchor="ctr"/>
          <a:lstStyle/>
          <a:p>
            <a:pPr indent="0" marL="0">
              <a:buNone/>
            </a:pPr>
            <a:r>
              <a:rPr lang="en-US" sz="1100" dirty="0">
                <a:solidFill>
                  <a:srgbClr val="5B6285"/>
                </a:solidFill>
                <a:latin typeface="Calibri" pitchFamily="34" charset="0"/>
                <a:ea typeface="Calibri" pitchFamily="34" charset="-122"/>
                <a:cs typeface="Calibri" pitchFamily="34" charset="-120"/>
              </a:rPr>
              <a:t>Frozen</a:t>
            </a:r>
            <a:endParaRPr lang="en-US" sz="1100" dirty="0"/>
          </a:p>
        </p:txBody>
      </p:sp>
      <p:sp>
        <p:nvSpPr>
          <p:cNvPr id="7" name="Shape 4"/>
          <p:cNvSpPr/>
          <p:nvPr/>
        </p:nvSpPr>
        <p:spPr>
          <a:xfrm>
            <a:off x="6766560" y="347472"/>
            <a:ext cx="164592" cy="164592"/>
          </a:xfrm>
          <a:prstGeom prst="roundRect">
            <a:avLst>
              <a:gd name="adj" fmla="val 22222"/>
            </a:avLst>
          </a:prstGeom>
          <a:solidFill>
            <a:srgbClr val="DDF5EC"/>
          </a:solidFill>
          <a:ln w="15240">
            <a:solidFill>
              <a:srgbClr val="14B8A6"/>
            </a:solidFill>
            <a:prstDash val="solid"/>
          </a:ln>
        </p:spPr>
      </p:sp>
      <p:sp>
        <p:nvSpPr>
          <p:cNvPr id="8" name="Text 5"/>
          <p:cNvSpPr txBox="1"/>
          <p:nvPr/>
        </p:nvSpPr>
        <p:spPr>
          <a:xfrm>
            <a:off x="6995160" y="310896"/>
            <a:ext cx="914400" cy="237744"/>
          </a:xfrm>
          <a:prstGeom prst="rect">
            <a:avLst/>
          </a:prstGeom>
          <a:noFill/>
          <a:ln/>
        </p:spPr>
        <p:txBody>
          <a:bodyPr wrap="square" lIns="0" tIns="0" rIns="0" bIns="0" rtlCol="0" anchor="ctr"/>
          <a:lstStyle/>
          <a:p>
            <a:pPr indent="0" marL="0">
              <a:buNone/>
            </a:pPr>
            <a:r>
              <a:rPr lang="en-US" sz="1100" dirty="0">
                <a:solidFill>
                  <a:srgbClr val="5B6285"/>
                </a:solidFill>
                <a:latin typeface="Calibri" pitchFamily="34" charset="0"/>
                <a:ea typeface="Calibri" pitchFamily="34" charset="-122"/>
                <a:cs typeface="Calibri" pitchFamily="34" charset="-120"/>
              </a:rPr>
              <a:t>Trainable</a:t>
            </a:r>
            <a:endParaRPr lang="en-US" sz="1100" dirty="0"/>
          </a:p>
        </p:txBody>
      </p:sp>
      <p:sp>
        <p:nvSpPr>
          <p:cNvPr id="9" name="Shape 6"/>
          <p:cNvSpPr/>
          <p:nvPr/>
        </p:nvSpPr>
        <p:spPr>
          <a:xfrm>
            <a:off x="7955280" y="347472"/>
            <a:ext cx="164592" cy="164592"/>
          </a:xfrm>
          <a:prstGeom prst="roundRect">
            <a:avLst>
              <a:gd name="adj" fmla="val 22222"/>
            </a:avLst>
          </a:prstGeom>
          <a:solidFill>
            <a:srgbClr val="FFF0D6"/>
          </a:solidFill>
          <a:ln w="15240">
            <a:solidFill>
              <a:srgbClr val="F59E0B"/>
            </a:solidFill>
            <a:prstDash val="solid"/>
          </a:ln>
        </p:spPr>
      </p:sp>
      <p:sp>
        <p:nvSpPr>
          <p:cNvPr id="10" name="Text 7"/>
          <p:cNvSpPr txBox="1"/>
          <p:nvPr/>
        </p:nvSpPr>
        <p:spPr>
          <a:xfrm>
            <a:off x="8183880" y="310896"/>
            <a:ext cx="914400" cy="237744"/>
          </a:xfrm>
          <a:prstGeom prst="rect">
            <a:avLst/>
          </a:prstGeom>
          <a:noFill/>
          <a:ln/>
        </p:spPr>
        <p:txBody>
          <a:bodyPr wrap="square" lIns="0" tIns="0" rIns="0" bIns="0" rtlCol="0" anchor="ctr"/>
          <a:lstStyle/>
          <a:p>
            <a:pPr indent="0" marL="0">
              <a:buNone/>
            </a:pPr>
            <a:r>
              <a:rPr lang="en-US" sz="1100" dirty="0">
                <a:solidFill>
                  <a:srgbClr val="5B6285"/>
                </a:solidFill>
                <a:latin typeface="Calibri" pitchFamily="34" charset="0"/>
                <a:ea typeface="Calibri" pitchFamily="34" charset="-122"/>
                <a:cs typeface="Calibri" pitchFamily="34" charset="-120"/>
              </a:rPr>
              <a:t>RL controller</a:t>
            </a:r>
            <a:endParaRPr lang="en-US" sz="1100" dirty="0"/>
          </a:p>
        </p:txBody>
      </p:sp>
      <p:sp>
        <p:nvSpPr>
          <p:cNvPr id="11" name="Shape 8"/>
          <p:cNvSpPr/>
          <p:nvPr/>
        </p:nvSpPr>
        <p:spPr>
          <a:xfrm>
            <a:off x="457200" y="1417320"/>
            <a:ext cx="1463040" cy="960120"/>
          </a:xfrm>
          <a:prstGeom prst="roundRect">
            <a:avLst>
              <a:gd name="adj" fmla="val 9524"/>
            </a:avLst>
          </a:prstGeom>
          <a:solidFill>
            <a:srgbClr val="FFF0D6"/>
          </a:solidFill>
          <a:ln w="19050">
            <a:solidFill>
              <a:srgbClr val="F59E0B"/>
            </a:solidFill>
            <a:prstDash val="solid"/>
          </a:ln>
        </p:spPr>
      </p:sp>
      <p:sp>
        <p:nvSpPr>
          <p:cNvPr id="12" name="Text 9"/>
          <p:cNvSpPr txBox="1"/>
          <p:nvPr/>
        </p:nvSpPr>
        <p:spPr>
          <a:xfrm>
            <a:off x="530352" y="1417320"/>
            <a:ext cx="1316736" cy="96012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Damaged image</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 hole mask, 256×256</a:t>
            </a:r>
            <a:endParaRPr lang="en-US" sz="1300" dirty="0"/>
          </a:p>
        </p:txBody>
      </p:sp>
      <p:sp>
        <p:nvSpPr>
          <p:cNvPr id="13" name="Shape 10"/>
          <p:cNvSpPr/>
          <p:nvPr/>
        </p:nvSpPr>
        <p:spPr>
          <a:xfrm>
            <a:off x="2331720" y="1417320"/>
            <a:ext cx="1737360" cy="960120"/>
          </a:xfrm>
          <a:prstGeom prst="roundRect">
            <a:avLst>
              <a:gd name="adj" fmla="val 9524"/>
            </a:avLst>
          </a:prstGeom>
          <a:solidFill>
            <a:srgbClr val="E4E8FB"/>
          </a:solidFill>
          <a:ln w="19050">
            <a:solidFill>
              <a:srgbClr val="9AA6E8"/>
            </a:solidFill>
            <a:prstDash val="solid"/>
          </a:ln>
        </p:spPr>
      </p:sp>
      <p:sp>
        <p:nvSpPr>
          <p:cNvPr id="14" name="Text 11"/>
          <p:cNvSpPr txBox="1"/>
          <p:nvPr/>
        </p:nvSpPr>
        <p:spPr>
          <a:xfrm>
            <a:off x="2404872" y="1417320"/>
            <a:ext cx="1591056" cy="96012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Coarse pass</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Stage 1, gated conv + atrous</a:t>
            </a:r>
            <a:endParaRPr lang="en-US" sz="1300" dirty="0"/>
          </a:p>
        </p:txBody>
      </p:sp>
      <p:sp>
        <p:nvSpPr>
          <p:cNvPr id="15" name="Shape 12"/>
          <p:cNvSpPr/>
          <p:nvPr/>
        </p:nvSpPr>
        <p:spPr>
          <a:xfrm>
            <a:off x="4480560" y="1417320"/>
            <a:ext cx="1828800" cy="960120"/>
          </a:xfrm>
          <a:prstGeom prst="roundRect">
            <a:avLst>
              <a:gd name="adj" fmla="val 9524"/>
            </a:avLst>
          </a:prstGeom>
          <a:solidFill>
            <a:srgbClr val="E4E8FB"/>
          </a:solidFill>
          <a:ln w="19050">
            <a:solidFill>
              <a:srgbClr val="9AA6E8"/>
            </a:solidFill>
            <a:prstDash val="solid"/>
          </a:ln>
        </p:spPr>
      </p:sp>
      <p:sp>
        <p:nvSpPr>
          <p:cNvPr id="16" name="Text 13"/>
          <p:cNvSpPr txBox="1"/>
          <p:nvPr/>
        </p:nvSpPr>
        <p:spPr>
          <a:xfrm>
            <a:off x="4553712" y="1417320"/>
            <a:ext cx="1682496" cy="96012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State builder</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latent 256 + mask 4 + edge 1 = 261-D</a:t>
            </a:r>
            <a:endParaRPr lang="en-US" sz="1300" dirty="0"/>
          </a:p>
        </p:txBody>
      </p:sp>
      <p:sp>
        <p:nvSpPr>
          <p:cNvPr id="17" name="Shape 14"/>
          <p:cNvSpPr/>
          <p:nvPr/>
        </p:nvSpPr>
        <p:spPr>
          <a:xfrm>
            <a:off x="6720840" y="1417320"/>
            <a:ext cx="1965960" cy="960120"/>
          </a:xfrm>
          <a:prstGeom prst="roundRect">
            <a:avLst>
              <a:gd name="adj" fmla="val 9524"/>
            </a:avLst>
          </a:prstGeom>
          <a:solidFill>
            <a:srgbClr val="FFF0D6"/>
          </a:solidFill>
          <a:ln w="19050">
            <a:solidFill>
              <a:srgbClr val="F59E0B"/>
            </a:solidFill>
            <a:prstDash val="solid"/>
          </a:ln>
        </p:spPr>
      </p:sp>
      <p:sp>
        <p:nvSpPr>
          <p:cNvPr id="18" name="Text 15"/>
          <p:cNvSpPr txBox="1"/>
          <p:nvPr/>
        </p:nvSpPr>
        <p:spPr>
          <a:xfrm>
            <a:off x="6793992" y="1417320"/>
            <a:ext cx="1819656" cy="96012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PPO policy</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action a ∈ {0, 1, 2, 3}</a:t>
            </a:r>
            <a:endParaRPr lang="en-US" sz="1300" dirty="0"/>
          </a:p>
        </p:txBody>
      </p:sp>
      <p:sp>
        <p:nvSpPr>
          <p:cNvPr id="19" name="Shape 16"/>
          <p:cNvSpPr/>
          <p:nvPr/>
        </p:nvSpPr>
        <p:spPr>
          <a:xfrm>
            <a:off x="1920240" y="1897380"/>
            <a:ext cx="411480" cy="0"/>
          </a:xfrm>
          <a:prstGeom prst="line">
            <a:avLst/>
          </a:prstGeom>
          <a:noFill/>
          <a:ln w="25400">
            <a:solidFill>
              <a:srgbClr val="5B6285"/>
            </a:solidFill>
            <a:prstDash val="solid"/>
            <a:tailEnd type="triangle"/>
          </a:ln>
        </p:spPr>
      </p:sp>
      <p:sp>
        <p:nvSpPr>
          <p:cNvPr id="20" name="Shape 17"/>
          <p:cNvSpPr/>
          <p:nvPr/>
        </p:nvSpPr>
        <p:spPr>
          <a:xfrm>
            <a:off x="4069080" y="1897380"/>
            <a:ext cx="411480" cy="0"/>
          </a:xfrm>
          <a:prstGeom prst="line">
            <a:avLst/>
          </a:prstGeom>
          <a:noFill/>
          <a:ln w="25400">
            <a:solidFill>
              <a:srgbClr val="5B6285"/>
            </a:solidFill>
            <a:prstDash val="solid"/>
            <a:tailEnd type="triangle"/>
          </a:ln>
        </p:spPr>
      </p:sp>
      <p:sp>
        <p:nvSpPr>
          <p:cNvPr id="21" name="Shape 18"/>
          <p:cNvSpPr/>
          <p:nvPr/>
        </p:nvSpPr>
        <p:spPr>
          <a:xfrm>
            <a:off x="6309360" y="1897380"/>
            <a:ext cx="411480" cy="0"/>
          </a:xfrm>
          <a:prstGeom prst="line">
            <a:avLst/>
          </a:prstGeom>
          <a:noFill/>
          <a:ln w="25400">
            <a:solidFill>
              <a:srgbClr val="5B6285"/>
            </a:solidFill>
            <a:prstDash val="solid"/>
            <a:tailEnd type="triangle"/>
          </a:ln>
        </p:spPr>
      </p:sp>
      <p:sp>
        <p:nvSpPr>
          <p:cNvPr id="22" name="Shape 19"/>
          <p:cNvSpPr/>
          <p:nvPr/>
        </p:nvSpPr>
        <p:spPr>
          <a:xfrm>
            <a:off x="2331720" y="3246120"/>
            <a:ext cx="1737360" cy="960120"/>
          </a:xfrm>
          <a:prstGeom prst="roundRect">
            <a:avLst>
              <a:gd name="adj" fmla="val 9524"/>
            </a:avLst>
          </a:prstGeom>
          <a:solidFill>
            <a:srgbClr val="E4E8FB"/>
          </a:solidFill>
          <a:ln w="19050">
            <a:solidFill>
              <a:srgbClr val="9AA6E8"/>
            </a:solidFill>
            <a:prstDash val="solid"/>
          </a:ln>
        </p:spPr>
      </p:sp>
      <p:sp>
        <p:nvSpPr>
          <p:cNvPr id="23" name="Text 20"/>
          <p:cNvSpPr txBox="1"/>
          <p:nvPr/>
        </p:nvSpPr>
        <p:spPr>
          <a:xfrm>
            <a:off x="2404872" y="3246120"/>
            <a:ext cx="1591056" cy="96012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Refine pass</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Stage 2, contextual attention</a:t>
            </a:r>
            <a:endParaRPr lang="en-US" sz="1300" dirty="0"/>
          </a:p>
        </p:txBody>
      </p:sp>
      <p:sp>
        <p:nvSpPr>
          <p:cNvPr id="24" name="Shape 21"/>
          <p:cNvSpPr/>
          <p:nvPr/>
        </p:nvSpPr>
        <p:spPr>
          <a:xfrm>
            <a:off x="3200400" y="2377440"/>
            <a:ext cx="0" cy="868680"/>
          </a:xfrm>
          <a:prstGeom prst="line">
            <a:avLst/>
          </a:prstGeom>
          <a:noFill/>
          <a:ln w="25400">
            <a:solidFill>
              <a:srgbClr val="5B6285"/>
            </a:solidFill>
            <a:prstDash val="solid"/>
            <a:tailEnd type="triangle"/>
          </a:ln>
        </p:spPr>
      </p:sp>
      <p:sp>
        <p:nvSpPr>
          <p:cNvPr id="25" name="Text 22"/>
          <p:cNvSpPr txBox="1"/>
          <p:nvPr/>
        </p:nvSpPr>
        <p:spPr>
          <a:xfrm>
            <a:off x="3291840" y="2651760"/>
            <a:ext cx="1371600" cy="228600"/>
          </a:xfrm>
          <a:prstGeom prst="rect">
            <a:avLst/>
          </a:prstGeom>
          <a:noFill/>
          <a:ln/>
        </p:spPr>
        <p:txBody>
          <a:bodyPr wrap="square" lIns="0" tIns="0" rIns="0" bIns="0" rtlCol="0" anchor="t"/>
          <a:lstStyle/>
          <a:p>
            <a:pPr indent="0" marL="0">
              <a:buNone/>
            </a:pPr>
            <a:r>
              <a:rPr lang="en-US" sz="1100" i="1" dirty="0">
                <a:solidFill>
                  <a:srgbClr val="5B6285"/>
                </a:solidFill>
                <a:latin typeface="Calibri" pitchFamily="34" charset="0"/>
                <a:ea typeface="Calibri" pitchFamily="34" charset="-122"/>
                <a:cs typeface="Calibri" pitchFamily="34" charset="-120"/>
              </a:rPr>
              <a:t>coarse composite</a:t>
            </a:r>
            <a:endParaRPr lang="en-US" sz="1100" dirty="0"/>
          </a:p>
        </p:txBody>
      </p:sp>
      <p:sp>
        <p:nvSpPr>
          <p:cNvPr id="26" name="Shape 23"/>
          <p:cNvSpPr/>
          <p:nvPr/>
        </p:nvSpPr>
        <p:spPr>
          <a:xfrm>
            <a:off x="4480560" y="3200400"/>
            <a:ext cx="896112" cy="457200"/>
          </a:xfrm>
          <a:prstGeom prst="roundRect">
            <a:avLst>
              <a:gd name="adj" fmla="val 16000"/>
            </a:avLst>
          </a:prstGeom>
          <a:solidFill>
            <a:srgbClr val="DDF5EC"/>
          </a:solidFill>
          <a:ln w="22860">
            <a:solidFill>
              <a:srgbClr val="6D5DFC"/>
            </a:solidFill>
            <a:prstDash val="solid"/>
          </a:ln>
        </p:spPr>
      </p:sp>
      <p:sp>
        <p:nvSpPr>
          <p:cNvPr id="27" name="Text 24"/>
          <p:cNvSpPr txBox="1"/>
          <p:nvPr/>
        </p:nvSpPr>
        <p:spPr>
          <a:xfrm>
            <a:off x="4480560" y="3200400"/>
            <a:ext cx="896112" cy="457200"/>
          </a:xfrm>
          <a:prstGeom prst="rect">
            <a:avLst/>
          </a:prstGeom>
          <a:noFill/>
          <a:ln/>
        </p:spPr>
        <p:txBody>
          <a:bodyPr wrap="square" lIns="0" tIns="0" rIns="0" bIns="0" rtlCol="0" anchor="ctr"/>
          <a:lstStyle/>
          <a:p>
            <a:pPr algn="ctr" indent="0" marL="0">
              <a:buNone/>
            </a:pPr>
            <a:r>
              <a:rPr lang="en-US" sz="1200" b="1" dirty="0">
                <a:solidFill>
                  <a:srgbClr val="1B2140"/>
                </a:solidFill>
                <a:latin typeface="Calibri" pitchFamily="34" charset="0"/>
                <a:ea typeface="Calibri" pitchFamily="34" charset="-122"/>
                <a:cs typeface="Calibri" pitchFamily="34" charset="-120"/>
              </a:rPr>
              <a:t>Global</a:t>
            </a:r>
            <a:endParaRPr lang="en-US" sz="1200" dirty="0"/>
          </a:p>
          <a:p>
            <a:pPr algn="ctr" indent="0" marL="0">
              <a:buNone/>
            </a:pPr>
            <a:r>
              <a:rPr lang="en-US" sz="900" dirty="0">
                <a:solidFill>
                  <a:srgbClr val="5B6285"/>
                </a:solidFill>
                <a:latin typeface="Calibri" pitchFamily="34" charset="0"/>
                <a:ea typeface="Calibri" pitchFamily="34" charset="-122"/>
                <a:cs typeface="Calibri" pitchFamily="34" charset="-120"/>
              </a:rPr>
              <a:t>adapter 0</a:t>
            </a:r>
            <a:endParaRPr lang="en-US" sz="1200" dirty="0"/>
          </a:p>
        </p:txBody>
      </p:sp>
      <p:sp>
        <p:nvSpPr>
          <p:cNvPr id="28" name="Shape 25"/>
          <p:cNvSpPr/>
          <p:nvPr/>
        </p:nvSpPr>
        <p:spPr>
          <a:xfrm>
            <a:off x="5440680" y="3200400"/>
            <a:ext cx="896112" cy="457200"/>
          </a:xfrm>
          <a:prstGeom prst="roundRect">
            <a:avLst>
              <a:gd name="adj" fmla="val 16000"/>
            </a:avLst>
          </a:prstGeom>
          <a:solidFill>
            <a:srgbClr val="DDF5EC"/>
          </a:solidFill>
          <a:ln w="22860">
            <a:solidFill>
              <a:srgbClr val="0EA5E9"/>
            </a:solidFill>
            <a:prstDash val="solid"/>
          </a:ln>
        </p:spPr>
      </p:sp>
      <p:sp>
        <p:nvSpPr>
          <p:cNvPr id="29" name="Text 26"/>
          <p:cNvSpPr txBox="1"/>
          <p:nvPr/>
        </p:nvSpPr>
        <p:spPr>
          <a:xfrm>
            <a:off x="5440680" y="3200400"/>
            <a:ext cx="896112" cy="457200"/>
          </a:xfrm>
          <a:prstGeom prst="rect">
            <a:avLst/>
          </a:prstGeom>
          <a:noFill/>
          <a:ln/>
        </p:spPr>
        <p:txBody>
          <a:bodyPr wrap="square" lIns="0" tIns="0" rIns="0" bIns="0" rtlCol="0" anchor="ctr"/>
          <a:lstStyle/>
          <a:p>
            <a:pPr algn="ctr" indent="0" marL="0">
              <a:buNone/>
            </a:pPr>
            <a:r>
              <a:rPr lang="en-US" sz="1200" b="1" dirty="0">
                <a:solidFill>
                  <a:srgbClr val="1B2140"/>
                </a:solidFill>
                <a:latin typeface="Calibri" pitchFamily="34" charset="0"/>
                <a:ea typeface="Calibri" pitchFamily="34" charset="-122"/>
                <a:cs typeface="Calibri" pitchFamily="34" charset="-120"/>
              </a:rPr>
              <a:t>Local</a:t>
            </a:r>
            <a:endParaRPr lang="en-US" sz="1200" dirty="0"/>
          </a:p>
          <a:p>
            <a:pPr algn="ctr" indent="0" marL="0">
              <a:buNone/>
            </a:pPr>
            <a:r>
              <a:rPr lang="en-US" sz="900" dirty="0">
                <a:solidFill>
                  <a:srgbClr val="5B6285"/>
                </a:solidFill>
                <a:latin typeface="Calibri" pitchFamily="34" charset="0"/>
                <a:ea typeface="Calibri" pitchFamily="34" charset="-122"/>
                <a:cs typeface="Calibri" pitchFamily="34" charset="-120"/>
              </a:rPr>
              <a:t>adapter 1</a:t>
            </a:r>
            <a:endParaRPr lang="en-US" sz="1200" dirty="0"/>
          </a:p>
        </p:txBody>
      </p:sp>
      <p:sp>
        <p:nvSpPr>
          <p:cNvPr id="30" name="Shape 27"/>
          <p:cNvSpPr/>
          <p:nvPr/>
        </p:nvSpPr>
        <p:spPr>
          <a:xfrm>
            <a:off x="4480560" y="3730752"/>
            <a:ext cx="896112" cy="457200"/>
          </a:xfrm>
          <a:prstGeom prst="roundRect">
            <a:avLst>
              <a:gd name="adj" fmla="val 16000"/>
            </a:avLst>
          </a:prstGeom>
          <a:solidFill>
            <a:srgbClr val="DDF5EC"/>
          </a:solidFill>
          <a:ln w="22860">
            <a:solidFill>
              <a:srgbClr val="F59E0B"/>
            </a:solidFill>
            <a:prstDash val="solid"/>
          </a:ln>
        </p:spPr>
      </p:sp>
      <p:sp>
        <p:nvSpPr>
          <p:cNvPr id="31" name="Text 28"/>
          <p:cNvSpPr txBox="1"/>
          <p:nvPr/>
        </p:nvSpPr>
        <p:spPr>
          <a:xfrm>
            <a:off x="4480560" y="3730752"/>
            <a:ext cx="896112" cy="457200"/>
          </a:xfrm>
          <a:prstGeom prst="rect">
            <a:avLst/>
          </a:prstGeom>
          <a:noFill/>
          <a:ln/>
        </p:spPr>
        <p:txBody>
          <a:bodyPr wrap="square" lIns="0" tIns="0" rIns="0" bIns="0" rtlCol="0" anchor="ctr"/>
          <a:lstStyle/>
          <a:p>
            <a:pPr algn="ctr" indent="0" marL="0">
              <a:buNone/>
            </a:pPr>
            <a:r>
              <a:rPr lang="en-US" sz="1200" b="1" dirty="0">
                <a:solidFill>
                  <a:srgbClr val="1B2140"/>
                </a:solidFill>
                <a:latin typeface="Calibri" pitchFamily="34" charset="0"/>
                <a:ea typeface="Calibri" pitchFamily="34" charset="-122"/>
                <a:cs typeface="Calibri" pitchFamily="34" charset="-120"/>
              </a:rPr>
              <a:t>Boundary</a:t>
            </a:r>
            <a:endParaRPr lang="en-US" sz="1200" dirty="0"/>
          </a:p>
          <a:p>
            <a:pPr algn="ctr" indent="0" marL="0">
              <a:buNone/>
            </a:pPr>
            <a:r>
              <a:rPr lang="en-US" sz="900" dirty="0">
                <a:solidFill>
                  <a:srgbClr val="5B6285"/>
                </a:solidFill>
                <a:latin typeface="Calibri" pitchFamily="34" charset="0"/>
                <a:ea typeface="Calibri" pitchFamily="34" charset="-122"/>
                <a:cs typeface="Calibri" pitchFamily="34" charset="-120"/>
              </a:rPr>
              <a:t>adapter 2</a:t>
            </a:r>
            <a:endParaRPr lang="en-US" sz="1200" dirty="0"/>
          </a:p>
        </p:txBody>
      </p:sp>
      <p:sp>
        <p:nvSpPr>
          <p:cNvPr id="32" name="Shape 29"/>
          <p:cNvSpPr/>
          <p:nvPr/>
        </p:nvSpPr>
        <p:spPr>
          <a:xfrm>
            <a:off x="5440680" y="3730752"/>
            <a:ext cx="896112" cy="457200"/>
          </a:xfrm>
          <a:prstGeom prst="roundRect">
            <a:avLst>
              <a:gd name="adj" fmla="val 16000"/>
            </a:avLst>
          </a:prstGeom>
          <a:solidFill>
            <a:srgbClr val="DDF5EC"/>
          </a:solidFill>
          <a:ln w="22860">
            <a:solidFill>
              <a:srgbClr val="EC4899"/>
            </a:solidFill>
            <a:prstDash val="solid"/>
          </a:ln>
        </p:spPr>
      </p:sp>
      <p:sp>
        <p:nvSpPr>
          <p:cNvPr id="33" name="Text 30"/>
          <p:cNvSpPr txBox="1"/>
          <p:nvPr/>
        </p:nvSpPr>
        <p:spPr>
          <a:xfrm>
            <a:off x="5440680" y="3730752"/>
            <a:ext cx="896112" cy="457200"/>
          </a:xfrm>
          <a:prstGeom prst="rect">
            <a:avLst/>
          </a:prstGeom>
          <a:noFill/>
          <a:ln/>
        </p:spPr>
        <p:txBody>
          <a:bodyPr wrap="square" lIns="0" tIns="0" rIns="0" bIns="0" rtlCol="0" anchor="ctr"/>
          <a:lstStyle/>
          <a:p>
            <a:pPr algn="ctr" indent="0" marL="0">
              <a:buNone/>
            </a:pPr>
            <a:r>
              <a:rPr lang="en-US" sz="1200" b="1" dirty="0">
                <a:solidFill>
                  <a:srgbClr val="1B2140"/>
                </a:solidFill>
                <a:latin typeface="Calibri" pitchFamily="34" charset="0"/>
                <a:ea typeface="Calibri" pitchFamily="34" charset="-122"/>
                <a:cs typeface="Calibri" pitchFamily="34" charset="-120"/>
              </a:rPr>
              <a:t>Texture</a:t>
            </a:r>
            <a:endParaRPr lang="en-US" sz="1200" dirty="0"/>
          </a:p>
          <a:p>
            <a:pPr algn="ctr" indent="0" marL="0">
              <a:buNone/>
            </a:pPr>
            <a:r>
              <a:rPr lang="en-US" sz="900" dirty="0">
                <a:solidFill>
                  <a:srgbClr val="5B6285"/>
                </a:solidFill>
                <a:latin typeface="Calibri" pitchFamily="34" charset="0"/>
                <a:ea typeface="Calibri" pitchFamily="34" charset="-122"/>
                <a:cs typeface="Calibri" pitchFamily="34" charset="-120"/>
              </a:rPr>
              <a:t>adapter 3</a:t>
            </a:r>
            <a:endParaRPr lang="en-US" sz="1200" dirty="0"/>
          </a:p>
        </p:txBody>
      </p:sp>
      <p:sp>
        <p:nvSpPr>
          <p:cNvPr id="34" name="Shape 31"/>
          <p:cNvSpPr/>
          <p:nvPr/>
        </p:nvSpPr>
        <p:spPr>
          <a:xfrm>
            <a:off x="4069080" y="3726180"/>
            <a:ext cx="411480" cy="0"/>
          </a:xfrm>
          <a:prstGeom prst="line">
            <a:avLst/>
          </a:prstGeom>
          <a:noFill/>
          <a:ln w="25400">
            <a:solidFill>
              <a:srgbClr val="5B6285"/>
            </a:solidFill>
            <a:prstDash val="solid"/>
            <a:tailEnd type="triangle"/>
          </a:ln>
        </p:spPr>
      </p:sp>
      <p:sp>
        <p:nvSpPr>
          <p:cNvPr id="35" name="Shape 32"/>
          <p:cNvSpPr/>
          <p:nvPr/>
        </p:nvSpPr>
        <p:spPr>
          <a:xfrm>
            <a:off x="6720840" y="3246120"/>
            <a:ext cx="1965960" cy="960120"/>
          </a:xfrm>
          <a:prstGeom prst="roundRect">
            <a:avLst>
              <a:gd name="adj" fmla="val 9524"/>
            </a:avLst>
          </a:prstGeom>
          <a:solidFill>
            <a:srgbClr val="FFF0D6"/>
          </a:solidFill>
          <a:ln w="19050">
            <a:solidFill>
              <a:srgbClr val="F59E0B"/>
            </a:solidFill>
            <a:prstDash val="solid"/>
          </a:ln>
        </p:spPr>
      </p:sp>
      <p:sp>
        <p:nvSpPr>
          <p:cNvPr id="36" name="Text 33"/>
          <p:cNvSpPr txBox="1"/>
          <p:nvPr/>
        </p:nvSpPr>
        <p:spPr>
          <a:xfrm>
            <a:off x="6793992" y="3246120"/>
            <a:ext cx="1819656" cy="96012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Completed image</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masked + refined × mask</a:t>
            </a:r>
            <a:endParaRPr lang="en-US" sz="1300" dirty="0"/>
          </a:p>
        </p:txBody>
      </p:sp>
      <p:sp>
        <p:nvSpPr>
          <p:cNvPr id="37" name="Shape 34"/>
          <p:cNvSpPr/>
          <p:nvPr/>
        </p:nvSpPr>
        <p:spPr>
          <a:xfrm>
            <a:off x="6400800" y="3726180"/>
            <a:ext cx="320040" cy="0"/>
          </a:xfrm>
          <a:prstGeom prst="line">
            <a:avLst/>
          </a:prstGeom>
          <a:noFill/>
          <a:ln w="25400">
            <a:solidFill>
              <a:srgbClr val="5B6285"/>
            </a:solidFill>
            <a:prstDash val="solid"/>
            <a:tailEnd type="triangle"/>
          </a:ln>
        </p:spPr>
      </p:sp>
      <p:sp>
        <p:nvSpPr>
          <p:cNvPr id="38" name="Shape 35"/>
          <p:cNvSpPr/>
          <p:nvPr/>
        </p:nvSpPr>
        <p:spPr>
          <a:xfrm>
            <a:off x="7699248" y="2377440"/>
            <a:ext cx="0" cy="384048"/>
          </a:xfrm>
          <a:prstGeom prst="line">
            <a:avLst/>
          </a:prstGeom>
          <a:noFill/>
          <a:ln w="25400">
            <a:solidFill>
              <a:srgbClr val="F59E0B"/>
            </a:solidFill>
            <a:prstDash val="solid"/>
          </a:ln>
        </p:spPr>
      </p:sp>
      <p:sp>
        <p:nvSpPr>
          <p:cNvPr id="39" name="Shape 36"/>
          <p:cNvSpPr/>
          <p:nvPr/>
        </p:nvSpPr>
        <p:spPr>
          <a:xfrm>
            <a:off x="5440680" y="2761488"/>
            <a:ext cx="2258568" cy="0"/>
          </a:xfrm>
          <a:prstGeom prst="line">
            <a:avLst/>
          </a:prstGeom>
          <a:noFill/>
          <a:ln w="25400">
            <a:solidFill>
              <a:srgbClr val="F59E0B"/>
            </a:solidFill>
            <a:prstDash val="dash"/>
          </a:ln>
        </p:spPr>
      </p:sp>
      <p:sp>
        <p:nvSpPr>
          <p:cNvPr id="40" name="Shape 37"/>
          <p:cNvSpPr/>
          <p:nvPr/>
        </p:nvSpPr>
        <p:spPr>
          <a:xfrm>
            <a:off x="5440680" y="2761488"/>
            <a:ext cx="0" cy="420624"/>
          </a:xfrm>
          <a:prstGeom prst="line">
            <a:avLst/>
          </a:prstGeom>
          <a:noFill/>
          <a:ln w="25400">
            <a:solidFill>
              <a:srgbClr val="F59E0B"/>
            </a:solidFill>
            <a:prstDash val="solid"/>
            <a:tailEnd type="triangle"/>
          </a:ln>
        </p:spPr>
      </p:sp>
      <p:sp>
        <p:nvSpPr>
          <p:cNvPr id="41" name="Text 38"/>
          <p:cNvSpPr txBox="1"/>
          <p:nvPr/>
        </p:nvSpPr>
        <p:spPr>
          <a:xfrm>
            <a:off x="5577840" y="2560320"/>
            <a:ext cx="1188720" cy="22860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selects 1 of 4</a:t>
            </a:r>
            <a:endParaRPr lang="en-US" sz="1100" dirty="0"/>
          </a:p>
        </p:txBody>
      </p:sp>
      <p:sp>
        <p:nvSpPr>
          <p:cNvPr id="42" name="Text 39"/>
          <p:cNvSpPr txBox="1"/>
          <p:nvPr/>
        </p:nvSpPr>
        <p:spPr>
          <a:xfrm>
            <a:off x="457200" y="4526280"/>
            <a:ext cx="4572000" cy="228600"/>
          </a:xfrm>
          <a:prstGeom prst="rect">
            <a:avLst/>
          </a:prstGeom>
          <a:noFill/>
          <a:ln/>
        </p:spPr>
        <p:txBody>
          <a:bodyPr wrap="square" lIns="0" tIns="0" rIns="0" bIns="0" rtlCol="0" anchor="t"/>
          <a:lstStyle/>
          <a:p>
            <a:pPr indent="0" marL="0">
              <a:buNone/>
            </a:pPr>
            <a:r>
              <a:rPr lang="en-US" sz="1100" dirty="0">
                <a:solidFill>
                  <a:srgbClr val="5B6285"/>
                </a:solidFill>
                <a:latin typeface="Calibri" pitchFamily="34" charset="0"/>
                <a:ea typeface="Calibri" pitchFamily="34" charset="-122"/>
                <a:cs typeface="Calibri" pitchFamily="34" charset="-120"/>
              </a:rPr>
              <a:t>Tensors in [−1, 1]  ·  mask 1 = hole</a:t>
            </a:r>
            <a:endParaRPr lang="en-US" sz="1100" dirty="0"/>
          </a:p>
        </p:txBody>
      </p:sp>
      <p:sp>
        <p:nvSpPr>
          <p:cNvPr id="43" name="Shape 40"/>
          <p:cNvSpPr/>
          <p:nvPr/>
        </p:nvSpPr>
        <p:spPr>
          <a:xfrm>
            <a:off x="1188720" y="2377440"/>
            <a:ext cx="0" cy="1348740"/>
          </a:xfrm>
          <a:prstGeom prst="line">
            <a:avLst/>
          </a:prstGeom>
          <a:noFill/>
          <a:ln w="19050">
            <a:solidFill>
              <a:srgbClr val="8A93B8"/>
            </a:solidFill>
            <a:prstDash val="dash"/>
          </a:ln>
        </p:spPr>
      </p:sp>
      <p:sp>
        <p:nvSpPr>
          <p:cNvPr id="44" name="Shape 41"/>
          <p:cNvSpPr/>
          <p:nvPr/>
        </p:nvSpPr>
        <p:spPr>
          <a:xfrm>
            <a:off x="1188720" y="3726180"/>
            <a:ext cx="1143000" cy="0"/>
          </a:xfrm>
          <a:prstGeom prst="line">
            <a:avLst/>
          </a:prstGeom>
          <a:noFill/>
          <a:ln w="19050">
            <a:solidFill>
              <a:srgbClr val="8A93B8"/>
            </a:solidFill>
            <a:prstDash val="dash"/>
            <a:tailEnd type="triangle"/>
          </a:ln>
        </p:spPr>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STATE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A 261-D view of the damage</a:t>
            </a:r>
            <a:endParaRPr lang="en-US" sz="3000" dirty="0"/>
          </a:p>
        </p:txBody>
      </p:sp>
      <p:sp>
        <p:nvSpPr>
          <p:cNvPr id="5" name="Shape 2"/>
          <p:cNvSpPr/>
          <p:nvPr/>
        </p:nvSpPr>
        <p:spPr>
          <a:xfrm>
            <a:off x="457200" y="1371600"/>
            <a:ext cx="6309360" cy="640080"/>
          </a:xfrm>
          <a:prstGeom prst="roundRect">
            <a:avLst>
              <a:gd name="adj" fmla="val 11429"/>
            </a:avLst>
          </a:prstGeom>
          <a:solidFill>
            <a:srgbClr val="6D5DFC"/>
          </a:solidFill>
          <a:ln w="12700">
            <a:solidFill>
              <a:srgbClr val="6D5DFC"/>
            </a:solidFill>
            <a:prstDash val="solid"/>
          </a:ln>
        </p:spPr>
      </p:sp>
      <p:sp>
        <p:nvSpPr>
          <p:cNvPr id="6" name="Text 3"/>
          <p:cNvSpPr txBox="1"/>
          <p:nvPr/>
        </p:nvSpPr>
        <p:spPr>
          <a:xfrm>
            <a:off x="457200" y="1371600"/>
            <a:ext cx="630936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256  latent features</a:t>
            </a:r>
            <a:endParaRPr lang="en-US" sz="1800" dirty="0"/>
          </a:p>
        </p:txBody>
      </p:sp>
      <p:sp>
        <p:nvSpPr>
          <p:cNvPr id="7" name="Shape 4"/>
          <p:cNvSpPr/>
          <p:nvPr/>
        </p:nvSpPr>
        <p:spPr>
          <a:xfrm>
            <a:off x="6858000" y="1371600"/>
            <a:ext cx="1051560" cy="640080"/>
          </a:xfrm>
          <a:prstGeom prst="roundRect">
            <a:avLst>
              <a:gd name="adj" fmla="val 11429"/>
            </a:avLst>
          </a:prstGeom>
          <a:solidFill>
            <a:srgbClr val="0EA5E9"/>
          </a:solidFill>
          <a:ln w="12700">
            <a:solidFill>
              <a:srgbClr val="0EA5E9"/>
            </a:solidFill>
            <a:prstDash val="solid"/>
          </a:ln>
        </p:spPr>
      </p:sp>
      <p:sp>
        <p:nvSpPr>
          <p:cNvPr id="8" name="Text 5"/>
          <p:cNvSpPr txBox="1"/>
          <p:nvPr/>
        </p:nvSpPr>
        <p:spPr>
          <a:xfrm>
            <a:off x="6858000" y="1371600"/>
            <a:ext cx="105156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9" name="Shape 6"/>
          <p:cNvSpPr/>
          <p:nvPr/>
        </p:nvSpPr>
        <p:spPr>
          <a:xfrm>
            <a:off x="8001000" y="1371600"/>
            <a:ext cx="685800" cy="640080"/>
          </a:xfrm>
          <a:prstGeom prst="roundRect">
            <a:avLst>
              <a:gd name="adj" fmla="val 11429"/>
            </a:avLst>
          </a:prstGeom>
          <a:solidFill>
            <a:srgbClr val="F59E0B"/>
          </a:solidFill>
          <a:ln w="12700">
            <a:solidFill>
              <a:srgbClr val="F59E0B"/>
            </a:solidFill>
            <a:prstDash val="solid"/>
          </a:ln>
        </p:spPr>
      </p:sp>
      <p:sp>
        <p:nvSpPr>
          <p:cNvPr id="10" name="Text 7"/>
          <p:cNvSpPr txBox="1"/>
          <p:nvPr/>
        </p:nvSpPr>
        <p:spPr>
          <a:xfrm>
            <a:off x="8001000" y="1371600"/>
            <a:ext cx="6858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Shape 8"/>
          <p:cNvSpPr/>
          <p:nvPr/>
        </p:nvSpPr>
        <p:spPr>
          <a:xfrm>
            <a:off x="457200" y="2286000"/>
            <a:ext cx="2743200" cy="2286000"/>
          </a:xfrm>
          <a:prstGeom prst="roundRect">
            <a:avLst>
              <a:gd name="adj" fmla="val 480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2" name="Shape 9"/>
          <p:cNvSpPr/>
          <p:nvPr/>
        </p:nvSpPr>
        <p:spPr>
          <a:xfrm>
            <a:off x="640080" y="2450592"/>
            <a:ext cx="457200" cy="457200"/>
          </a:xfrm>
          <a:prstGeom prst="ellipse">
            <a:avLst/>
          </a:prstGeom>
          <a:solidFill>
            <a:srgbClr val="6D5DFC"/>
          </a:solidFill>
          <a:ln w="12700">
            <a:solidFill>
              <a:srgbClr val="6D5DFC"/>
            </a:solidFill>
            <a:prstDash val="solid"/>
          </a:ln>
        </p:spPr>
      </p:sp>
      <p:pic>
        <p:nvPicPr>
          <p:cNvPr id="13" name="Image 0" descr="preencoded.png">    </p:cNvPr>
          <p:cNvPicPr>
            <a:picLocks noChangeAspect="1"/>
          </p:cNvPicPr>
          <p:nvPr/>
        </p:nvPicPr>
        <p:blipFill>
          <a:blip r:embed="rId1"/>
          <a:stretch>
            <a:fillRect/>
          </a:stretch>
        </p:blipFill>
        <p:spPr>
          <a:xfrm>
            <a:off x="754380" y="2564892"/>
            <a:ext cx="228600" cy="228600"/>
          </a:xfrm>
          <a:prstGeom prst="rect">
            <a:avLst/>
          </a:prstGeom>
        </p:spPr>
      </p:pic>
      <p:sp>
        <p:nvSpPr>
          <p:cNvPr id="14" name="Text 10"/>
          <p:cNvSpPr txBox="1"/>
          <p:nvPr/>
        </p:nvSpPr>
        <p:spPr>
          <a:xfrm>
            <a:off x="1188720" y="2450592"/>
            <a:ext cx="1920240" cy="457200"/>
          </a:xfrm>
          <a:prstGeom prst="rect">
            <a:avLst/>
          </a:prstGeom>
          <a:noFill/>
          <a:ln/>
        </p:spPr>
        <p:txBody>
          <a:bodyPr wrap="square" lIns="0" tIns="0" rIns="0" bIns="0" rtlCol="0" anchor="ctr"/>
          <a:lstStyle/>
          <a:p>
            <a:pPr indent="0" marL="0">
              <a:buNone/>
            </a:pPr>
            <a:r>
              <a:rPr lang="en-US" sz="1600" b="1" dirty="0">
                <a:solidFill>
                  <a:srgbClr val="1B2140"/>
                </a:solidFill>
                <a:latin typeface="Calibri" pitchFamily="34" charset="0"/>
                <a:ea typeface="Calibri" pitchFamily="34" charset="-122"/>
                <a:cs typeface="Calibri" pitchFamily="34" charset="-120"/>
              </a:rPr>
              <a:t>Latent  ·  256</a:t>
            </a:r>
            <a:endParaRPr lang="en-US" sz="1600" dirty="0"/>
          </a:p>
        </p:txBody>
      </p:sp>
      <p:sp>
        <p:nvSpPr>
          <p:cNvPr id="15" name="Text 11"/>
          <p:cNvSpPr txBox="1"/>
          <p:nvPr/>
        </p:nvSpPr>
        <p:spPr>
          <a:xfrm>
            <a:off x="685800" y="3108960"/>
            <a:ext cx="2377440"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conv10_atrous bottleneck</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96 channels</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global average pool</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2-layer head → 256</a:t>
            </a:r>
            <a:endParaRPr lang="en-US" sz="1400" dirty="0"/>
          </a:p>
        </p:txBody>
      </p:sp>
      <p:sp>
        <p:nvSpPr>
          <p:cNvPr id="16" name="Shape 12"/>
          <p:cNvSpPr/>
          <p:nvPr/>
        </p:nvSpPr>
        <p:spPr>
          <a:xfrm>
            <a:off x="3429000" y="2286000"/>
            <a:ext cx="2560320" cy="2286000"/>
          </a:xfrm>
          <a:prstGeom prst="roundRect">
            <a:avLst>
              <a:gd name="adj" fmla="val 480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7" name="Shape 13"/>
          <p:cNvSpPr/>
          <p:nvPr/>
        </p:nvSpPr>
        <p:spPr>
          <a:xfrm>
            <a:off x="3611880" y="2450592"/>
            <a:ext cx="457200" cy="457200"/>
          </a:xfrm>
          <a:prstGeom prst="ellipse">
            <a:avLst/>
          </a:prstGeom>
          <a:solidFill>
            <a:srgbClr val="0EA5E9"/>
          </a:solidFill>
          <a:ln w="12700">
            <a:solidFill>
              <a:srgbClr val="0EA5E9"/>
            </a:solidFill>
            <a:prstDash val="solid"/>
          </a:ln>
        </p:spPr>
      </p:sp>
      <p:pic>
        <p:nvPicPr>
          <p:cNvPr id="18" name="Image 1" descr="preencoded.png">    </p:cNvPr>
          <p:cNvPicPr>
            <a:picLocks noChangeAspect="1"/>
          </p:cNvPicPr>
          <p:nvPr/>
        </p:nvPicPr>
        <p:blipFill>
          <a:blip r:embed="rId2"/>
          <a:stretch>
            <a:fillRect/>
          </a:stretch>
        </p:blipFill>
        <p:spPr>
          <a:xfrm>
            <a:off x="3726180" y="2564892"/>
            <a:ext cx="228600" cy="228600"/>
          </a:xfrm>
          <a:prstGeom prst="rect">
            <a:avLst/>
          </a:prstGeom>
        </p:spPr>
      </p:pic>
      <p:sp>
        <p:nvSpPr>
          <p:cNvPr id="19" name="Text 14"/>
          <p:cNvSpPr txBox="1"/>
          <p:nvPr/>
        </p:nvSpPr>
        <p:spPr>
          <a:xfrm>
            <a:off x="4160520" y="2450592"/>
            <a:ext cx="1737360" cy="457200"/>
          </a:xfrm>
          <a:prstGeom prst="rect">
            <a:avLst/>
          </a:prstGeom>
          <a:noFill/>
          <a:ln/>
        </p:spPr>
        <p:txBody>
          <a:bodyPr wrap="square" lIns="0" tIns="0" rIns="0" bIns="0" rtlCol="0" anchor="ctr"/>
          <a:lstStyle/>
          <a:p>
            <a:pPr indent="0" marL="0">
              <a:buNone/>
            </a:pPr>
            <a:r>
              <a:rPr lang="en-US" sz="1600" b="1" dirty="0">
                <a:solidFill>
                  <a:srgbClr val="1B2140"/>
                </a:solidFill>
                <a:latin typeface="Calibri" pitchFamily="34" charset="0"/>
                <a:ea typeface="Calibri" pitchFamily="34" charset="-122"/>
                <a:cs typeface="Calibri" pitchFamily="34" charset="-120"/>
              </a:rPr>
              <a:t>Mask stats  ·  4</a:t>
            </a:r>
            <a:endParaRPr lang="en-US" sz="1600" dirty="0"/>
          </a:p>
        </p:txBody>
      </p:sp>
      <p:sp>
        <p:nvSpPr>
          <p:cNvPr id="20" name="Text 15"/>
          <p:cNvSpPr txBox="1"/>
          <p:nvPr/>
        </p:nvSpPr>
        <p:spPr>
          <a:xfrm>
            <a:off x="3657600" y="3108960"/>
            <a:ext cx="2194560"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missing ratio</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bounding-box ratio</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regions count ÷ 10</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centroid distance</a:t>
            </a:r>
            <a:endParaRPr lang="en-US" sz="1400" dirty="0"/>
          </a:p>
        </p:txBody>
      </p:sp>
      <p:sp>
        <p:nvSpPr>
          <p:cNvPr id="21" name="Shape 16"/>
          <p:cNvSpPr/>
          <p:nvPr/>
        </p:nvSpPr>
        <p:spPr>
          <a:xfrm>
            <a:off x="6172200" y="2286000"/>
            <a:ext cx="2514600" cy="2286000"/>
          </a:xfrm>
          <a:prstGeom prst="roundRect">
            <a:avLst>
              <a:gd name="adj" fmla="val 480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2" name="Shape 17"/>
          <p:cNvSpPr/>
          <p:nvPr/>
        </p:nvSpPr>
        <p:spPr>
          <a:xfrm>
            <a:off x="6355080" y="2450592"/>
            <a:ext cx="457200" cy="457200"/>
          </a:xfrm>
          <a:prstGeom prst="ellipse">
            <a:avLst/>
          </a:prstGeom>
          <a:solidFill>
            <a:srgbClr val="F59E0B"/>
          </a:solidFill>
          <a:ln w="12700">
            <a:solidFill>
              <a:srgbClr val="F59E0B"/>
            </a:solidFill>
            <a:prstDash val="solid"/>
          </a:ln>
        </p:spPr>
      </p:sp>
      <p:pic>
        <p:nvPicPr>
          <p:cNvPr id="23" name="Image 2" descr="preencoded.png">    </p:cNvPr>
          <p:cNvPicPr>
            <a:picLocks noChangeAspect="1"/>
          </p:cNvPicPr>
          <p:nvPr/>
        </p:nvPicPr>
        <p:blipFill>
          <a:blip r:embed="rId3"/>
          <a:stretch>
            <a:fillRect/>
          </a:stretch>
        </p:blipFill>
        <p:spPr>
          <a:xfrm>
            <a:off x="6469380" y="2564892"/>
            <a:ext cx="228600" cy="228600"/>
          </a:xfrm>
          <a:prstGeom prst="rect">
            <a:avLst/>
          </a:prstGeom>
        </p:spPr>
      </p:pic>
      <p:sp>
        <p:nvSpPr>
          <p:cNvPr id="24" name="Text 18"/>
          <p:cNvSpPr txBox="1"/>
          <p:nvPr/>
        </p:nvSpPr>
        <p:spPr>
          <a:xfrm>
            <a:off x="6903720" y="2450592"/>
            <a:ext cx="1691640" cy="457200"/>
          </a:xfrm>
          <a:prstGeom prst="rect">
            <a:avLst/>
          </a:prstGeom>
          <a:noFill/>
          <a:ln/>
        </p:spPr>
        <p:txBody>
          <a:bodyPr wrap="square" lIns="0" tIns="0" rIns="0" bIns="0" rtlCol="0" anchor="ctr"/>
          <a:lstStyle/>
          <a:p>
            <a:pPr indent="0" marL="0">
              <a:buNone/>
            </a:pPr>
            <a:r>
              <a:rPr lang="en-US" sz="1600" b="1" dirty="0">
                <a:solidFill>
                  <a:srgbClr val="1B2140"/>
                </a:solidFill>
                <a:latin typeface="Calibri" pitchFamily="34" charset="0"/>
                <a:ea typeface="Calibri" pitchFamily="34" charset="-122"/>
                <a:cs typeface="Calibri" pitchFamily="34" charset="-120"/>
              </a:rPr>
              <a:t>Boundary value  ·  1</a:t>
            </a:r>
            <a:endParaRPr lang="en-US" sz="1600" dirty="0"/>
          </a:p>
        </p:txBody>
      </p:sp>
      <p:sp>
        <p:nvSpPr>
          <p:cNvPr id="25" name="Text 19"/>
          <p:cNvSpPr txBox="1"/>
          <p:nvPr/>
        </p:nvSpPr>
        <p:spPr>
          <a:xfrm>
            <a:off x="6400800" y="3108960"/>
            <a:ext cx="2148840"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Sobel magnitude</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1-px ring outside hole</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on coarse composite</a:t>
            </a:r>
            <a:endParaRPr lang="en-US" sz="1400" dirty="0"/>
          </a:p>
          <a:p>
            <a:pPr marL="177800" indent="-177800">
              <a:spcAft>
                <a:spcPts val="400"/>
              </a:spcAft>
              <a:buSzPct val="100000"/>
              <a:buChar char="•"/>
            </a:pPr>
            <a:r>
              <a:rPr lang="en-US" sz="1400" dirty="0">
                <a:solidFill>
                  <a:srgbClr val="5B6285"/>
                </a:solidFill>
                <a:latin typeface="Calibri" pitchFamily="34" charset="0"/>
                <a:ea typeface="Calibri" pitchFamily="34" charset="-122"/>
                <a:cs typeface="Calibri" pitchFamily="34" charset="-120"/>
              </a:rPr>
              <a:t>scaled to [0, 1]</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STRATEGIES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Four adapters, four specialities</a:t>
            </a:r>
            <a:endParaRPr lang="en-US" sz="3000" dirty="0"/>
          </a:p>
        </p:txBody>
      </p:sp>
      <p:sp>
        <p:nvSpPr>
          <p:cNvPr id="5" name="Shape 2"/>
          <p:cNvSpPr/>
          <p:nvPr/>
        </p:nvSpPr>
        <p:spPr>
          <a:xfrm>
            <a:off x="457200" y="1325880"/>
            <a:ext cx="1938528" cy="2697480"/>
          </a:xfrm>
          <a:prstGeom prst="roundRect">
            <a:avLst>
              <a:gd name="adj" fmla="val 566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6" name="Shape 3"/>
          <p:cNvSpPr/>
          <p:nvPr/>
        </p:nvSpPr>
        <p:spPr>
          <a:xfrm>
            <a:off x="566928" y="1435608"/>
            <a:ext cx="1719072" cy="685800"/>
          </a:xfrm>
          <a:prstGeom prst="roundRect">
            <a:avLst>
              <a:gd name="adj" fmla="val 13333"/>
            </a:avLst>
          </a:prstGeom>
          <a:solidFill>
            <a:srgbClr val="6D5DFC"/>
          </a:solidFill>
          <a:ln w="12700">
            <a:solidFill>
              <a:srgbClr val="6D5DFC"/>
            </a:solidFill>
            <a:prstDash val="solid"/>
          </a:ln>
        </p:spPr>
      </p:sp>
      <p:sp>
        <p:nvSpPr>
          <p:cNvPr id="7" name="Shape 4"/>
          <p:cNvSpPr/>
          <p:nvPr/>
        </p:nvSpPr>
        <p:spPr>
          <a:xfrm>
            <a:off x="685800" y="1545336"/>
            <a:ext cx="457200" cy="45720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800100" y="1659636"/>
            <a:ext cx="228600" cy="228600"/>
          </a:xfrm>
          <a:prstGeom prst="rect">
            <a:avLst/>
          </a:prstGeom>
        </p:spPr>
      </p:pic>
      <p:sp>
        <p:nvSpPr>
          <p:cNvPr id="9" name="Text 5"/>
          <p:cNvSpPr txBox="1"/>
          <p:nvPr/>
        </p:nvSpPr>
        <p:spPr>
          <a:xfrm>
            <a:off x="1234440" y="1435608"/>
            <a:ext cx="1051560" cy="6858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Global</a:t>
            </a:r>
            <a:endParaRPr lang="en-US" sz="1500" dirty="0"/>
          </a:p>
        </p:txBody>
      </p:sp>
      <p:sp>
        <p:nvSpPr>
          <p:cNvPr id="10" name="Text 6"/>
          <p:cNvSpPr txBox="1"/>
          <p:nvPr/>
        </p:nvSpPr>
        <p:spPr>
          <a:xfrm>
            <a:off x="640080" y="2240280"/>
            <a:ext cx="1645920" cy="182880"/>
          </a:xfrm>
          <a:prstGeom prst="rect">
            <a:avLst/>
          </a:prstGeom>
          <a:noFill/>
          <a:ln/>
        </p:spPr>
        <p:txBody>
          <a:bodyPr wrap="square" lIns="0" tIns="0" rIns="0" bIns="0" rtlCol="0" anchor="t"/>
          <a:lstStyle/>
          <a:p>
            <a:pPr indent="0" marL="0">
              <a:buNone/>
            </a:pPr>
            <a:r>
              <a:rPr lang="en-US" sz="900" b="1" spc="200" kern="0" dirty="0">
                <a:solidFill>
                  <a:srgbClr val="6D5DFC"/>
                </a:solidFill>
                <a:latin typeface="Calibri" pitchFamily="34" charset="0"/>
                <a:ea typeface="Calibri" pitchFamily="34" charset="-122"/>
                <a:cs typeface="Calibri" pitchFamily="34" charset="-120"/>
              </a:rPr>
              <a:t>MECHANISM</a:t>
            </a:r>
            <a:endParaRPr lang="en-US" sz="900" dirty="0"/>
          </a:p>
        </p:txBody>
      </p:sp>
      <p:sp>
        <p:nvSpPr>
          <p:cNvPr id="11" name="Text 7"/>
          <p:cNvSpPr txBox="1"/>
          <p:nvPr/>
        </p:nvSpPr>
        <p:spPr>
          <a:xfrm>
            <a:off x="640080" y="242316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Plain residual pass</a:t>
            </a:r>
            <a:endParaRPr lang="en-US" sz="1250" dirty="0"/>
          </a:p>
        </p:txBody>
      </p:sp>
      <p:sp>
        <p:nvSpPr>
          <p:cNvPr id="12" name="Text 8"/>
          <p:cNvSpPr txBox="1"/>
          <p:nvPr/>
        </p:nvSpPr>
        <p:spPr>
          <a:xfrm>
            <a:off x="640080" y="2971800"/>
            <a:ext cx="1645920" cy="182880"/>
          </a:xfrm>
          <a:prstGeom prst="rect">
            <a:avLst/>
          </a:prstGeom>
          <a:noFill/>
          <a:ln/>
        </p:spPr>
        <p:txBody>
          <a:bodyPr wrap="square" lIns="0" tIns="0" rIns="0" bIns="0" rtlCol="0" anchor="t"/>
          <a:lstStyle/>
          <a:p>
            <a:pPr indent="0" marL="0">
              <a:buNone/>
            </a:pPr>
            <a:r>
              <a:rPr lang="en-US" sz="900" b="1" spc="200" kern="0" dirty="0">
                <a:solidFill>
                  <a:srgbClr val="6D5DFC"/>
                </a:solidFill>
                <a:latin typeface="Calibri" pitchFamily="34" charset="0"/>
                <a:ea typeface="Calibri" pitchFamily="34" charset="-122"/>
                <a:cs typeface="Calibri" pitchFamily="34" charset="-120"/>
              </a:rPr>
              <a:t>TRAINING LOSS</a:t>
            </a:r>
            <a:endParaRPr lang="en-US" sz="900" dirty="0"/>
          </a:p>
        </p:txBody>
      </p:sp>
      <p:sp>
        <p:nvSpPr>
          <p:cNvPr id="13" name="Text 9"/>
          <p:cNvSpPr txBox="1"/>
          <p:nvPr/>
        </p:nvSpPr>
        <p:spPr>
          <a:xfrm>
            <a:off x="640080" y="315468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L1 hole + L1 valid + VGG perceptual</a:t>
            </a:r>
            <a:endParaRPr lang="en-US" sz="1250" dirty="0"/>
          </a:p>
        </p:txBody>
      </p:sp>
      <p:sp>
        <p:nvSpPr>
          <p:cNvPr id="14" name="Text 10"/>
          <p:cNvSpPr txBox="1"/>
          <p:nvPr/>
        </p:nvSpPr>
        <p:spPr>
          <a:xfrm>
            <a:off x="640080" y="3721608"/>
            <a:ext cx="1600200" cy="228600"/>
          </a:xfrm>
          <a:prstGeom prst="rect">
            <a:avLst/>
          </a:prstGeom>
          <a:noFill/>
          <a:ln/>
        </p:spPr>
        <p:txBody>
          <a:bodyPr wrap="square" lIns="0" tIns="0" rIns="0" bIns="0" rtlCol="0" anchor="t"/>
          <a:lstStyle/>
          <a:p>
            <a:pPr indent="0" marL="0">
              <a:buNone/>
            </a:pPr>
            <a:r>
              <a:rPr lang="en-US" sz="1100" b="1" dirty="0">
                <a:solidFill>
                  <a:srgbClr val="5B6285"/>
                </a:solidFill>
                <a:latin typeface="Calibri" pitchFamily="34" charset="0"/>
                <a:ea typeface="Calibri" pitchFamily="34" charset="-122"/>
                <a:cs typeface="Calibri" pitchFamily="34" charset="-120"/>
              </a:rPr>
              <a:t>cost 0.00</a:t>
            </a:r>
            <a:endParaRPr lang="en-US" sz="1100" dirty="0"/>
          </a:p>
        </p:txBody>
      </p:sp>
      <p:sp>
        <p:nvSpPr>
          <p:cNvPr id="15" name="Shape 11"/>
          <p:cNvSpPr/>
          <p:nvPr/>
        </p:nvSpPr>
        <p:spPr>
          <a:xfrm>
            <a:off x="2542032" y="1325880"/>
            <a:ext cx="1938528" cy="2697480"/>
          </a:xfrm>
          <a:prstGeom prst="roundRect">
            <a:avLst>
              <a:gd name="adj" fmla="val 566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6" name="Shape 12"/>
          <p:cNvSpPr/>
          <p:nvPr/>
        </p:nvSpPr>
        <p:spPr>
          <a:xfrm>
            <a:off x="2651760" y="1435608"/>
            <a:ext cx="1719072" cy="685800"/>
          </a:xfrm>
          <a:prstGeom prst="roundRect">
            <a:avLst>
              <a:gd name="adj" fmla="val 13333"/>
            </a:avLst>
          </a:prstGeom>
          <a:solidFill>
            <a:srgbClr val="0EA5E9"/>
          </a:solidFill>
          <a:ln w="12700">
            <a:solidFill>
              <a:srgbClr val="0EA5E9"/>
            </a:solidFill>
            <a:prstDash val="solid"/>
          </a:ln>
        </p:spPr>
      </p:sp>
      <p:sp>
        <p:nvSpPr>
          <p:cNvPr id="17" name="Shape 13"/>
          <p:cNvSpPr/>
          <p:nvPr/>
        </p:nvSpPr>
        <p:spPr>
          <a:xfrm>
            <a:off x="2770632" y="1545336"/>
            <a:ext cx="457200" cy="457200"/>
          </a:xfrm>
          <a:prstGeom prst="ellipse">
            <a:avLst/>
          </a:prstGeom>
          <a:solidFill>
            <a:srgbClr val="FFFFFF"/>
          </a:solidFill>
          <a:ln w="12700">
            <a:solidFill>
              <a:srgbClr val="FFFFFF"/>
            </a:solidFill>
            <a:prstDash val="solid"/>
          </a:ln>
        </p:spPr>
      </p:sp>
      <p:pic>
        <p:nvPicPr>
          <p:cNvPr id="18" name="Image 1" descr="preencoded.png">    </p:cNvPr>
          <p:cNvPicPr>
            <a:picLocks noChangeAspect="1"/>
          </p:cNvPicPr>
          <p:nvPr/>
        </p:nvPicPr>
        <p:blipFill>
          <a:blip r:embed="rId2"/>
          <a:stretch>
            <a:fillRect/>
          </a:stretch>
        </p:blipFill>
        <p:spPr>
          <a:xfrm>
            <a:off x="2884932" y="1659636"/>
            <a:ext cx="228600" cy="228600"/>
          </a:xfrm>
          <a:prstGeom prst="rect">
            <a:avLst/>
          </a:prstGeom>
        </p:spPr>
      </p:pic>
      <p:sp>
        <p:nvSpPr>
          <p:cNvPr id="19" name="Text 14"/>
          <p:cNvSpPr txBox="1"/>
          <p:nvPr/>
        </p:nvSpPr>
        <p:spPr>
          <a:xfrm>
            <a:off x="3319272" y="1435608"/>
            <a:ext cx="1051560" cy="6858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Local</a:t>
            </a:r>
            <a:endParaRPr lang="en-US" sz="1500" dirty="0"/>
          </a:p>
        </p:txBody>
      </p:sp>
      <p:sp>
        <p:nvSpPr>
          <p:cNvPr id="20" name="Text 15"/>
          <p:cNvSpPr txBox="1"/>
          <p:nvPr/>
        </p:nvSpPr>
        <p:spPr>
          <a:xfrm>
            <a:off x="2724912" y="2240280"/>
            <a:ext cx="1645920" cy="182880"/>
          </a:xfrm>
          <a:prstGeom prst="rect">
            <a:avLst/>
          </a:prstGeom>
          <a:noFill/>
          <a:ln/>
        </p:spPr>
        <p:txBody>
          <a:bodyPr wrap="square" lIns="0" tIns="0" rIns="0" bIns="0" rtlCol="0" anchor="t"/>
          <a:lstStyle/>
          <a:p>
            <a:pPr indent="0" marL="0">
              <a:buNone/>
            </a:pPr>
            <a:r>
              <a:rPr lang="en-US" sz="900" b="1" spc="200" kern="0" dirty="0">
                <a:solidFill>
                  <a:srgbClr val="0EA5E9"/>
                </a:solidFill>
                <a:latin typeface="Calibri" pitchFamily="34" charset="0"/>
                <a:ea typeface="Calibri" pitchFamily="34" charset="-122"/>
                <a:cs typeface="Calibri" pitchFamily="34" charset="-120"/>
              </a:rPr>
              <a:t>MECHANISM</a:t>
            </a:r>
            <a:endParaRPr lang="en-US" sz="900" dirty="0"/>
          </a:p>
        </p:txBody>
      </p:sp>
      <p:sp>
        <p:nvSpPr>
          <p:cNvPr id="21" name="Text 16"/>
          <p:cNvSpPr txBox="1"/>
          <p:nvPr/>
        </p:nvSpPr>
        <p:spPr>
          <a:xfrm>
            <a:off x="2724912" y="242316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Input scaled by 1 + 0.5·mask</a:t>
            </a:r>
            <a:endParaRPr lang="en-US" sz="1250" dirty="0"/>
          </a:p>
        </p:txBody>
      </p:sp>
      <p:sp>
        <p:nvSpPr>
          <p:cNvPr id="22" name="Text 17"/>
          <p:cNvSpPr txBox="1"/>
          <p:nvPr/>
        </p:nvSpPr>
        <p:spPr>
          <a:xfrm>
            <a:off x="2724912" y="2971800"/>
            <a:ext cx="1645920" cy="182880"/>
          </a:xfrm>
          <a:prstGeom prst="rect">
            <a:avLst/>
          </a:prstGeom>
          <a:noFill/>
          <a:ln/>
        </p:spPr>
        <p:txBody>
          <a:bodyPr wrap="square" lIns="0" tIns="0" rIns="0" bIns="0" rtlCol="0" anchor="t"/>
          <a:lstStyle/>
          <a:p>
            <a:pPr indent="0" marL="0">
              <a:buNone/>
            </a:pPr>
            <a:r>
              <a:rPr lang="en-US" sz="900" b="1" spc="200" kern="0" dirty="0">
                <a:solidFill>
                  <a:srgbClr val="0EA5E9"/>
                </a:solidFill>
                <a:latin typeface="Calibri" pitchFamily="34" charset="0"/>
                <a:ea typeface="Calibri" pitchFamily="34" charset="-122"/>
                <a:cs typeface="Calibri" pitchFamily="34" charset="-120"/>
              </a:rPr>
              <a:t>TRAINING LOSS</a:t>
            </a:r>
            <a:endParaRPr lang="en-US" sz="900" dirty="0"/>
          </a:p>
        </p:txBody>
      </p:sp>
      <p:sp>
        <p:nvSpPr>
          <p:cNvPr id="23" name="Text 18"/>
          <p:cNvSpPr txBox="1"/>
          <p:nvPr/>
        </p:nvSpPr>
        <p:spPr>
          <a:xfrm>
            <a:off x="2724912" y="315468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6·L1 hole + SSIM-style term</a:t>
            </a:r>
            <a:endParaRPr lang="en-US" sz="1250" dirty="0"/>
          </a:p>
        </p:txBody>
      </p:sp>
      <p:sp>
        <p:nvSpPr>
          <p:cNvPr id="24" name="Text 19"/>
          <p:cNvSpPr txBox="1"/>
          <p:nvPr/>
        </p:nvSpPr>
        <p:spPr>
          <a:xfrm>
            <a:off x="2724912" y="3721608"/>
            <a:ext cx="1600200" cy="228600"/>
          </a:xfrm>
          <a:prstGeom prst="rect">
            <a:avLst/>
          </a:prstGeom>
          <a:noFill/>
          <a:ln/>
        </p:spPr>
        <p:txBody>
          <a:bodyPr wrap="square" lIns="0" tIns="0" rIns="0" bIns="0" rtlCol="0" anchor="t"/>
          <a:lstStyle/>
          <a:p>
            <a:pPr indent="0" marL="0">
              <a:buNone/>
            </a:pPr>
            <a:r>
              <a:rPr lang="en-US" sz="1100" b="1" dirty="0">
                <a:solidFill>
                  <a:srgbClr val="5B6285"/>
                </a:solidFill>
                <a:latin typeface="Calibri" pitchFamily="34" charset="0"/>
                <a:ea typeface="Calibri" pitchFamily="34" charset="-122"/>
                <a:cs typeface="Calibri" pitchFamily="34" charset="-120"/>
              </a:rPr>
              <a:t>cost 0.10</a:t>
            </a:r>
            <a:endParaRPr lang="en-US" sz="1100" dirty="0"/>
          </a:p>
        </p:txBody>
      </p:sp>
      <p:sp>
        <p:nvSpPr>
          <p:cNvPr id="25" name="Shape 20"/>
          <p:cNvSpPr/>
          <p:nvPr/>
        </p:nvSpPr>
        <p:spPr>
          <a:xfrm>
            <a:off x="4626864" y="1325880"/>
            <a:ext cx="1938528" cy="2697480"/>
          </a:xfrm>
          <a:prstGeom prst="roundRect">
            <a:avLst>
              <a:gd name="adj" fmla="val 566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6" name="Shape 21"/>
          <p:cNvSpPr/>
          <p:nvPr/>
        </p:nvSpPr>
        <p:spPr>
          <a:xfrm>
            <a:off x="4736592" y="1435608"/>
            <a:ext cx="1719072" cy="685800"/>
          </a:xfrm>
          <a:prstGeom prst="roundRect">
            <a:avLst>
              <a:gd name="adj" fmla="val 13333"/>
            </a:avLst>
          </a:prstGeom>
          <a:solidFill>
            <a:srgbClr val="F59E0B"/>
          </a:solidFill>
          <a:ln w="12700">
            <a:solidFill>
              <a:srgbClr val="F59E0B"/>
            </a:solidFill>
            <a:prstDash val="solid"/>
          </a:ln>
        </p:spPr>
      </p:sp>
      <p:sp>
        <p:nvSpPr>
          <p:cNvPr id="27" name="Shape 22"/>
          <p:cNvSpPr/>
          <p:nvPr/>
        </p:nvSpPr>
        <p:spPr>
          <a:xfrm>
            <a:off x="4855464" y="1545336"/>
            <a:ext cx="457200" cy="457200"/>
          </a:xfrm>
          <a:prstGeom prst="ellipse">
            <a:avLst/>
          </a:prstGeom>
          <a:solidFill>
            <a:srgbClr val="FFFFFF"/>
          </a:solidFill>
          <a:ln w="12700">
            <a:solidFill>
              <a:srgbClr val="FFFFFF"/>
            </a:solidFill>
            <a:prstDash val="solid"/>
          </a:ln>
        </p:spPr>
      </p:sp>
      <p:pic>
        <p:nvPicPr>
          <p:cNvPr id="28" name="Image 2" descr="preencoded.png">    </p:cNvPr>
          <p:cNvPicPr>
            <a:picLocks noChangeAspect="1"/>
          </p:cNvPicPr>
          <p:nvPr/>
        </p:nvPicPr>
        <p:blipFill>
          <a:blip r:embed="rId3"/>
          <a:stretch>
            <a:fillRect/>
          </a:stretch>
        </p:blipFill>
        <p:spPr>
          <a:xfrm>
            <a:off x="4969764" y="1659636"/>
            <a:ext cx="228600" cy="228600"/>
          </a:xfrm>
          <a:prstGeom prst="rect">
            <a:avLst/>
          </a:prstGeom>
        </p:spPr>
      </p:pic>
      <p:sp>
        <p:nvSpPr>
          <p:cNvPr id="29" name="Text 23"/>
          <p:cNvSpPr txBox="1"/>
          <p:nvPr/>
        </p:nvSpPr>
        <p:spPr>
          <a:xfrm>
            <a:off x="5404104" y="1435608"/>
            <a:ext cx="1051560" cy="6858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Boundary</a:t>
            </a:r>
            <a:endParaRPr lang="en-US" sz="1500" dirty="0"/>
          </a:p>
        </p:txBody>
      </p:sp>
      <p:sp>
        <p:nvSpPr>
          <p:cNvPr id="30" name="Text 24"/>
          <p:cNvSpPr txBox="1"/>
          <p:nvPr/>
        </p:nvSpPr>
        <p:spPr>
          <a:xfrm>
            <a:off x="4809744" y="2240280"/>
            <a:ext cx="1645920" cy="182880"/>
          </a:xfrm>
          <a:prstGeom prst="rect">
            <a:avLst/>
          </a:prstGeom>
          <a:noFill/>
          <a:ln/>
        </p:spPr>
        <p:txBody>
          <a:bodyPr wrap="square" lIns="0" tIns="0" rIns="0" bIns="0" rtlCol="0" anchor="t"/>
          <a:lstStyle/>
          <a:p>
            <a:pPr indent="0" marL="0">
              <a:buNone/>
            </a:pPr>
            <a:r>
              <a:rPr lang="en-US" sz="900" b="1" spc="200" kern="0" dirty="0">
                <a:solidFill>
                  <a:srgbClr val="F59E0B"/>
                </a:solidFill>
                <a:latin typeface="Calibri" pitchFamily="34" charset="0"/>
                <a:ea typeface="Calibri" pitchFamily="34" charset="-122"/>
                <a:cs typeface="Calibri" pitchFamily="34" charset="-120"/>
              </a:rPr>
              <a:t>MECHANISM</a:t>
            </a:r>
            <a:endParaRPr lang="en-US" sz="900" dirty="0"/>
          </a:p>
        </p:txBody>
      </p:sp>
      <p:sp>
        <p:nvSpPr>
          <p:cNvPr id="31" name="Text 25"/>
          <p:cNvSpPr txBox="1"/>
          <p:nvPr/>
        </p:nvSpPr>
        <p:spPr>
          <a:xfrm>
            <a:off x="4809744" y="242316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Blend on a dilate − erode ring</a:t>
            </a:r>
            <a:endParaRPr lang="en-US" sz="1250" dirty="0"/>
          </a:p>
        </p:txBody>
      </p:sp>
      <p:sp>
        <p:nvSpPr>
          <p:cNvPr id="32" name="Text 26"/>
          <p:cNvSpPr txBox="1"/>
          <p:nvPr/>
        </p:nvSpPr>
        <p:spPr>
          <a:xfrm>
            <a:off x="4809744" y="2971800"/>
            <a:ext cx="1645920" cy="182880"/>
          </a:xfrm>
          <a:prstGeom prst="rect">
            <a:avLst/>
          </a:prstGeom>
          <a:noFill/>
          <a:ln/>
        </p:spPr>
        <p:txBody>
          <a:bodyPr wrap="square" lIns="0" tIns="0" rIns="0" bIns="0" rtlCol="0" anchor="t"/>
          <a:lstStyle/>
          <a:p>
            <a:pPr indent="0" marL="0">
              <a:buNone/>
            </a:pPr>
            <a:r>
              <a:rPr lang="en-US" sz="900" b="1" spc="200" kern="0" dirty="0">
                <a:solidFill>
                  <a:srgbClr val="F59E0B"/>
                </a:solidFill>
                <a:latin typeface="Calibri" pitchFamily="34" charset="0"/>
                <a:ea typeface="Calibri" pitchFamily="34" charset="-122"/>
                <a:cs typeface="Calibri" pitchFamily="34" charset="-120"/>
              </a:rPr>
              <a:t>TRAINING LOSS</a:t>
            </a:r>
            <a:endParaRPr lang="en-US" sz="900" dirty="0"/>
          </a:p>
        </p:txBody>
      </p:sp>
      <p:sp>
        <p:nvSpPr>
          <p:cNvPr id="33" name="Text 27"/>
          <p:cNvSpPr txBox="1"/>
          <p:nvPr/>
        </p:nvSpPr>
        <p:spPr>
          <a:xfrm>
            <a:off x="4809744" y="315468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Sobel gradient L1, ring weight 2.0</a:t>
            </a:r>
            <a:endParaRPr lang="en-US" sz="1250" dirty="0"/>
          </a:p>
        </p:txBody>
      </p:sp>
      <p:sp>
        <p:nvSpPr>
          <p:cNvPr id="34" name="Text 28"/>
          <p:cNvSpPr txBox="1"/>
          <p:nvPr/>
        </p:nvSpPr>
        <p:spPr>
          <a:xfrm>
            <a:off x="4809744" y="3721608"/>
            <a:ext cx="1600200" cy="228600"/>
          </a:xfrm>
          <a:prstGeom prst="rect">
            <a:avLst/>
          </a:prstGeom>
          <a:noFill/>
          <a:ln/>
        </p:spPr>
        <p:txBody>
          <a:bodyPr wrap="square" lIns="0" tIns="0" rIns="0" bIns="0" rtlCol="0" anchor="t"/>
          <a:lstStyle/>
          <a:p>
            <a:pPr indent="0" marL="0">
              <a:buNone/>
            </a:pPr>
            <a:r>
              <a:rPr lang="en-US" sz="1100" b="1" dirty="0">
                <a:solidFill>
                  <a:srgbClr val="5B6285"/>
                </a:solidFill>
                <a:latin typeface="Calibri" pitchFamily="34" charset="0"/>
                <a:ea typeface="Calibri" pitchFamily="34" charset="-122"/>
                <a:cs typeface="Calibri" pitchFamily="34" charset="-120"/>
              </a:rPr>
              <a:t>cost 0.15</a:t>
            </a:r>
            <a:endParaRPr lang="en-US" sz="1100" dirty="0"/>
          </a:p>
        </p:txBody>
      </p:sp>
      <p:sp>
        <p:nvSpPr>
          <p:cNvPr id="35" name="Shape 29"/>
          <p:cNvSpPr/>
          <p:nvPr/>
        </p:nvSpPr>
        <p:spPr>
          <a:xfrm>
            <a:off x="6711696" y="1325880"/>
            <a:ext cx="1938528" cy="2697480"/>
          </a:xfrm>
          <a:prstGeom prst="roundRect">
            <a:avLst>
              <a:gd name="adj" fmla="val 566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6" name="Shape 30"/>
          <p:cNvSpPr/>
          <p:nvPr/>
        </p:nvSpPr>
        <p:spPr>
          <a:xfrm>
            <a:off x="6821424" y="1435608"/>
            <a:ext cx="1719072" cy="685800"/>
          </a:xfrm>
          <a:prstGeom prst="roundRect">
            <a:avLst>
              <a:gd name="adj" fmla="val 13333"/>
            </a:avLst>
          </a:prstGeom>
          <a:solidFill>
            <a:srgbClr val="EC4899"/>
          </a:solidFill>
          <a:ln w="12700">
            <a:solidFill>
              <a:srgbClr val="EC4899"/>
            </a:solidFill>
            <a:prstDash val="solid"/>
          </a:ln>
        </p:spPr>
      </p:sp>
      <p:sp>
        <p:nvSpPr>
          <p:cNvPr id="37" name="Shape 31"/>
          <p:cNvSpPr/>
          <p:nvPr/>
        </p:nvSpPr>
        <p:spPr>
          <a:xfrm>
            <a:off x="6940296" y="1545336"/>
            <a:ext cx="457200" cy="457200"/>
          </a:xfrm>
          <a:prstGeom prst="ellipse">
            <a:avLst/>
          </a:prstGeom>
          <a:solidFill>
            <a:srgbClr val="FFFFFF"/>
          </a:solidFill>
          <a:ln w="12700">
            <a:solidFill>
              <a:srgbClr val="FFFFFF"/>
            </a:solidFill>
            <a:prstDash val="solid"/>
          </a:ln>
        </p:spPr>
      </p:sp>
      <p:pic>
        <p:nvPicPr>
          <p:cNvPr id="38" name="Image 3" descr="preencoded.png">    </p:cNvPr>
          <p:cNvPicPr>
            <a:picLocks noChangeAspect="1"/>
          </p:cNvPicPr>
          <p:nvPr/>
        </p:nvPicPr>
        <p:blipFill>
          <a:blip r:embed="rId4"/>
          <a:stretch>
            <a:fillRect/>
          </a:stretch>
        </p:blipFill>
        <p:spPr>
          <a:xfrm>
            <a:off x="7054596" y="1659636"/>
            <a:ext cx="228600" cy="228600"/>
          </a:xfrm>
          <a:prstGeom prst="rect">
            <a:avLst/>
          </a:prstGeom>
        </p:spPr>
      </p:pic>
      <p:sp>
        <p:nvSpPr>
          <p:cNvPr id="39" name="Text 32"/>
          <p:cNvSpPr txBox="1"/>
          <p:nvPr/>
        </p:nvSpPr>
        <p:spPr>
          <a:xfrm>
            <a:off x="7488936" y="1435608"/>
            <a:ext cx="1051560" cy="6858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Texture</a:t>
            </a:r>
            <a:endParaRPr lang="en-US" sz="1500" dirty="0"/>
          </a:p>
        </p:txBody>
      </p:sp>
      <p:sp>
        <p:nvSpPr>
          <p:cNvPr id="40" name="Text 33"/>
          <p:cNvSpPr txBox="1"/>
          <p:nvPr/>
        </p:nvSpPr>
        <p:spPr>
          <a:xfrm>
            <a:off x="6894576" y="2240280"/>
            <a:ext cx="1645920" cy="182880"/>
          </a:xfrm>
          <a:prstGeom prst="rect">
            <a:avLst/>
          </a:prstGeom>
          <a:noFill/>
          <a:ln/>
        </p:spPr>
        <p:txBody>
          <a:bodyPr wrap="square" lIns="0" tIns="0" rIns="0" bIns="0" rtlCol="0" anchor="t"/>
          <a:lstStyle/>
          <a:p>
            <a:pPr indent="0" marL="0">
              <a:buNone/>
            </a:pPr>
            <a:r>
              <a:rPr lang="en-US" sz="900" b="1" spc="200" kern="0" dirty="0">
                <a:solidFill>
                  <a:srgbClr val="EC4899"/>
                </a:solidFill>
                <a:latin typeface="Calibri" pitchFamily="34" charset="0"/>
                <a:ea typeface="Calibri" pitchFamily="34" charset="-122"/>
                <a:cs typeface="Calibri" pitchFamily="34" charset="-120"/>
              </a:rPr>
              <a:t>MECHANISM</a:t>
            </a:r>
            <a:endParaRPr lang="en-US" sz="900" dirty="0"/>
          </a:p>
        </p:txBody>
      </p:sp>
      <p:sp>
        <p:nvSpPr>
          <p:cNvPr id="41" name="Text 34"/>
          <p:cNvSpPr txBox="1"/>
          <p:nvPr/>
        </p:nvSpPr>
        <p:spPr>
          <a:xfrm>
            <a:off x="6894576" y="242316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Laplacian high-pass + HF branch</a:t>
            </a:r>
            <a:endParaRPr lang="en-US" sz="1250" dirty="0"/>
          </a:p>
        </p:txBody>
      </p:sp>
      <p:sp>
        <p:nvSpPr>
          <p:cNvPr id="42" name="Text 35"/>
          <p:cNvSpPr txBox="1"/>
          <p:nvPr/>
        </p:nvSpPr>
        <p:spPr>
          <a:xfrm>
            <a:off x="6894576" y="2971800"/>
            <a:ext cx="1645920" cy="182880"/>
          </a:xfrm>
          <a:prstGeom prst="rect">
            <a:avLst/>
          </a:prstGeom>
          <a:noFill/>
          <a:ln/>
        </p:spPr>
        <p:txBody>
          <a:bodyPr wrap="square" lIns="0" tIns="0" rIns="0" bIns="0" rtlCol="0" anchor="t"/>
          <a:lstStyle/>
          <a:p>
            <a:pPr indent="0" marL="0">
              <a:buNone/>
            </a:pPr>
            <a:r>
              <a:rPr lang="en-US" sz="900" b="1" spc="200" kern="0" dirty="0">
                <a:solidFill>
                  <a:srgbClr val="EC4899"/>
                </a:solidFill>
                <a:latin typeface="Calibri" pitchFamily="34" charset="0"/>
                <a:ea typeface="Calibri" pitchFamily="34" charset="-122"/>
                <a:cs typeface="Calibri" pitchFamily="34" charset="-120"/>
              </a:rPr>
              <a:t>TRAINING LOSS</a:t>
            </a:r>
            <a:endParaRPr lang="en-US" sz="900" dirty="0"/>
          </a:p>
        </p:txBody>
      </p:sp>
      <p:sp>
        <p:nvSpPr>
          <p:cNvPr id="43" name="Text 36"/>
          <p:cNvSpPr txBox="1"/>
          <p:nvPr/>
        </p:nvSpPr>
        <p:spPr>
          <a:xfrm>
            <a:off x="6894576" y="3154680"/>
            <a:ext cx="1600200" cy="502920"/>
          </a:xfrm>
          <a:prstGeom prst="rect">
            <a:avLst/>
          </a:prstGeom>
          <a:noFill/>
          <a:ln/>
        </p:spPr>
        <p:txBody>
          <a:bodyPr wrap="square" lIns="0" tIns="0" rIns="0" bIns="0" rtlCol="0" anchor="t"/>
          <a:lstStyle/>
          <a:p>
            <a:pPr indent="0" marL="0">
              <a:buNone/>
            </a:pPr>
            <a:r>
              <a:rPr lang="en-US" sz="1250" dirty="0">
                <a:solidFill>
                  <a:srgbClr val="1B2140"/>
                </a:solidFill>
                <a:latin typeface="Calibri" pitchFamily="34" charset="0"/>
                <a:ea typeface="Calibri" pitchFamily="34" charset="-122"/>
                <a:cs typeface="Calibri" pitchFamily="34" charset="-120"/>
              </a:rPr>
              <a:t>FFT magnitude + VGG perceptual</a:t>
            </a:r>
            <a:endParaRPr lang="en-US" sz="1250" dirty="0"/>
          </a:p>
        </p:txBody>
      </p:sp>
      <p:sp>
        <p:nvSpPr>
          <p:cNvPr id="44" name="Text 37"/>
          <p:cNvSpPr txBox="1"/>
          <p:nvPr/>
        </p:nvSpPr>
        <p:spPr>
          <a:xfrm>
            <a:off x="6894576" y="3721608"/>
            <a:ext cx="1600200" cy="228600"/>
          </a:xfrm>
          <a:prstGeom prst="rect">
            <a:avLst/>
          </a:prstGeom>
          <a:noFill/>
          <a:ln/>
        </p:spPr>
        <p:txBody>
          <a:bodyPr wrap="square" lIns="0" tIns="0" rIns="0" bIns="0" rtlCol="0" anchor="t"/>
          <a:lstStyle/>
          <a:p>
            <a:pPr indent="0" marL="0">
              <a:buNone/>
            </a:pPr>
            <a:r>
              <a:rPr lang="en-US" sz="1100" b="1" dirty="0">
                <a:solidFill>
                  <a:srgbClr val="5B6285"/>
                </a:solidFill>
                <a:latin typeface="Calibri" pitchFamily="34" charset="0"/>
                <a:ea typeface="Calibri" pitchFamily="34" charset="-122"/>
                <a:cs typeface="Calibri" pitchFamily="34" charset="-120"/>
              </a:rPr>
              <a:t>cost 0.20</a:t>
            </a:r>
            <a:endParaRPr lang="en-US" sz="1100" dirty="0"/>
          </a:p>
        </p:txBody>
      </p:sp>
      <p:sp>
        <p:nvSpPr>
          <p:cNvPr id="45" name="Shape 38"/>
          <p:cNvSpPr/>
          <p:nvPr/>
        </p:nvSpPr>
        <p:spPr>
          <a:xfrm>
            <a:off x="457200" y="4160520"/>
            <a:ext cx="8229600" cy="457200"/>
          </a:xfrm>
          <a:prstGeom prst="roundRect">
            <a:avLst>
              <a:gd name="adj" fmla="val 20000"/>
            </a:avLst>
          </a:prstGeom>
          <a:solidFill>
            <a:srgbClr val="0B1026"/>
          </a:solidFill>
          <a:ln w="12700">
            <a:solidFill>
              <a:srgbClr val="0B1026"/>
            </a:solidFill>
            <a:prstDash val="solid"/>
          </a:ln>
        </p:spPr>
      </p:sp>
      <p:sp>
        <p:nvSpPr>
          <p:cNvPr id="46" name="Text 39"/>
          <p:cNvSpPr txBox="1"/>
          <p:nvPr/>
        </p:nvSpPr>
        <p:spPr>
          <a:xfrm>
            <a:off x="457200" y="4160520"/>
            <a:ext cx="8229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 = tanh( x + 0.5·tanh(Δ) )</a:t>
            </a:r>
            <a:pPr algn="ctr" indent="0" marL="0">
              <a:buNone/>
            </a:pPr>
            <a:r>
              <a:rPr lang="en-US" sz="1400" dirty="0">
                <a:solidFill>
                  <a:srgbClr val="C9D1F5"/>
                </a:solidFill>
                <a:latin typeface="Calibri" pitchFamily="34" charset="0"/>
                <a:ea typeface="Calibri" pitchFamily="34" charset="-122"/>
                <a:cs typeface="Calibri" pitchFamily="34" charset="-120"/>
              </a:rPr>
              <a:t>    FiLM-conditioned by a 64-D strategy embedding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REINFORCEMENT LEARNING</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A one-step contextual bandit</a:t>
            </a:r>
            <a:endParaRPr lang="en-US" sz="3000" dirty="0"/>
          </a:p>
        </p:txBody>
      </p:sp>
      <p:sp>
        <p:nvSpPr>
          <p:cNvPr id="5" name="Shape 2"/>
          <p:cNvSpPr/>
          <p:nvPr/>
        </p:nvSpPr>
        <p:spPr>
          <a:xfrm>
            <a:off x="457200" y="1463040"/>
            <a:ext cx="2103120" cy="1097280"/>
          </a:xfrm>
          <a:prstGeom prst="roundRect">
            <a:avLst>
              <a:gd name="adj" fmla="val 8333"/>
            </a:avLst>
          </a:prstGeom>
          <a:solidFill>
            <a:srgbClr val="FFF0D6"/>
          </a:solidFill>
          <a:ln w="19050">
            <a:solidFill>
              <a:srgbClr val="F59E0B"/>
            </a:solidFill>
            <a:prstDash val="solid"/>
          </a:ln>
        </p:spPr>
      </p:sp>
      <p:sp>
        <p:nvSpPr>
          <p:cNvPr id="6" name="Text 3"/>
          <p:cNvSpPr txBox="1"/>
          <p:nvPr/>
        </p:nvSpPr>
        <p:spPr>
          <a:xfrm>
            <a:off x="530352" y="1463040"/>
            <a:ext cx="1956816" cy="1097280"/>
          </a:xfrm>
          <a:prstGeom prst="rect">
            <a:avLst/>
          </a:prstGeom>
          <a:noFill/>
          <a:ln/>
        </p:spPr>
        <p:txBody>
          <a:bodyPr wrap="square" lIns="0" tIns="0" rIns="0" bIns="0" rtlCol="0" anchor="ctr"/>
          <a:lstStyle/>
          <a:p>
            <a:pPr algn="ctr" indent="0" marL="0">
              <a:buNone/>
            </a:pPr>
            <a:r>
              <a:rPr lang="en-US" sz="1800" b="1" dirty="0">
                <a:solidFill>
                  <a:srgbClr val="1B2140"/>
                </a:solidFill>
                <a:latin typeface="Calibri" pitchFamily="34" charset="0"/>
                <a:ea typeface="Calibri" pitchFamily="34" charset="-122"/>
                <a:cs typeface="Calibri" pitchFamily="34" charset="-120"/>
              </a:rPr>
              <a:t>PPO agent</a:t>
            </a:r>
            <a:endParaRPr lang="en-US" sz="1300" dirty="0"/>
          </a:p>
          <a:p>
            <a:pPr algn="ctr" indent="0" marL="0">
              <a:buNone/>
            </a:pPr>
            <a:r>
              <a:rPr lang="en-US" sz="1200" dirty="0">
                <a:solidFill>
                  <a:srgbClr val="5B6285"/>
                </a:solidFill>
                <a:latin typeface="Calibri" pitchFamily="34" charset="0"/>
                <a:ea typeface="Calibri" pitchFamily="34" charset="-122"/>
                <a:cs typeface="Calibri" pitchFamily="34" charset="-120"/>
              </a:rPr>
              <a:t>MlpPolicy</a:t>
            </a:r>
            <a:endParaRPr lang="en-US" sz="1300" dirty="0"/>
          </a:p>
        </p:txBody>
      </p:sp>
      <p:sp>
        <p:nvSpPr>
          <p:cNvPr id="7" name="Shape 4"/>
          <p:cNvSpPr/>
          <p:nvPr/>
        </p:nvSpPr>
        <p:spPr>
          <a:xfrm>
            <a:off x="3931920" y="1463040"/>
            <a:ext cx="2377440" cy="1097280"/>
          </a:xfrm>
          <a:prstGeom prst="roundRect">
            <a:avLst>
              <a:gd name="adj" fmla="val 8333"/>
            </a:avLst>
          </a:prstGeom>
          <a:solidFill>
            <a:srgbClr val="E4E8FB"/>
          </a:solidFill>
          <a:ln w="19050">
            <a:solidFill>
              <a:srgbClr val="9AA6E8"/>
            </a:solidFill>
            <a:prstDash val="solid"/>
          </a:ln>
        </p:spPr>
      </p:sp>
      <p:sp>
        <p:nvSpPr>
          <p:cNvPr id="8" name="Text 5"/>
          <p:cNvSpPr txBox="1"/>
          <p:nvPr/>
        </p:nvSpPr>
        <p:spPr>
          <a:xfrm>
            <a:off x="4005072" y="1463040"/>
            <a:ext cx="2231136" cy="1097280"/>
          </a:xfrm>
          <a:prstGeom prst="rect">
            <a:avLst/>
          </a:prstGeom>
          <a:noFill/>
          <a:ln/>
        </p:spPr>
        <p:txBody>
          <a:bodyPr wrap="square" lIns="0" tIns="0" rIns="0" bIns="0" rtlCol="0" anchor="ctr"/>
          <a:lstStyle/>
          <a:p>
            <a:pPr algn="ctr" indent="0" marL="0">
              <a:buNone/>
            </a:pPr>
            <a:r>
              <a:rPr lang="en-US" sz="1800" b="1" dirty="0">
                <a:solidFill>
                  <a:srgbClr val="1B2140"/>
                </a:solidFill>
                <a:latin typeface="Calibri" pitchFamily="34" charset="0"/>
                <a:ea typeface="Calibri" pitchFamily="34" charset="-122"/>
                <a:cs typeface="Calibri" pitchFamily="34" charset="-120"/>
              </a:rPr>
              <a:t>Inpainting env</a:t>
            </a:r>
            <a:endParaRPr lang="en-US" sz="1300" dirty="0"/>
          </a:p>
          <a:p>
            <a:pPr algn="ctr" indent="0" marL="0">
              <a:buNone/>
            </a:pPr>
            <a:r>
              <a:rPr lang="en-US" sz="1200" dirty="0">
                <a:solidFill>
                  <a:srgbClr val="5B6285"/>
                </a:solidFill>
                <a:latin typeface="Calibri" pitchFamily="34" charset="0"/>
                <a:ea typeface="Calibri" pitchFamily="34" charset="-122"/>
                <a:cs typeface="Calibri" pitchFamily="34" charset="-120"/>
              </a:rPr>
              <a:t>Gymnasium, frozen model</a:t>
            </a:r>
            <a:endParaRPr lang="en-US" sz="1300" dirty="0"/>
          </a:p>
        </p:txBody>
      </p:sp>
      <p:sp>
        <p:nvSpPr>
          <p:cNvPr id="9" name="Shape 6"/>
          <p:cNvSpPr/>
          <p:nvPr/>
        </p:nvSpPr>
        <p:spPr>
          <a:xfrm>
            <a:off x="2560320" y="1783080"/>
            <a:ext cx="1371600" cy="0"/>
          </a:xfrm>
          <a:prstGeom prst="line">
            <a:avLst/>
          </a:prstGeom>
          <a:noFill/>
          <a:ln w="31750">
            <a:solidFill>
              <a:srgbClr val="F59E0B"/>
            </a:solidFill>
            <a:prstDash val="solid"/>
            <a:tailEnd type="triangle"/>
          </a:ln>
        </p:spPr>
      </p:sp>
      <p:sp>
        <p:nvSpPr>
          <p:cNvPr id="10" name="Text 7"/>
          <p:cNvSpPr txBox="1"/>
          <p:nvPr/>
        </p:nvSpPr>
        <p:spPr>
          <a:xfrm>
            <a:off x="2560320" y="1481328"/>
            <a:ext cx="1371600" cy="256032"/>
          </a:xfrm>
          <a:prstGeom prst="rect">
            <a:avLst/>
          </a:prstGeom>
          <a:noFill/>
          <a:ln/>
        </p:spPr>
        <p:txBody>
          <a:bodyPr wrap="square" lIns="0" tIns="0" rIns="0" bIns="0" rtlCol="0" anchor="t"/>
          <a:lstStyle/>
          <a:p>
            <a:pPr algn="ctr" indent="0" marL="0">
              <a:buNone/>
            </a:pPr>
            <a:r>
              <a:rPr lang="en-US" sz="1300" b="1" dirty="0">
                <a:solidFill>
                  <a:srgbClr val="B45309"/>
                </a:solidFill>
                <a:latin typeface="Calibri" pitchFamily="34" charset="0"/>
                <a:ea typeface="Calibri" pitchFamily="34" charset="-122"/>
                <a:cs typeface="Calibri" pitchFamily="34" charset="-120"/>
              </a:rPr>
              <a:t>action a</a:t>
            </a:r>
            <a:endParaRPr lang="en-US" sz="1300" dirty="0"/>
          </a:p>
        </p:txBody>
      </p:sp>
      <p:sp>
        <p:nvSpPr>
          <p:cNvPr id="11" name="Shape 8"/>
          <p:cNvSpPr/>
          <p:nvPr/>
        </p:nvSpPr>
        <p:spPr>
          <a:xfrm flipH="1">
            <a:off x="2560320" y="2240280"/>
            <a:ext cx="1371600" cy="0"/>
          </a:xfrm>
          <a:prstGeom prst="line">
            <a:avLst/>
          </a:prstGeom>
          <a:noFill/>
          <a:ln w="31750">
            <a:solidFill>
              <a:srgbClr val="6D5DFC"/>
            </a:solidFill>
            <a:prstDash val="solid"/>
            <a:tailEnd type="triangle"/>
          </a:ln>
        </p:spPr>
      </p:sp>
      <p:sp>
        <p:nvSpPr>
          <p:cNvPr id="12" name="Text 9"/>
          <p:cNvSpPr txBox="1"/>
          <p:nvPr/>
        </p:nvSpPr>
        <p:spPr>
          <a:xfrm>
            <a:off x="2468880" y="2286000"/>
            <a:ext cx="1554480" cy="256032"/>
          </a:xfrm>
          <a:prstGeom prst="rect">
            <a:avLst/>
          </a:prstGeom>
          <a:noFill/>
          <a:ln/>
        </p:spPr>
        <p:txBody>
          <a:bodyPr wrap="square" lIns="0" tIns="0" rIns="0" bIns="0" rtlCol="0" anchor="t"/>
          <a:lstStyle/>
          <a:p>
            <a:pPr algn="ctr" indent="0" marL="0">
              <a:buNone/>
            </a:pPr>
            <a:r>
              <a:rPr lang="en-US" sz="1300" b="1" dirty="0">
                <a:solidFill>
                  <a:srgbClr val="6D5DFC"/>
                </a:solidFill>
                <a:latin typeface="Calibri" pitchFamily="34" charset="0"/>
                <a:ea typeface="Calibri" pitchFamily="34" charset="-122"/>
                <a:cs typeface="Calibri" pitchFamily="34" charset="-120"/>
              </a:rPr>
              <a:t>state s, reward r</a:t>
            </a:r>
            <a:endParaRPr lang="en-US" sz="1300" dirty="0"/>
          </a:p>
        </p:txBody>
      </p:sp>
      <p:sp>
        <p:nvSpPr>
          <p:cNvPr id="13" name="Text 10"/>
          <p:cNvSpPr txBox="1"/>
          <p:nvPr/>
        </p:nvSpPr>
        <p:spPr>
          <a:xfrm>
            <a:off x="6675120" y="1463040"/>
            <a:ext cx="1005840" cy="365760"/>
          </a:xfrm>
          <a:prstGeom prst="rect">
            <a:avLst/>
          </a:prstGeom>
          <a:noFill/>
          <a:ln/>
        </p:spPr>
        <p:txBody>
          <a:bodyPr wrap="square" lIns="0" tIns="0" rIns="0" bIns="0" rtlCol="0" anchor="ctr"/>
          <a:lstStyle/>
          <a:p>
            <a:pPr indent="0" marL="0">
              <a:buNone/>
            </a:pPr>
            <a:r>
              <a:rPr lang="en-US" sz="1500" b="1" dirty="0">
                <a:solidFill>
                  <a:srgbClr val="6D5DFC"/>
                </a:solidFill>
                <a:latin typeface="Calibri" pitchFamily="34" charset="0"/>
                <a:ea typeface="Calibri" pitchFamily="34" charset="-122"/>
                <a:cs typeface="Calibri" pitchFamily="34" charset="-120"/>
              </a:rPr>
              <a:t>γ = 0</a:t>
            </a:r>
            <a:endParaRPr lang="en-US" sz="1500" dirty="0"/>
          </a:p>
        </p:txBody>
      </p:sp>
      <p:sp>
        <p:nvSpPr>
          <p:cNvPr id="14" name="Text 11"/>
          <p:cNvSpPr txBox="1"/>
          <p:nvPr/>
        </p:nvSpPr>
        <p:spPr>
          <a:xfrm>
            <a:off x="7680960" y="1463040"/>
            <a:ext cx="1005840" cy="365760"/>
          </a:xfrm>
          <a:prstGeom prst="rect">
            <a:avLst/>
          </a:prstGeom>
          <a:noFill/>
          <a:ln/>
        </p:spPr>
        <p:txBody>
          <a:bodyPr wrap="square" lIns="0" tIns="0" rIns="0" bIns="0" rtlCol="0" anchor="ctr"/>
          <a:lstStyle/>
          <a:p>
            <a:pPr indent="0" marL="0">
              <a:buNone/>
            </a:pPr>
            <a:r>
              <a:rPr lang="en-US" sz="1200" dirty="0">
                <a:solidFill>
                  <a:srgbClr val="5B6285"/>
                </a:solidFill>
                <a:latin typeface="Calibri" pitchFamily="34" charset="0"/>
                <a:ea typeface="Calibri" pitchFamily="34" charset="-122"/>
                <a:cs typeface="Calibri" pitchFamily="34" charset="-120"/>
              </a:rPr>
              <a:t>pure bandit</a:t>
            </a:r>
            <a:endParaRPr lang="en-US" sz="1200" dirty="0"/>
          </a:p>
        </p:txBody>
      </p:sp>
      <p:sp>
        <p:nvSpPr>
          <p:cNvPr id="15" name="Text 12"/>
          <p:cNvSpPr txBox="1"/>
          <p:nvPr/>
        </p:nvSpPr>
        <p:spPr>
          <a:xfrm>
            <a:off x="6675120" y="1920240"/>
            <a:ext cx="1005840" cy="365760"/>
          </a:xfrm>
          <a:prstGeom prst="rect">
            <a:avLst/>
          </a:prstGeom>
          <a:noFill/>
          <a:ln/>
        </p:spPr>
        <p:txBody>
          <a:bodyPr wrap="square" lIns="0" tIns="0" rIns="0" bIns="0" rtlCol="0" anchor="ctr"/>
          <a:lstStyle/>
          <a:p>
            <a:pPr indent="0" marL="0">
              <a:buNone/>
            </a:pPr>
            <a:r>
              <a:rPr lang="en-US" sz="1500" b="1" dirty="0">
                <a:solidFill>
                  <a:srgbClr val="0EA5E9"/>
                </a:solidFill>
                <a:latin typeface="Calibri" pitchFamily="34" charset="0"/>
                <a:ea typeface="Calibri" pitchFamily="34" charset="-122"/>
                <a:cs typeface="Calibri" pitchFamily="34" charset="-120"/>
              </a:rPr>
              <a:t>1 step</a:t>
            </a:r>
            <a:endParaRPr lang="en-US" sz="1500" dirty="0"/>
          </a:p>
        </p:txBody>
      </p:sp>
      <p:sp>
        <p:nvSpPr>
          <p:cNvPr id="16" name="Text 13"/>
          <p:cNvSpPr txBox="1"/>
          <p:nvPr/>
        </p:nvSpPr>
        <p:spPr>
          <a:xfrm>
            <a:off x="7680960" y="1920240"/>
            <a:ext cx="1005840" cy="365760"/>
          </a:xfrm>
          <a:prstGeom prst="rect">
            <a:avLst/>
          </a:prstGeom>
          <a:noFill/>
          <a:ln/>
        </p:spPr>
        <p:txBody>
          <a:bodyPr wrap="square" lIns="0" tIns="0" rIns="0" bIns="0" rtlCol="0" anchor="ctr"/>
          <a:lstStyle/>
          <a:p>
            <a:pPr indent="0" marL="0">
              <a:buNone/>
            </a:pPr>
            <a:r>
              <a:rPr lang="en-US" sz="1200" dirty="0">
                <a:solidFill>
                  <a:srgbClr val="5B6285"/>
                </a:solidFill>
                <a:latin typeface="Calibri" pitchFamily="34" charset="0"/>
                <a:ea typeface="Calibri" pitchFamily="34" charset="-122"/>
                <a:cs typeface="Calibri" pitchFamily="34" charset="-120"/>
              </a:rPr>
              <a:t>per episode</a:t>
            </a:r>
            <a:endParaRPr lang="en-US" sz="1200" dirty="0"/>
          </a:p>
        </p:txBody>
      </p:sp>
      <p:sp>
        <p:nvSpPr>
          <p:cNvPr id="17" name="Text 14"/>
          <p:cNvSpPr txBox="1"/>
          <p:nvPr/>
        </p:nvSpPr>
        <p:spPr>
          <a:xfrm>
            <a:off x="6675120" y="2377440"/>
            <a:ext cx="1005840" cy="36576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Discrete(4)</a:t>
            </a:r>
            <a:endParaRPr lang="en-US" sz="1500" dirty="0"/>
          </a:p>
        </p:txBody>
      </p:sp>
      <p:sp>
        <p:nvSpPr>
          <p:cNvPr id="18" name="Text 15"/>
          <p:cNvSpPr txBox="1"/>
          <p:nvPr/>
        </p:nvSpPr>
        <p:spPr>
          <a:xfrm>
            <a:off x="7680960" y="2377440"/>
            <a:ext cx="1005840" cy="365760"/>
          </a:xfrm>
          <a:prstGeom prst="rect">
            <a:avLst/>
          </a:prstGeom>
          <a:noFill/>
          <a:ln/>
        </p:spPr>
        <p:txBody>
          <a:bodyPr wrap="square" lIns="0" tIns="0" rIns="0" bIns="0" rtlCol="0" anchor="ctr"/>
          <a:lstStyle/>
          <a:p>
            <a:pPr indent="0" marL="0">
              <a:buNone/>
            </a:pPr>
            <a:r>
              <a:rPr lang="en-US" sz="1200" dirty="0">
                <a:solidFill>
                  <a:srgbClr val="5B6285"/>
                </a:solidFill>
                <a:latin typeface="Calibri" pitchFamily="34" charset="0"/>
                <a:ea typeface="Calibri" pitchFamily="34" charset="-122"/>
                <a:cs typeface="Calibri" pitchFamily="34" charset="-120"/>
              </a:rPr>
              <a:t>action space</a:t>
            </a:r>
            <a:endParaRPr lang="en-US" sz="1200" dirty="0"/>
          </a:p>
        </p:txBody>
      </p:sp>
      <p:sp>
        <p:nvSpPr>
          <p:cNvPr id="19" name="Shape 16"/>
          <p:cNvSpPr/>
          <p:nvPr/>
        </p:nvSpPr>
        <p:spPr>
          <a:xfrm>
            <a:off x="457200" y="2926080"/>
            <a:ext cx="26060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0" name="Shape 17"/>
          <p:cNvSpPr/>
          <p:nvPr/>
        </p:nvSpPr>
        <p:spPr>
          <a:xfrm>
            <a:off x="640080" y="3081528"/>
            <a:ext cx="457200" cy="457200"/>
          </a:xfrm>
          <a:prstGeom prst="ellipse">
            <a:avLst/>
          </a:prstGeom>
          <a:solidFill>
            <a:srgbClr val="6D5DFC"/>
          </a:solidFill>
          <a:ln w="12700">
            <a:solidFill>
              <a:srgbClr val="6D5DFC"/>
            </a:solidFill>
            <a:prstDash val="solid"/>
          </a:ln>
        </p:spPr>
      </p:sp>
      <p:pic>
        <p:nvPicPr>
          <p:cNvPr id="21" name="Image 0" descr="preencoded.png">    </p:cNvPr>
          <p:cNvPicPr>
            <a:picLocks noChangeAspect="1"/>
          </p:cNvPicPr>
          <p:nvPr/>
        </p:nvPicPr>
        <p:blipFill>
          <a:blip r:embed="rId1"/>
          <a:stretch>
            <a:fillRect/>
          </a:stretch>
        </p:blipFill>
        <p:spPr>
          <a:xfrm>
            <a:off x="754380" y="3195828"/>
            <a:ext cx="228600" cy="228600"/>
          </a:xfrm>
          <a:prstGeom prst="rect">
            <a:avLst/>
          </a:prstGeom>
        </p:spPr>
      </p:pic>
      <p:sp>
        <p:nvSpPr>
          <p:cNvPr id="22" name="Text 18"/>
          <p:cNvSpPr txBox="1"/>
          <p:nvPr/>
        </p:nvSpPr>
        <p:spPr>
          <a:xfrm>
            <a:off x="1234440" y="3081528"/>
            <a:ext cx="1737360" cy="457200"/>
          </a:xfrm>
          <a:prstGeom prst="rect">
            <a:avLst/>
          </a:prstGeom>
          <a:noFill/>
          <a:ln/>
        </p:spPr>
        <p:txBody>
          <a:bodyPr wrap="square" lIns="0" tIns="0" rIns="0" bIns="0" rtlCol="0" anchor="ctr"/>
          <a:lstStyle/>
          <a:p>
            <a:pPr indent="0" marL="0">
              <a:buNone/>
            </a:pPr>
            <a:r>
              <a:rPr lang="en-US" sz="1800" b="1" dirty="0">
                <a:solidFill>
                  <a:srgbClr val="1B2140"/>
                </a:solidFill>
                <a:latin typeface="Cambria" pitchFamily="34" charset="0"/>
                <a:ea typeface="Cambria" pitchFamily="34" charset="-122"/>
                <a:cs typeface="Cambria" pitchFamily="34" charset="-120"/>
              </a:rPr>
              <a:t>State</a:t>
            </a:r>
            <a:endParaRPr lang="en-US" sz="1800" dirty="0"/>
          </a:p>
        </p:txBody>
      </p:sp>
      <p:sp>
        <p:nvSpPr>
          <p:cNvPr id="23" name="Text 19"/>
          <p:cNvSpPr txBox="1"/>
          <p:nvPr/>
        </p:nvSpPr>
        <p:spPr>
          <a:xfrm>
            <a:off x="640080" y="3611880"/>
            <a:ext cx="2286000" cy="960120"/>
          </a:xfrm>
          <a:prstGeom prst="rect">
            <a:avLst/>
          </a:prstGeom>
          <a:noFill/>
          <a:ln/>
        </p:spPr>
        <p:txBody>
          <a:bodyPr wrap="square" lIns="0" tIns="0" rIns="0" bIns="0" rtlCol="0" anchor="t"/>
          <a:lstStyle/>
          <a:p>
            <a:pPr indent="0" marL="0">
              <a:buNone/>
            </a:pPr>
            <a:r>
              <a:rPr lang="en-US" sz="1250" dirty="0">
                <a:solidFill>
                  <a:srgbClr val="5B6285"/>
                </a:solidFill>
                <a:latin typeface="Calibri" pitchFamily="34" charset="0"/>
                <a:ea typeface="Calibri" pitchFamily="34" charset="-122"/>
                <a:cs typeface="Calibri" pitchFamily="34" charset="-120"/>
              </a:rPr>
              <a:t>261-D vector from the coarse pass: latent, mask stats and boundary gradient.</a:t>
            </a:r>
            <a:endParaRPr lang="en-US" sz="1250" dirty="0"/>
          </a:p>
        </p:txBody>
      </p:sp>
      <p:sp>
        <p:nvSpPr>
          <p:cNvPr id="24" name="Shape 20"/>
          <p:cNvSpPr/>
          <p:nvPr/>
        </p:nvSpPr>
        <p:spPr>
          <a:xfrm>
            <a:off x="3246120" y="2926080"/>
            <a:ext cx="26060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5" name="Shape 21"/>
          <p:cNvSpPr/>
          <p:nvPr/>
        </p:nvSpPr>
        <p:spPr>
          <a:xfrm>
            <a:off x="3429000" y="3081528"/>
            <a:ext cx="457200" cy="457200"/>
          </a:xfrm>
          <a:prstGeom prst="ellipse">
            <a:avLst/>
          </a:prstGeom>
          <a:solidFill>
            <a:srgbClr val="F59E0B"/>
          </a:solidFill>
          <a:ln w="12700">
            <a:solidFill>
              <a:srgbClr val="F59E0B"/>
            </a:solidFill>
            <a:prstDash val="solid"/>
          </a:ln>
        </p:spPr>
      </p:sp>
      <p:pic>
        <p:nvPicPr>
          <p:cNvPr id="26" name="Image 1" descr="preencoded.png">    </p:cNvPr>
          <p:cNvPicPr>
            <a:picLocks noChangeAspect="1"/>
          </p:cNvPicPr>
          <p:nvPr/>
        </p:nvPicPr>
        <p:blipFill>
          <a:blip r:embed="rId2"/>
          <a:stretch>
            <a:fillRect/>
          </a:stretch>
        </p:blipFill>
        <p:spPr>
          <a:xfrm>
            <a:off x="3543300" y="3195828"/>
            <a:ext cx="228600" cy="228600"/>
          </a:xfrm>
          <a:prstGeom prst="rect">
            <a:avLst/>
          </a:prstGeom>
        </p:spPr>
      </p:pic>
      <p:sp>
        <p:nvSpPr>
          <p:cNvPr id="27" name="Text 22"/>
          <p:cNvSpPr txBox="1"/>
          <p:nvPr/>
        </p:nvSpPr>
        <p:spPr>
          <a:xfrm>
            <a:off x="4023360" y="3081528"/>
            <a:ext cx="1737360" cy="457200"/>
          </a:xfrm>
          <a:prstGeom prst="rect">
            <a:avLst/>
          </a:prstGeom>
          <a:noFill/>
          <a:ln/>
        </p:spPr>
        <p:txBody>
          <a:bodyPr wrap="square" lIns="0" tIns="0" rIns="0" bIns="0" rtlCol="0" anchor="ctr"/>
          <a:lstStyle/>
          <a:p>
            <a:pPr indent="0" marL="0">
              <a:buNone/>
            </a:pPr>
            <a:r>
              <a:rPr lang="en-US" sz="1800" b="1" dirty="0">
                <a:solidFill>
                  <a:srgbClr val="1B2140"/>
                </a:solidFill>
                <a:latin typeface="Cambria" pitchFamily="34" charset="0"/>
                <a:ea typeface="Cambria" pitchFamily="34" charset="-122"/>
                <a:cs typeface="Cambria" pitchFamily="34" charset="-120"/>
              </a:rPr>
              <a:t>Action</a:t>
            </a:r>
            <a:endParaRPr lang="en-US" sz="1800" dirty="0"/>
          </a:p>
        </p:txBody>
      </p:sp>
      <p:sp>
        <p:nvSpPr>
          <p:cNvPr id="28" name="Text 23"/>
          <p:cNvSpPr txBox="1"/>
          <p:nvPr/>
        </p:nvSpPr>
        <p:spPr>
          <a:xfrm>
            <a:off x="3429000" y="3611880"/>
            <a:ext cx="2286000" cy="960120"/>
          </a:xfrm>
          <a:prstGeom prst="rect">
            <a:avLst/>
          </a:prstGeom>
          <a:noFill/>
          <a:ln/>
        </p:spPr>
        <p:txBody>
          <a:bodyPr wrap="square" lIns="0" tIns="0" rIns="0" bIns="0" rtlCol="0" anchor="t"/>
          <a:lstStyle/>
          <a:p>
            <a:pPr indent="0" marL="0">
              <a:buNone/>
            </a:pPr>
            <a:r>
              <a:rPr lang="en-US" sz="1250" dirty="0">
                <a:solidFill>
                  <a:srgbClr val="5B6285"/>
                </a:solidFill>
                <a:latin typeface="Calibri" pitchFamily="34" charset="0"/>
                <a:ea typeface="Calibri" pitchFamily="34" charset="-122"/>
                <a:cs typeface="Calibri" pitchFamily="34" charset="-120"/>
              </a:rPr>
              <a:t>0 Global, 1 Local, 2 Boundary, 3 Texture. Exactly one adapter per image.</a:t>
            </a:r>
            <a:endParaRPr lang="en-US" sz="1250" dirty="0"/>
          </a:p>
        </p:txBody>
      </p:sp>
      <p:sp>
        <p:nvSpPr>
          <p:cNvPr id="29" name="Shape 24"/>
          <p:cNvSpPr/>
          <p:nvPr/>
        </p:nvSpPr>
        <p:spPr>
          <a:xfrm>
            <a:off x="6035040" y="2926080"/>
            <a:ext cx="26060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0" name="Shape 25"/>
          <p:cNvSpPr/>
          <p:nvPr/>
        </p:nvSpPr>
        <p:spPr>
          <a:xfrm>
            <a:off x="6217920" y="3081528"/>
            <a:ext cx="457200" cy="457200"/>
          </a:xfrm>
          <a:prstGeom prst="ellipse">
            <a:avLst/>
          </a:prstGeom>
          <a:solidFill>
            <a:srgbClr val="14B8A6"/>
          </a:solidFill>
          <a:ln w="12700">
            <a:solidFill>
              <a:srgbClr val="14B8A6"/>
            </a:solidFill>
            <a:prstDash val="solid"/>
          </a:ln>
        </p:spPr>
      </p:sp>
      <p:pic>
        <p:nvPicPr>
          <p:cNvPr id="31" name="Image 2" descr="preencoded.png">    </p:cNvPr>
          <p:cNvPicPr>
            <a:picLocks noChangeAspect="1"/>
          </p:cNvPicPr>
          <p:nvPr/>
        </p:nvPicPr>
        <p:blipFill>
          <a:blip r:embed="rId3"/>
          <a:stretch>
            <a:fillRect/>
          </a:stretch>
        </p:blipFill>
        <p:spPr>
          <a:xfrm>
            <a:off x="6332220" y="3195828"/>
            <a:ext cx="228600" cy="228600"/>
          </a:xfrm>
          <a:prstGeom prst="rect">
            <a:avLst/>
          </a:prstGeom>
        </p:spPr>
      </p:pic>
      <p:sp>
        <p:nvSpPr>
          <p:cNvPr id="32" name="Text 26"/>
          <p:cNvSpPr txBox="1"/>
          <p:nvPr/>
        </p:nvSpPr>
        <p:spPr>
          <a:xfrm>
            <a:off x="6812280" y="3081528"/>
            <a:ext cx="1737360" cy="457200"/>
          </a:xfrm>
          <a:prstGeom prst="rect">
            <a:avLst/>
          </a:prstGeom>
          <a:noFill/>
          <a:ln/>
        </p:spPr>
        <p:txBody>
          <a:bodyPr wrap="square" lIns="0" tIns="0" rIns="0" bIns="0" rtlCol="0" anchor="ctr"/>
          <a:lstStyle/>
          <a:p>
            <a:pPr indent="0" marL="0">
              <a:buNone/>
            </a:pPr>
            <a:r>
              <a:rPr lang="en-US" sz="1800" b="1" dirty="0">
                <a:solidFill>
                  <a:srgbClr val="1B2140"/>
                </a:solidFill>
                <a:latin typeface="Cambria" pitchFamily="34" charset="0"/>
                <a:ea typeface="Cambria" pitchFamily="34" charset="-122"/>
                <a:cs typeface="Cambria" pitchFamily="34" charset="-120"/>
              </a:rPr>
              <a:t>Reward</a:t>
            </a:r>
            <a:endParaRPr lang="en-US" sz="1800" dirty="0"/>
          </a:p>
        </p:txBody>
      </p:sp>
      <p:sp>
        <p:nvSpPr>
          <p:cNvPr id="33" name="Text 27"/>
          <p:cNvSpPr txBox="1"/>
          <p:nvPr/>
        </p:nvSpPr>
        <p:spPr>
          <a:xfrm>
            <a:off x="6217920" y="3611880"/>
            <a:ext cx="2286000" cy="960120"/>
          </a:xfrm>
          <a:prstGeom prst="rect">
            <a:avLst/>
          </a:prstGeom>
          <a:noFill/>
          <a:ln/>
        </p:spPr>
        <p:txBody>
          <a:bodyPr wrap="square" lIns="0" tIns="0" rIns="0" bIns="0" rtlCol="0" anchor="t"/>
          <a:lstStyle/>
          <a:p>
            <a:pPr indent="0" marL="0">
              <a:buNone/>
            </a:pPr>
            <a:r>
              <a:rPr lang="en-US" sz="1250" dirty="0">
                <a:solidFill>
                  <a:srgbClr val="5B6285"/>
                </a:solidFill>
                <a:latin typeface="Calibri" pitchFamily="34" charset="0"/>
                <a:ea typeface="Calibri" pitchFamily="34" charset="-122"/>
                <a:cs typeface="Calibri" pitchFamily="34" charset="-120"/>
              </a:rPr>
              <a:t>Measured gain over the coarse composite in PSNR, SSIM, LPIPS and discriminator score, minus action cost.</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REINFORCEMENT LEARNING</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Why a bandit, not a full MDP</a:t>
            </a:r>
            <a:endParaRPr lang="en-US" sz="3000" dirty="0"/>
          </a:p>
        </p:txBody>
      </p:sp>
      <p:sp>
        <p:nvSpPr>
          <p:cNvPr id="5" name="Shape 2"/>
          <p:cNvSpPr/>
          <p:nvPr/>
        </p:nvSpPr>
        <p:spPr>
          <a:xfrm>
            <a:off x="457200" y="1280160"/>
            <a:ext cx="365760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6" name="Text 3"/>
          <p:cNvSpPr txBox="1"/>
          <p:nvPr/>
        </p:nvSpPr>
        <p:spPr>
          <a:xfrm>
            <a:off x="685800" y="1417320"/>
            <a:ext cx="3200400" cy="228600"/>
          </a:xfrm>
          <a:prstGeom prst="rect">
            <a:avLst/>
          </a:prstGeom>
          <a:noFill/>
          <a:ln/>
        </p:spPr>
        <p:txBody>
          <a:bodyPr wrap="square" lIns="0" tIns="0" rIns="0" bIns="0" rtlCol="0" anchor="t"/>
          <a:lstStyle/>
          <a:p>
            <a:pPr indent="0" marL="0">
              <a:buNone/>
            </a:pPr>
            <a:r>
              <a:rPr lang="en-US" sz="1100" b="1" spc="200" kern="0" dirty="0">
                <a:solidFill>
                  <a:srgbClr val="8A93B8"/>
                </a:solidFill>
                <a:latin typeface="Calibri" pitchFamily="34" charset="0"/>
                <a:ea typeface="Calibri" pitchFamily="34" charset="-122"/>
                <a:cs typeface="Calibri" pitchFamily="34" charset="-120"/>
              </a:rPr>
              <a:t>MULTI-STEP MDP</a:t>
            </a:r>
            <a:endParaRPr lang="en-US" sz="1100" dirty="0"/>
          </a:p>
        </p:txBody>
      </p:sp>
      <p:sp>
        <p:nvSpPr>
          <p:cNvPr id="7" name="Shape 4"/>
          <p:cNvSpPr/>
          <p:nvPr/>
        </p:nvSpPr>
        <p:spPr>
          <a:xfrm>
            <a:off x="685800" y="1828800"/>
            <a:ext cx="640080" cy="640080"/>
          </a:xfrm>
          <a:prstGeom prst="ellipse">
            <a:avLst/>
          </a:prstGeom>
          <a:solidFill>
            <a:srgbClr val="E4E8FB"/>
          </a:solidFill>
          <a:ln w="19050">
            <a:solidFill>
              <a:srgbClr val="8A93B8"/>
            </a:solidFill>
            <a:prstDash val="solid"/>
          </a:ln>
        </p:spPr>
      </p:sp>
      <p:sp>
        <p:nvSpPr>
          <p:cNvPr id="8" name="Text 5"/>
          <p:cNvSpPr txBox="1"/>
          <p:nvPr/>
        </p:nvSpPr>
        <p:spPr>
          <a:xfrm>
            <a:off x="685800" y="1828800"/>
            <a:ext cx="640080" cy="640080"/>
          </a:xfrm>
          <a:prstGeom prst="rect">
            <a:avLst/>
          </a:prstGeom>
          <a:noFill/>
          <a:ln/>
        </p:spPr>
        <p:txBody>
          <a:bodyPr wrap="square" lIns="0" tIns="0" rIns="0" bIns="0" rtlCol="0" anchor="ctr"/>
          <a:lstStyle/>
          <a:p>
            <a:pPr algn="ctr" indent="0" marL="0">
              <a:buNone/>
            </a:pPr>
            <a:r>
              <a:rPr lang="en-US" sz="1600" b="1" dirty="0">
                <a:solidFill>
                  <a:srgbClr val="5B6285"/>
                </a:solidFill>
                <a:latin typeface="Calibri" pitchFamily="34" charset="0"/>
                <a:ea typeface="Calibri" pitchFamily="34" charset="-122"/>
                <a:cs typeface="Calibri" pitchFamily="34" charset="-120"/>
              </a:rPr>
              <a:t>s₀</a:t>
            </a:r>
            <a:endParaRPr lang="en-US" sz="1600" dirty="0"/>
          </a:p>
        </p:txBody>
      </p:sp>
      <p:sp>
        <p:nvSpPr>
          <p:cNvPr id="9" name="Shape 6"/>
          <p:cNvSpPr/>
          <p:nvPr/>
        </p:nvSpPr>
        <p:spPr>
          <a:xfrm>
            <a:off x="1325880" y="2148840"/>
            <a:ext cx="457200" cy="0"/>
          </a:xfrm>
          <a:prstGeom prst="line">
            <a:avLst/>
          </a:prstGeom>
          <a:noFill/>
          <a:ln w="19050">
            <a:solidFill>
              <a:srgbClr val="8A93B8"/>
            </a:solidFill>
            <a:prstDash val="solid"/>
            <a:tailEnd type="triangle"/>
          </a:ln>
        </p:spPr>
      </p:sp>
      <p:sp>
        <p:nvSpPr>
          <p:cNvPr id="10" name="Text 7"/>
          <p:cNvSpPr txBox="1"/>
          <p:nvPr/>
        </p:nvSpPr>
        <p:spPr>
          <a:xfrm>
            <a:off x="1325880" y="1810512"/>
            <a:ext cx="457200" cy="274320"/>
          </a:xfrm>
          <a:prstGeom prst="rect">
            <a:avLst/>
          </a:prstGeom>
          <a:noFill/>
          <a:ln/>
        </p:spPr>
        <p:txBody>
          <a:bodyPr wrap="square" lIns="0" tIns="0" rIns="0" bIns="0" rtlCol="0" anchor="t"/>
          <a:lstStyle/>
          <a:p>
            <a:pPr algn="ctr" indent="0" marL="0">
              <a:buNone/>
            </a:pPr>
            <a:r>
              <a:rPr lang="en-US" sz="1100" dirty="0">
                <a:solidFill>
                  <a:srgbClr val="5B6285"/>
                </a:solidFill>
                <a:latin typeface="Calibri" pitchFamily="34" charset="0"/>
                <a:ea typeface="Calibri" pitchFamily="34" charset="-122"/>
                <a:cs typeface="Calibri" pitchFamily="34" charset="-120"/>
              </a:rPr>
              <a:t>a0</a:t>
            </a:r>
            <a:endParaRPr lang="en-US" sz="1100" dirty="0"/>
          </a:p>
        </p:txBody>
      </p:sp>
      <p:sp>
        <p:nvSpPr>
          <p:cNvPr id="11" name="Shape 8"/>
          <p:cNvSpPr/>
          <p:nvPr/>
        </p:nvSpPr>
        <p:spPr>
          <a:xfrm>
            <a:off x="1783080" y="1828800"/>
            <a:ext cx="640080" cy="640080"/>
          </a:xfrm>
          <a:prstGeom prst="ellipse">
            <a:avLst/>
          </a:prstGeom>
          <a:solidFill>
            <a:srgbClr val="E4E8FB"/>
          </a:solidFill>
          <a:ln w="19050">
            <a:solidFill>
              <a:srgbClr val="8A93B8"/>
            </a:solidFill>
            <a:prstDash val="solid"/>
          </a:ln>
        </p:spPr>
      </p:sp>
      <p:sp>
        <p:nvSpPr>
          <p:cNvPr id="12" name="Text 9"/>
          <p:cNvSpPr txBox="1"/>
          <p:nvPr/>
        </p:nvSpPr>
        <p:spPr>
          <a:xfrm>
            <a:off x="1783080" y="1828800"/>
            <a:ext cx="640080" cy="640080"/>
          </a:xfrm>
          <a:prstGeom prst="rect">
            <a:avLst/>
          </a:prstGeom>
          <a:noFill/>
          <a:ln/>
        </p:spPr>
        <p:txBody>
          <a:bodyPr wrap="square" lIns="0" tIns="0" rIns="0" bIns="0" rtlCol="0" anchor="ctr"/>
          <a:lstStyle/>
          <a:p>
            <a:pPr algn="ctr" indent="0" marL="0">
              <a:buNone/>
            </a:pPr>
            <a:r>
              <a:rPr lang="en-US" sz="1600" b="1" dirty="0">
                <a:solidFill>
                  <a:srgbClr val="5B6285"/>
                </a:solidFill>
                <a:latin typeface="Calibri" pitchFamily="34" charset="0"/>
                <a:ea typeface="Calibri" pitchFamily="34" charset="-122"/>
                <a:cs typeface="Calibri" pitchFamily="34" charset="-120"/>
              </a:rPr>
              <a:t>s₁</a:t>
            </a:r>
            <a:endParaRPr lang="en-US" sz="1600" dirty="0"/>
          </a:p>
        </p:txBody>
      </p:sp>
      <p:sp>
        <p:nvSpPr>
          <p:cNvPr id="13" name="Shape 10"/>
          <p:cNvSpPr/>
          <p:nvPr/>
        </p:nvSpPr>
        <p:spPr>
          <a:xfrm>
            <a:off x="2423160" y="2148840"/>
            <a:ext cx="457200" cy="0"/>
          </a:xfrm>
          <a:prstGeom prst="line">
            <a:avLst/>
          </a:prstGeom>
          <a:noFill/>
          <a:ln w="19050">
            <a:solidFill>
              <a:srgbClr val="8A93B8"/>
            </a:solidFill>
            <a:prstDash val="solid"/>
            <a:tailEnd type="triangle"/>
          </a:ln>
        </p:spPr>
      </p:sp>
      <p:sp>
        <p:nvSpPr>
          <p:cNvPr id="14" name="Text 11"/>
          <p:cNvSpPr txBox="1"/>
          <p:nvPr/>
        </p:nvSpPr>
        <p:spPr>
          <a:xfrm>
            <a:off x="2423160" y="1810512"/>
            <a:ext cx="457200" cy="274320"/>
          </a:xfrm>
          <a:prstGeom prst="rect">
            <a:avLst/>
          </a:prstGeom>
          <a:noFill/>
          <a:ln/>
        </p:spPr>
        <p:txBody>
          <a:bodyPr wrap="square" lIns="0" tIns="0" rIns="0" bIns="0" rtlCol="0" anchor="t"/>
          <a:lstStyle/>
          <a:p>
            <a:pPr algn="ctr" indent="0" marL="0">
              <a:buNone/>
            </a:pPr>
            <a:r>
              <a:rPr lang="en-US" sz="1100" dirty="0">
                <a:solidFill>
                  <a:srgbClr val="5B6285"/>
                </a:solidFill>
                <a:latin typeface="Calibri" pitchFamily="34" charset="0"/>
                <a:ea typeface="Calibri" pitchFamily="34" charset="-122"/>
                <a:cs typeface="Calibri" pitchFamily="34" charset="-120"/>
              </a:rPr>
              <a:t>a1</a:t>
            </a:r>
            <a:endParaRPr lang="en-US" sz="1100" dirty="0"/>
          </a:p>
        </p:txBody>
      </p:sp>
      <p:sp>
        <p:nvSpPr>
          <p:cNvPr id="15" name="Shape 12"/>
          <p:cNvSpPr/>
          <p:nvPr/>
        </p:nvSpPr>
        <p:spPr>
          <a:xfrm>
            <a:off x="2880360" y="1828800"/>
            <a:ext cx="640080" cy="640080"/>
          </a:xfrm>
          <a:prstGeom prst="ellipse">
            <a:avLst/>
          </a:prstGeom>
          <a:solidFill>
            <a:srgbClr val="E4E8FB"/>
          </a:solidFill>
          <a:ln w="19050">
            <a:solidFill>
              <a:srgbClr val="8A93B8"/>
            </a:solidFill>
            <a:prstDash val="solid"/>
          </a:ln>
        </p:spPr>
      </p:sp>
      <p:sp>
        <p:nvSpPr>
          <p:cNvPr id="16" name="Text 13"/>
          <p:cNvSpPr txBox="1"/>
          <p:nvPr/>
        </p:nvSpPr>
        <p:spPr>
          <a:xfrm>
            <a:off x="2880360" y="1828800"/>
            <a:ext cx="640080" cy="640080"/>
          </a:xfrm>
          <a:prstGeom prst="rect">
            <a:avLst/>
          </a:prstGeom>
          <a:noFill/>
          <a:ln/>
        </p:spPr>
        <p:txBody>
          <a:bodyPr wrap="square" lIns="0" tIns="0" rIns="0" bIns="0" rtlCol="0" anchor="ctr"/>
          <a:lstStyle/>
          <a:p>
            <a:pPr algn="ctr" indent="0" marL="0">
              <a:buNone/>
            </a:pPr>
            <a:r>
              <a:rPr lang="en-US" sz="1600" b="1" dirty="0">
                <a:solidFill>
                  <a:srgbClr val="5B6285"/>
                </a:solidFill>
                <a:latin typeface="Calibri" pitchFamily="34" charset="0"/>
                <a:ea typeface="Calibri" pitchFamily="34" charset="-122"/>
                <a:cs typeface="Calibri" pitchFamily="34" charset="-120"/>
              </a:rPr>
              <a:t>s₂</a:t>
            </a:r>
            <a:endParaRPr lang="en-US" sz="1600" dirty="0"/>
          </a:p>
        </p:txBody>
      </p:sp>
      <p:sp>
        <p:nvSpPr>
          <p:cNvPr id="17" name="Shape 14"/>
          <p:cNvSpPr/>
          <p:nvPr/>
        </p:nvSpPr>
        <p:spPr>
          <a:xfrm>
            <a:off x="3611880" y="1965960"/>
            <a:ext cx="411480" cy="365760"/>
          </a:xfrm>
          <a:prstGeom prst="roundRect">
            <a:avLst>
              <a:gd name="adj" fmla="val 15000"/>
            </a:avLst>
          </a:prstGeom>
          <a:solidFill>
            <a:srgbClr val="ECEEFB"/>
          </a:solidFill>
          <a:ln w="12700">
            <a:solidFill>
              <a:srgbClr val="8A93B8"/>
            </a:solidFill>
            <a:prstDash val="solid"/>
          </a:ln>
        </p:spPr>
      </p:sp>
      <p:sp>
        <p:nvSpPr>
          <p:cNvPr id="18" name="Text 15"/>
          <p:cNvSpPr txBox="1"/>
          <p:nvPr/>
        </p:nvSpPr>
        <p:spPr>
          <a:xfrm>
            <a:off x="3611880" y="1965960"/>
            <a:ext cx="411480" cy="365760"/>
          </a:xfrm>
          <a:prstGeom prst="rect">
            <a:avLst/>
          </a:prstGeom>
          <a:noFill/>
          <a:ln/>
        </p:spPr>
        <p:txBody>
          <a:bodyPr wrap="square" lIns="0" tIns="0" rIns="0" bIns="0" rtlCol="0" anchor="ctr"/>
          <a:lstStyle/>
          <a:p>
            <a:pPr algn="ctr" indent="0" marL="0">
              <a:buNone/>
            </a:pPr>
            <a:r>
              <a:rPr lang="en-US" sz="800" b="1" dirty="0">
                <a:solidFill>
                  <a:srgbClr val="5B6285"/>
                </a:solidFill>
                <a:latin typeface="Calibri" pitchFamily="34" charset="0"/>
                <a:ea typeface="Calibri" pitchFamily="34" charset="-122"/>
                <a:cs typeface="Calibri" pitchFamily="34" charset="-120"/>
              </a:rPr>
              <a:t>STOP</a:t>
            </a:r>
            <a:endParaRPr lang="en-US" sz="800" dirty="0"/>
          </a:p>
        </p:txBody>
      </p:sp>
      <p:sp>
        <p:nvSpPr>
          <p:cNvPr id="19" name="Text 16"/>
          <p:cNvSpPr txBox="1"/>
          <p:nvPr/>
        </p:nvSpPr>
        <p:spPr>
          <a:xfrm>
            <a:off x="685800" y="2743200"/>
            <a:ext cx="3291840" cy="11887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5B6285"/>
                </a:solidFill>
                <a:latin typeface="Calibri" pitchFamily="34" charset="0"/>
                <a:ea typeface="Calibri" pitchFamily="34" charset="-122"/>
                <a:cs typeface="Calibri" pitchFamily="34" charset="-120"/>
              </a:rPr>
              <a:t>Sequential edits with a STOP action</a:t>
            </a:r>
            <a:endParaRPr lang="en-US" sz="1300" dirty="0"/>
          </a:p>
          <a:p>
            <a:pPr marL="177800" indent="-177800">
              <a:spcAft>
                <a:spcPts val="400"/>
              </a:spcAft>
              <a:buSzPct val="100000"/>
              <a:buChar char="•"/>
            </a:pPr>
            <a:r>
              <a:rPr lang="en-US" sz="1300" dirty="0">
                <a:solidFill>
                  <a:srgbClr val="5B6285"/>
                </a:solidFill>
                <a:latin typeface="Calibri" pitchFamily="34" charset="0"/>
                <a:ea typeface="Calibri" pitchFamily="34" charset="-122"/>
                <a:cs typeface="Calibri" pitchFamily="34" charset="-120"/>
              </a:rPr>
              <a:t>γ &gt; 0, reward arrives late</a:t>
            </a:r>
            <a:endParaRPr lang="en-US" sz="1300" dirty="0"/>
          </a:p>
          <a:p>
            <a:pPr marL="177800" indent="-177800">
              <a:spcAft>
                <a:spcPts val="400"/>
              </a:spcAft>
              <a:buSzPct val="100000"/>
              <a:buChar char="•"/>
            </a:pPr>
            <a:r>
              <a:rPr lang="en-US" sz="1300" dirty="0">
                <a:solidFill>
                  <a:srgbClr val="5B6285"/>
                </a:solidFill>
                <a:latin typeface="Calibri" pitchFamily="34" charset="0"/>
                <a:ea typeface="Calibri" pitchFamily="34" charset="-122"/>
                <a:cs typeface="Calibri" pitchFamily="34" charset="-120"/>
              </a:rPr>
              <a:t>Credit assignment across steps</a:t>
            </a:r>
            <a:endParaRPr lang="en-US" sz="1300" dirty="0"/>
          </a:p>
        </p:txBody>
      </p:sp>
      <p:sp>
        <p:nvSpPr>
          <p:cNvPr id="20" name="Shape 17"/>
          <p:cNvSpPr/>
          <p:nvPr/>
        </p:nvSpPr>
        <p:spPr>
          <a:xfrm>
            <a:off x="4224528" y="2331720"/>
            <a:ext cx="694944" cy="694944"/>
          </a:xfrm>
          <a:prstGeom prst="ellipse">
            <a:avLst/>
          </a:prstGeom>
          <a:solidFill>
            <a:srgbClr val="0B1026"/>
          </a:solidFill>
          <a:ln w="12700">
            <a:solidFill>
              <a:srgbClr val="0B1026"/>
            </a:solidFill>
            <a:prstDash val="solid"/>
          </a:ln>
        </p:spPr>
      </p:sp>
      <p:sp>
        <p:nvSpPr>
          <p:cNvPr id="21" name="Text 18"/>
          <p:cNvSpPr txBox="1"/>
          <p:nvPr/>
        </p:nvSpPr>
        <p:spPr>
          <a:xfrm>
            <a:off x="4224528" y="2331720"/>
            <a:ext cx="694944"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vs</a:t>
            </a:r>
            <a:endParaRPr lang="en-US" sz="1500" dirty="0"/>
          </a:p>
        </p:txBody>
      </p:sp>
      <p:sp>
        <p:nvSpPr>
          <p:cNvPr id="22" name="Shape 19"/>
          <p:cNvSpPr/>
          <p:nvPr/>
        </p:nvSpPr>
        <p:spPr>
          <a:xfrm>
            <a:off x="5029200" y="1280160"/>
            <a:ext cx="3657600" cy="2743200"/>
          </a:xfrm>
          <a:prstGeom prst="roundRect">
            <a:avLst>
              <a:gd name="adj" fmla="val 4000"/>
            </a:avLst>
          </a:prstGeom>
          <a:solidFill>
            <a:srgbClr val="FFFFFF"/>
          </a:solidFill>
          <a:ln w="31750">
            <a:solidFill>
              <a:srgbClr val="6D5DFC"/>
            </a:solidFill>
            <a:prstDash val="solid"/>
          </a:ln>
          <a:effectLst>
            <a:outerShdw sx="100000" sy="100000" kx="0" ky="0" algn="bl" rotWithShape="0" blurRad="127000" dist="25400" dir="5400000">
              <a:srgbClr val="1B2140">
                <a:alpha val="12000"/>
              </a:srgbClr>
            </a:outerShdw>
          </a:effectLst>
        </p:spPr>
      </p:sp>
      <p:sp>
        <p:nvSpPr>
          <p:cNvPr id="23" name="Text 20"/>
          <p:cNvSpPr txBox="1"/>
          <p:nvPr/>
        </p:nvSpPr>
        <p:spPr>
          <a:xfrm>
            <a:off x="5257800" y="1417320"/>
            <a:ext cx="3291840" cy="228600"/>
          </a:xfrm>
          <a:prstGeom prst="rect">
            <a:avLst/>
          </a:prstGeom>
          <a:noFill/>
          <a:ln/>
        </p:spPr>
        <p:txBody>
          <a:bodyPr wrap="square" lIns="0" tIns="0" rIns="0" bIns="0" rtlCol="0" anchor="t"/>
          <a:lstStyle/>
          <a:p>
            <a:pPr indent="0" marL="0">
              <a:buNone/>
            </a:pPr>
            <a:r>
              <a:rPr lang="en-US" sz="1100" b="1" spc="200" kern="0" dirty="0">
                <a:solidFill>
                  <a:srgbClr val="6D5DFC"/>
                </a:solidFill>
                <a:latin typeface="Calibri" pitchFamily="34" charset="0"/>
                <a:ea typeface="Calibri" pitchFamily="34" charset="-122"/>
                <a:cs typeface="Calibri" pitchFamily="34" charset="-120"/>
              </a:rPr>
              <a:t>CONTEXTUAL BANDIT  ·  OURS</a:t>
            </a:r>
            <a:endParaRPr lang="en-US" sz="1100" dirty="0"/>
          </a:p>
        </p:txBody>
      </p:sp>
      <p:sp>
        <p:nvSpPr>
          <p:cNvPr id="24" name="Shape 21"/>
          <p:cNvSpPr/>
          <p:nvPr/>
        </p:nvSpPr>
        <p:spPr>
          <a:xfrm>
            <a:off x="5257800" y="1828800"/>
            <a:ext cx="640080" cy="640080"/>
          </a:xfrm>
          <a:prstGeom prst="ellipse">
            <a:avLst/>
          </a:prstGeom>
          <a:solidFill>
            <a:srgbClr val="6D5DFC"/>
          </a:solidFill>
          <a:ln w="12700">
            <a:solidFill>
              <a:srgbClr val="6D5DFC"/>
            </a:solidFill>
            <a:prstDash val="solid"/>
          </a:ln>
        </p:spPr>
      </p:sp>
      <p:sp>
        <p:nvSpPr>
          <p:cNvPr id="25" name="Text 22"/>
          <p:cNvSpPr txBox="1"/>
          <p:nvPr/>
        </p:nvSpPr>
        <p:spPr>
          <a:xfrm>
            <a:off x="5257800" y="1828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a:t>
            </a:r>
            <a:endParaRPr lang="en-US" sz="1800" dirty="0"/>
          </a:p>
        </p:txBody>
      </p:sp>
      <p:sp>
        <p:nvSpPr>
          <p:cNvPr id="26" name="Shape 23"/>
          <p:cNvSpPr/>
          <p:nvPr/>
        </p:nvSpPr>
        <p:spPr>
          <a:xfrm>
            <a:off x="5897880" y="2148840"/>
            <a:ext cx="457200" cy="0"/>
          </a:xfrm>
          <a:prstGeom prst="line">
            <a:avLst/>
          </a:prstGeom>
          <a:noFill/>
          <a:ln w="25400">
            <a:solidFill>
              <a:srgbClr val="5B6285"/>
            </a:solidFill>
            <a:prstDash val="solid"/>
            <a:tailEnd type="triangle"/>
          </a:ln>
        </p:spPr>
      </p:sp>
      <p:sp>
        <p:nvSpPr>
          <p:cNvPr id="27" name="Shape 24"/>
          <p:cNvSpPr/>
          <p:nvPr/>
        </p:nvSpPr>
        <p:spPr>
          <a:xfrm>
            <a:off x="6355080" y="1828800"/>
            <a:ext cx="640080" cy="640080"/>
          </a:xfrm>
          <a:prstGeom prst="ellipse">
            <a:avLst/>
          </a:prstGeom>
          <a:solidFill>
            <a:srgbClr val="F59E0B"/>
          </a:solidFill>
          <a:ln w="12700">
            <a:solidFill>
              <a:srgbClr val="F59E0B"/>
            </a:solidFill>
            <a:prstDash val="solid"/>
          </a:ln>
        </p:spPr>
      </p:sp>
      <p:sp>
        <p:nvSpPr>
          <p:cNvPr id="28" name="Text 25"/>
          <p:cNvSpPr txBox="1"/>
          <p:nvPr/>
        </p:nvSpPr>
        <p:spPr>
          <a:xfrm>
            <a:off x="6355080" y="1828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29" name="Shape 26"/>
          <p:cNvSpPr/>
          <p:nvPr/>
        </p:nvSpPr>
        <p:spPr>
          <a:xfrm>
            <a:off x="6995160" y="2148840"/>
            <a:ext cx="457200" cy="0"/>
          </a:xfrm>
          <a:prstGeom prst="line">
            <a:avLst/>
          </a:prstGeom>
          <a:noFill/>
          <a:ln w="25400">
            <a:solidFill>
              <a:srgbClr val="5B6285"/>
            </a:solidFill>
            <a:prstDash val="solid"/>
            <a:tailEnd type="triangle"/>
          </a:ln>
        </p:spPr>
      </p:sp>
      <p:sp>
        <p:nvSpPr>
          <p:cNvPr id="30" name="Shape 27"/>
          <p:cNvSpPr/>
          <p:nvPr/>
        </p:nvSpPr>
        <p:spPr>
          <a:xfrm>
            <a:off x="7452360" y="1828800"/>
            <a:ext cx="640080" cy="640080"/>
          </a:xfrm>
          <a:prstGeom prst="ellipse">
            <a:avLst/>
          </a:prstGeom>
          <a:solidFill>
            <a:srgbClr val="14B8A6"/>
          </a:solidFill>
          <a:ln w="12700">
            <a:solidFill>
              <a:srgbClr val="14B8A6"/>
            </a:solidFill>
            <a:prstDash val="solid"/>
          </a:ln>
        </p:spPr>
      </p:sp>
      <p:sp>
        <p:nvSpPr>
          <p:cNvPr id="31" name="Text 28"/>
          <p:cNvSpPr txBox="1"/>
          <p:nvPr/>
        </p:nvSpPr>
        <p:spPr>
          <a:xfrm>
            <a:off x="7452360" y="1828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t>
            </a:r>
            <a:endParaRPr lang="en-US" sz="1800" dirty="0"/>
          </a:p>
        </p:txBody>
      </p:sp>
      <p:sp>
        <p:nvSpPr>
          <p:cNvPr id="32" name="Text 29"/>
          <p:cNvSpPr txBox="1"/>
          <p:nvPr/>
        </p:nvSpPr>
        <p:spPr>
          <a:xfrm>
            <a:off x="5257800" y="2514600"/>
            <a:ext cx="3291840" cy="228600"/>
          </a:xfrm>
          <a:prstGeom prst="rect">
            <a:avLst/>
          </a:prstGeom>
          <a:noFill/>
          <a:ln/>
        </p:spPr>
        <p:txBody>
          <a:bodyPr wrap="square" lIns="0" tIns="0" rIns="0" bIns="0" rtlCol="0" anchor="t"/>
          <a:lstStyle/>
          <a:p>
            <a:pPr indent="0" marL="0">
              <a:buNone/>
            </a:pPr>
            <a:r>
              <a:rPr lang="en-US" sz="1100" i="1" dirty="0">
                <a:solidFill>
                  <a:srgbClr val="5B6285"/>
                </a:solidFill>
                <a:latin typeface="Calibri" pitchFamily="34" charset="0"/>
                <a:ea typeface="Calibri" pitchFamily="34" charset="-122"/>
                <a:cs typeface="Calibri" pitchFamily="34" charset="-120"/>
              </a:rPr>
              <a:t>one step, then the episode ends</a:t>
            </a:r>
            <a:endParaRPr lang="en-US" sz="1100" dirty="0"/>
          </a:p>
        </p:txBody>
      </p:sp>
      <p:sp>
        <p:nvSpPr>
          <p:cNvPr id="33" name="Text 30"/>
          <p:cNvSpPr txBox="1"/>
          <p:nvPr/>
        </p:nvSpPr>
        <p:spPr>
          <a:xfrm>
            <a:off x="5257800" y="2788920"/>
            <a:ext cx="3291840" cy="11887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One informed decision per image</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Reward measured immediately</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γ = 0: no credit assignment</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Low-variance, fast PPO updates</a:t>
            </a:r>
            <a:endParaRPr lang="en-US" sz="1300" dirty="0"/>
          </a:p>
        </p:txBody>
      </p:sp>
      <p:sp>
        <p:nvSpPr>
          <p:cNvPr id="34" name="Shape 31"/>
          <p:cNvSpPr/>
          <p:nvPr/>
        </p:nvSpPr>
        <p:spPr>
          <a:xfrm>
            <a:off x="457200" y="4160520"/>
            <a:ext cx="8229600" cy="457200"/>
          </a:xfrm>
          <a:prstGeom prst="roundRect">
            <a:avLst>
              <a:gd name="adj" fmla="val 20000"/>
            </a:avLst>
          </a:prstGeom>
          <a:solidFill>
            <a:srgbClr val="0B1026"/>
          </a:solidFill>
          <a:ln w="12700">
            <a:solidFill>
              <a:srgbClr val="0B1026"/>
            </a:solidFill>
            <a:prstDash val="solid"/>
          </a:ln>
        </p:spPr>
      </p:sp>
      <p:sp>
        <p:nvSpPr>
          <p:cNvPr id="35" name="Text 32"/>
          <p:cNvSpPr txBox="1"/>
          <p:nvPr/>
        </p:nvSpPr>
        <p:spPr>
          <a:xfrm>
            <a:off x="457200" y="4160520"/>
            <a:ext cx="8229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damage itself tells which adapter fits, so one informed choice is enough.</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REWARD DESIGN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What the agent is paid for</a:t>
            </a:r>
            <a:endParaRPr lang="en-US" sz="3000" dirty="0"/>
          </a:p>
        </p:txBody>
      </p:sp>
      <p:sp>
        <p:nvSpPr>
          <p:cNvPr id="5" name="Shape 2"/>
          <p:cNvSpPr/>
          <p:nvPr/>
        </p:nvSpPr>
        <p:spPr>
          <a:xfrm>
            <a:off x="457200" y="1325880"/>
            <a:ext cx="8229600" cy="777240"/>
          </a:xfrm>
          <a:prstGeom prst="roundRect">
            <a:avLst>
              <a:gd name="adj" fmla="val 14118"/>
            </a:avLst>
          </a:prstGeom>
          <a:solidFill>
            <a:srgbClr val="0B1026"/>
          </a:solidFill>
          <a:ln w="12700">
            <a:solidFill>
              <a:srgbClr val="0B1026"/>
            </a:solidFill>
            <a:prstDash val="solid"/>
          </a:ln>
        </p:spPr>
      </p:sp>
      <p:sp>
        <p:nvSpPr>
          <p:cNvPr id="6" name="Text 3"/>
          <p:cNvSpPr txBox="1"/>
          <p:nvPr/>
        </p:nvSpPr>
        <p:spPr>
          <a:xfrm>
            <a:off x="457200" y="1325880"/>
            <a:ext cx="8229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  =  α·ΔPSNR  +  β·ΔSSIM  −  γ·ΔLPIPS  +  δ·ΔD  −  λ·cost(a)</a:t>
            </a:r>
            <a:endParaRPr lang="en-US" sz="2200" dirty="0"/>
          </a:p>
        </p:txBody>
      </p:sp>
      <p:sp>
        <p:nvSpPr>
          <p:cNvPr id="7" name="Shape 4"/>
          <p:cNvSpPr/>
          <p:nvPr/>
        </p:nvSpPr>
        <p:spPr>
          <a:xfrm>
            <a:off x="457200" y="2377440"/>
            <a:ext cx="1517904" cy="1691640"/>
          </a:xfrm>
          <a:prstGeom prst="roundRect">
            <a:avLst>
              <a:gd name="adj" fmla="val 722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8" name="Shape 5"/>
          <p:cNvSpPr/>
          <p:nvPr/>
        </p:nvSpPr>
        <p:spPr>
          <a:xfrm>
            <a:off x="566928" y="2505456"/>
            <a:ext cx="457200" cy="457200"/>
          </a:xfrm>
          <a:prstGeom prst="ellipse">
            <a:avLst/>
          </a:prstGeom>
          <a:solidFill>
            <a:srgbClr val="6D5DFC"/>
          </a:solidFill>
          <a:ln w="12700">
            <a:solidFill>
              <a:srgbClr val="6D5DFC"/>
            </a:solidFill>
            <a:prstDash val="solid"/>
          </a:ln>
        </p:spPr>
      </p:sp>
      <p:sp>
        <p:nvSpPr>
          <p:cNvPr id="9" name="Text 6"/>
          <p:cNvSpPr txBox="1"/>
          <p:nvPr/>
        </p:nvSpPr>
        <p:spPr>
          <a:xfrm>
            <a:off x="566928" y="25054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α</a:t>
            </a:r>
            <a:endParaRPr lang="en-US" sz="1800" dirty="0"/>
          </a:p>
        </p:txBody>
      </p:sp>
      <p:sp>
        <p:nvSpPr>
          <p:cNvPr id="10" name="Text 7"/>
          <p:cNvSpPr txBox="1"/>
          <p:nvPr/>
        </p:nvSpPr>
        <p:spPr>
          <a:xfrm>
            <a:off x="1115568" y="2505456"/>
            <a:ext cx="822960" cy="457200"/>
          </a:xfrm>
          <a:prstGeom prst="rect">
            <a:avLst/>
          </a:prstGeom>
          <a:noFill/>
          <a:ln/>
        </p:spPr>
        <p:txBody>
          <a:bodyPr wrap="square" lIns="0" tIns="0" rIns="0" bIns="0" rtlCol="0" anchor="ctr"/>
          <a:lstStyle/>
          <a:p>
            <a:pPr indent="0" marL="0">
              <a:buNone/>
            </a:pPr>
            <a:r>
              <a:rPr lang="en-US" sz="2000" b="1" dirty="0">
                <a:solidFill>
                  <a:srgbClr val="6D5DFC"/>
                </a:solidFill>
                <a:latin typeface="Calibri" pitchFamily="34" charset="0"/>
                <a:ea typeface="Calibri" pitchFamily="34" charset="-122"/>
                <a:cs typeface="Calibri" pitchFamily="34" charset="-120"/>
              </a:rPr>
              <a:t>= 1.0</a:t>
            </a:r>
            <a:endParaRPr lang="en-US" sz="2000" dirty="0"/>
          </a:p>
        </p:txBody>
      </p:sp>
      <p:sp>
        <p:nvSpPr>
          <p:cNvPr id="11" name="Text 8"/>
          <p:cNvSpPr txBox="1"/>
          <p:nvPr/>
        </p:nvSpPr>
        <p:spPr>
          <a:xfrm>
            <a:off x="594360" y="3108960"/>
            <a:ext cx="1280160" cy="32004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ΔPSNR</a:t>
            </a:r>
            <a:endParaRPr lang="en-US" sz="1600" dirty="0"/>
          </a:p>
        </p:txBody>
      </p:sp>
      <p:sp>
        <p:nvSpPr>
          <p:cNvPr id="12" name="Text 9"/>
          <p:cNvSpPr txBox="1"/>
          <p:nvPr/>
        </p:nvSpPr>
        <p:spPr>
          <a:xfrm>
            <a:off x="594360" y="3456432"/>
            <a:ext cx="1280160" cy="5943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 10 dB, clip ±2</a:t>
            </a:r>
            <a:endParaRPr lang="en-US" sz="1200" dirty="0"/>
          </a:p>
        </p:txBody>
      </p:sp>
      <p:sp>
        <p:nvSpPr>
          <p:cNvPr id="13" name="Shape 10"/>
          <p:cNvSpPr/>
          <p:nvPr/>
        </p:nvSpPr>
        <p:spPr>
          <a:xfrm>
            <a:off x="2121408" y="2377440"/>
            <a:ext cx="1517904" cy="1691640"/>
          </a:xfrm>
          <a:prstGeom prst="roundRect">
            <a:avLst>
              <a:gd name="adj" fmla="val 722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4" name="Shape 11"/>
          <p:cNvSpPr/>
          <p:nvPr/>
        </p:nvSpPr>
        <p:spPr>
          <a:xfrm>
            <a:off x="2231136" y="2505456"/>
            <a:ext cx="457200" cy="457200"/>
          </a:xfrm>
          <a:prstGeom prst="ellipse">
            <a:avLst/>
          </a:prstGeom>
          <a:solidFill>
            <a:srgbClr val="0EA5E9"/>
          </a:solidFill>
          <a:ln w="12700">
            <a:solidFill>
              <a:srgbClr val="0EA5E9"/>
            </a:solidFill>
            <a:prstDash val="solid"/>
          </a:ln>
        </p:spPr>
      </p:sp>
      <p:sp>
        <p:nvSpPr>
          <p:cNvPr id="15" name="Text 12"/>
          <p:cNvSpPr txBox="1"/>
          <p:nvPr/>
        </p:nvSpPr>
        <p:spPr>
          <a:xfrm>
            <a:off x="2231136" y="25054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β</a:t>
            </a:r>
            <a:endParaRPr lang="en-US" sz="1800" dirty="0"/>
          </a:p>
        </p:txBody>
      </p:sp>
      <p:sp>
        <p:nvSpPr>
          <p:cNvPr id="16" name="Text 13"/>
          <p:cNvSpPr txBox="1"/>
          <p:nvPr/>
        </p:nvSpPr>
        <p:spPr>
          <a:xfrm>
            <a:off x="2779776" y="2505456"/>
            <a:ext cx="822960" cy="457200"/>
          </a:xfrm>
          <a:prstGeom prst="rect">
            <a:avLst/>
          </a:prstGeom>
          <a:noFill/>
          <a:ln/>
        </p:spPr>
        <p:txBody>
          <a:bodyPr wrap="square" lIns="0" tIns="0" rIns="0" bIns="0" rtlCol="0" anchor="ctr"/>
          <a:lstStyle/>
          <a:p>
            <a:pPr indent="0" marL="0">
              <a:buNone/>
            </a:pPr>
            <a:r>
              <a:rPr lang="en-US" sz="2000" b="1" dirty="0">
                <a:solidFill>
                  <a:srgbClr val="0EA5E9"/>
                </a:solidFill>
                <a:latin typeface="Calibri" pitchFamily="34" charset="0"/>
                <a:ea typeface="Calibri" pitchFamily="34" charset="-122"/>
                <a:cs typeface="Calibri" pitchFamily="34" charset="-120"/>
              </a:rPr>
              <a:t>= 1.0</a:t>
            </a:r>
            <a:endParaRPr lang="en-US" sz="2000" dirty="0"/>
          </a:p>
        </p:txBody>
      </p:sp>
      <p:sp>
        <p:nvSpPr>
          <p:cNvPr id="17" name="Text 14"/>
          <p:cNvSpPr txBox="1"/>
          <p:nvPr/>
        </p:nvSpPr>
        <p:spPr>
          <a:xfrm>
            <a:off x="2258568" y="3108960"/>
            <a:ext cx="1280160" cy="32004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ΔSSIM</a:t>
            </a:r>
            <a:endParaRPr lang="en-US" sz="1600" dirty="0"/>
          </a:p>
        </p:txBody>
      </p:sp>
      <p:sp>
        <p:nvSpPr>
          <p:cNvPr id="18" name="Text 15"/>
          <p:cNvSpPr txBox="1"/>
          <p:nvPr/>
        </p:nvSpPr>
        <p:spPr>
          <a:xfrm>
            <a:off x="2258568" y="3456432"/>
            <a:ext cx="1280160" cy="5943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 0.1, clip ±2</a:t>
            </a:r>
            <a:endParaRPr lang="en-US" sz="1200" dirty="0"/>
          </a:p>
        </p:txBody>
      </p:sp>
      <p:sp>
        <p:nvSpPr>
          <p:cNvPr id="19" name="Shape 16"/>
          <p:cNvSpPr/>
          <p:nvPr/>
        </p:nvSpPr>
        <p:spPr>
          <a:xfrm>
            <a:off x="3785616" y="2377440"/>
            <a:ext cx="1517904" cy="1691640"/>
          </a:xfrm>
          <a:prstGeom prst="roundRect">
            <a:avLst>
              <a:gd name="adj" fmla="val 722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0" name="Shape 17"/>
          <p:cNvSpPr/>
          <p:nvPr/>
        </p:nvSpPr>
        <p:spPr>
          <a:xfrm>
            <a:off x="3895344" y="2505456"/>
            <a:ext cx="457200" cy="457200"/>
          </a:xfrm>
          <a:prstGeom prst="ellipse">
            <a:avLst/>
          </a:prstGeom>
          <a:solidFill>
            <a:srgbClr val="F59E0B"/>
          </a:solidFill>
          <a:ln w="12700">
            <a:solidFill>
              <a:srgbClr val="F59E0B"/>
            </a:solidFill>
            <a:prstDash val="solid"/>
          </a:ln>
        </p:spPr>
      </p:sp>
      <p:sp>
        <p:nvSpPr>
          <p:cNvPr id="21" name="Text 18"/>
          <p:cNvSpPr txBox="1"/>
          <p:nvPr/>
        </p:nvSpPr>
        <p:spPr>
          <a:xfrm>
            <a:off x="3895344" y="25054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γ</a:t>
            </a:r>
            <a:endParaRPr lang="en-US" sz="1800" dirty="0"/>
          </a:p>
        </p:txBody>
      </p:sp>
      <p:sp>
        <p:nvSpPr>
          <p:cNvPr id="22" name="Text 19"/>
          <p:cNvSpPr txBox="1"/>
          <p:nvPr/>
        </p:nvSpPr>
        <p:spPr>
          <a:xfrm>
            <a:off x="4443984" y="2505456"/>
            <a:ext cx="822960" cy="457200"/>
          </a:xfrm>
          <a:prstGeom prst="rect">
            <a:avLst/>
          </a:prstGeom>
          <a:noFill/>
          <a:ln/>
        </p:spPr>
        <p:txBody>
          <a:bodyPr wrap="square" lIns="0" tIns="0" rIns="0" bIns="0" rtlCol="0" anchor="ctr"/>
          <a:lstStyle/>
          <a:p>
            <a:pPr indent="0" marL="0">
              <a:buNone/>
            </a:pPr>
            <a:r>
              <a:rPr lang="en-US" sz="2000" b="1" dirty="0">
                <a:solidFill>
                  <a:srgbClr val="F59E0B"/>
                </a:solidFill>
                <a:latin typeface="Calibri" pitchFamily="34" charset="0"/>
                <a:ea typeface="Calibri" pitchFamily="34" charset="-122"/>
                <a:cs typeface="Calibri" pitchFamily="34" charset="-120"/>
              </a:rPr>
              <a:t>= 0.5</a:t>
            </a:r>
            <a:endParaRPr lang="en-US" sz="2000" dirty="0"/>
          </a:p>
        </p:txBody>
      </p:sp>
      <p:sp>
        <p:nvSpPr>
          <p:cNvPr id="23" name="Text 20"/>
          <p:cNvSpPr txBox="1"/>
          <p:nvPr/>
        </p:nvSpPr>
        <p:spPr>
          <a:xfrm>
            <a:off x="3922776" y="3108960"/>
            <a:ext cx="1280160" cy="32004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ΔLPIPS</a:t>
            </a:r>
            <a:endParaRPr lang="en-US" sz="1600" dirty="0"/>
          </a:p>
        </p:txBody>
      </p:sp>
      <p:sp>
        <p:nvSpPr>
          <p:cNvPr id="24" name="Text 21"/>
          <p:cNvSpPr txBox="1"/>
          <p:nvPr/>
        </p:nvSpPr>
        <p:spPr>
          <a:xfrm>
            <a:off x="3922776" y="3456432"/>
            <a:ext cx="1280160" cy="5943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 0.1, lower is better</a:t>
            </a:r>
            <a:endParaRPr lang="en-US" sz="1200" dirty="0"/>
          </a:p>
        </p:txBody>
      </p:sp>
      <p:sp>
        <p:nvSpPr>
          <p:cNvPr id="25" name="Shape 22"/>
          <p:cNvSpPr/>
          <p:nvPr/>
        </p:nvSpPr>
        <p:spPr>
          <a:xfrm>
            <a:off x="5449824" y="2377440"/>
            <a:ext cx="1517904" cy="1691640"/>
          </a:xfrm>
          <a:prstGeom prst="roundRect">
            <a:avLst>
              <a:gd name="adj" fmla="val 722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6" name="Shape 23"/>
          <p:cNvSpPr/>
          <p:nvPr/>
        </p:nvSpPr>
        <p:spPr>
          <a:xfrm>
            <a:off x="5559552" y="2505456"/>
            <a:ext cx="457200" cy="457200"/>
          </a:xfrm>
          <a:prstGeom prst="ellipse">
            <a:avLst/>
          </a:prstGeom>
          <a:solidFill>
            <a:srgbClr val="EC4899"/>
          </a:solidFill>
          <a:ln w="12700">
            <a:solidFill>
              <a:srgbClr val="EC4899"/>
            </a:solidFill>
            <a:prstDash val="solid"/>
          </a:ln>
        </p:spPr>
      </p:sp>
      <p:sp>
        <p:nvSpPr>
          <p:cNvPr id="27" name="Text 24"/>
          <p:cNvSpPr txBox="1"/>
          <p:nvPr/>
        </p:nvSpPr>
        <p:spPr>
          <a:xfrm>
            <a:off x="5559552" y="25054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δ</a:t>
            </a:r>
            <a:endParaRPr lang="en-US" sz="1800" dirty="0"/>
          </a:p>
        </p:txBody>
      </p:sp>
      <p:sp>
        <p:nvSpPr>
          <p:cNvPr id="28" name="Text 25"/>
          <p:cNvSpPr txBox="1"/>
          <p:nvPr/>
        </p:nvSpPr>
        <p:spPr>
          <a:xfrm>
            <a:off x="6108192" y="2505456"/>
            <a:ext cx="822960" cy="457200"/>
          </a:xfrm>
          <a:prstGeom prst="rect">
            <a:avLst/>
          </a:prstGeom>
          <a:noFill/>
          <a:ln/>
        </p:spPr>
        <p:txBody>
          <a:bodyPr wrap="square" lIns="0" tIns="0" rIns="0" bIns="0" rtlCol="0" anchor="ctr"/>
          <a:lstStyle/>
          <a:p>
            <a:pPr indent="0" marL="0">
              <a:buNone/>
            </a:pPr>
            <a:r>
              <a:rPr lang="en-US" sz="2000" b="1" dirty="0">
                <a:solidFill>
                  <a:srgbClr val="EC4899"/>
                </a:solidFill>
                <a:latin typeface="Calibri" pitchFamily="34" charset="0"/>
                <a:ea typeface="Calibri" pitchFamily="34" charset="-122"/>
                <a:cs typeface="Calibri" pitchFamily="34" charset="-120"/>
              </a:rPr>
              <a:t>= 0.3</a:t>
            </a:r>
            <a:endParaRPr lang="en-US" sz="2000" dirty="0"/>
          </a:p>
        </p:txBody>
      </p:sp>
      <p:sp>
        <p:nvSpPr>
          <p:cNvPr id="29" name="Text 26"/>
          <p:cNvSpPr txBox="1"/>
          <p:nvPr/>
        </p:nvSpPr>
        <p:spPr>
          <a:xfrm>
            <a:off x="5586984" y="3108960"/>
            <a:ext cx="1280160" cy="32004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ΔDisc</a:t>
            </a:r>
            <a:endParaRPr lang="en-US" sz="1600" dirty="0"/>
          </a:p>
        </p:txBody>
      </p:sp>
      <p:sp>
        <p:nvSpPr>
          <p:cNvPr id="30" name="Text 27"/>
          <p:cNvSpPr txBox="1"/>
          <p:nvPr/>
        </p:nvSpPr>
        <p:spPr>
          <a:xfrm>
            <a:off x="5586984" y="3456432"/>
            <a:ext cx="1280160" cy="5943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PatchGAN confidence</a:t>
            </a:r>
            <a:endParaRPr lang="en-US" sz="1200" dirty="0"/>
          </a:p>
        </p:txBody>
      </p:sp>
      <p:sp>
        <p:nvSpPr>
          <p:cNvPr id="31" name="Shape 28"/>
          <p:cNvSpPr/>
          <p:nvPr/>
        </p:nvSpPr>
        <p:spPr>
          <a:xfrm>
            <a:off x="7114032" y="2377440"/>
            <a:ext cx="1517904" cy="1691640"/>
          </a:xfrm>
          <a:prstGeom prst="roundRect">
            <a:avLst>
              <a:gd name="adj" fmla="val 722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2" name="Shape 29"/>
          <p:cNvSpPr/>
          <p:nvPr/>
        </p:nvSpPr>
        <p:spPr>
          <a:xfrm>
            <a:off x="7223760" y="2505456"/>
            <a:ext cx="457200" cy="457200"/>
          </a:xfrm>
          <a:prstGeom prst="ellipse">
            <a:avLst/>
          </a:prstGeom>
          <a:solidFill>
            <a:srgbClr val="14B8A6"/>
          </a:solidFill>
          <a:ln w="12700">
            <a:solidFill>
              <a:srgbClr val="14B8A6"/>
            </a:solidFill>
            <a:prstDash val="solid"/>
          </a:ln>
        </p:spPr>
      </p:sp>
      <p:sp>
        <p:nvSpPr>
          <p:cNvPr id="33" name="Text 30"/>
          <p:cNvSpPr txBox="1"/>
          <p:nvPr/>
        </p:nvSpPr>
        <p:spPr>
          <a:xfrm>
            <a:off x="7223760" y="25054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λ</a:t>
            </a:r>
            <a:endParaRPr lang="en-US" sz="1800" dirty="0"/>
          </a:p>
        </p:txBody>
      </p:sp>
      <p:sp>
        <p:nvSpPr>
          <p:cNvPr id="34" name="Text 31"/>
          <p:cNvSpPr txBox="1"/>
          <p:nvPr/>
        </p:nvSpPr>
        <p:spPr>
          <a:xfrm>
            <a:off x="7772400" y="2505456"/>
            <a:ext cx="822960" cy="457200"/>
          </a:xfrm>
          <a:prstGeom prst="rect">
            <a:avLst/>
          </a:prstGeom>
          <a:noFill/>
          <a:ln/>
        </p:spPr>
        <p:txBody>
          <a:bodyPr wrap="square" lIns="0" tIns="0" rIns="0" bIns="0" rtlCol="0" anchor="ctr"/>
          <a:lstStyle/>
          <a:p>
            <a:pPr indent="0" marL="0">
              <a:buNone/>
            </a:pPr>
            <a:r>
              <a:rPr lang="en-US" sz="2000" b="1" dirty="0">
                <a:solidFill>
                  <a:srgbClr val="14B8A6"/>
                </a:solidFill>
                <a:latin typeface="Calibri" pitchFamily="34" charset="0"/>
                <a:ea typeface="Calibri" pitchFamily="34" charset="-122"/>
                <a:cs typeface="Calibri" pitchFamily="34" charset="-120"/>
              </a:rPr>
              <a:t>= 0.1</a:t>
            </a:r>
            <a:endParaRPr lang="en-US" sz="2000" dirty="0"/>
          </a:p>
        </p:txBody>
      </p:sp>
      <p:sp>
        <p:nvSpPr>
          <p:cNvPr id="35" name="Text 32"/>
          <p:cNvSpPr txBox="1"/>
          <p:nvPr/>
        </p:nvSpPr>
        <p:spPr>
          <a:xfrm>
            <a:off x="7251192" y="3108960"/>
            <a:ext cx="1280160" cy="320040"/>
          </a:xfrm>
          <a:prstGeom prst="rect">
            <a:avLst/>
          </a:prstGeom>
          <a:noFill/>
          <a:ln/>
        </p:spPr>
        <p:txBody>
          <a:bodyPr wrap="square" lIns="0" tIns="0" rIns="0" bIns="0" rtlCol="0" anchor="t"/>
          <a:lstStyle/>
          <a:p>
            <a:pPr indent="0" marL="0">
              <a:buNone/>
            </a:pPr>
            <a:r>
              <a:rPr lang="en-US" sz="1600" b="1" dirty="0">
                <a:solidFill>
                  <a:srgbClr val="1B2140"/>
                </a:solidFill>
                <a:latin typeface="Calibri" pitchFamily="34" charset="0"/>
                <a:ea typeface="Calibri" pitchFamily="34" charset="-122"/>
                <a:cs typeface="Calibri" pitchFamily="34" charset="-120"/>
              </a:rPr>
              <a:t>Cost</a:t>
            </a:r>
            <a:endParaRPr lang="en-US" sz="1600" dirty="0"/>
          </a:p>
        </p:txBody>
      </p:sp>
      <p:sp>
        <p:nvSpPr>
          <p:cNvPr id="36" name="Text 33"/>
          <p:cNvSpPr txBox="1"/>
          <p:nvPr/>
        </p:nvSpPr>
        <p:spPr>
          <a:xfrm>
            <a:off x="7251192" y="3456432"/>
            <a:ext cx="1280160" cy="5943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0 / 0.10 / 0.15 / 0.20</a:t>
            </a:r>
            <a:endParaRPr lang="en-US" sz="1200" dirty="0"/>
          </a:p>
        </p:txBody>
      </p:sp>
      <p:sp>
        <p:nvSpPr>
          <p:cNvPr id="37" name="Text 34"/>
          <p:cNvSpPr txBox="1"/>
          <p:nvPr/>
        </p:nvSpPr>
        <p:spPr>
          <a:xfrm>
            <a:off x="457200" y="4297680"/>
            <a:ext cx="8229600" cy="320040"/>
          </a:xfrm>
          <a:prstGeom prst="rect">
            <a:avLst/>
          </a:prstGeom>
          <a:noFill/>
          <a:ln/>
        </p:spPr>
        <p:txBody>
          <a:bodyPr wrap="square" lIns="0" tIns="0" rIns="0" bIns="0" rtlCol="0" anchor="t"/>
          <a:lstStyle/>
          <a:p>
            <a:pPr algn="ctr" indent="0" marL="0">
              <a:buNone/>
            </a:pPr>
            <a:r>
              <a:rPr lang="en-US" sz="1400" i="1" dirty="0">
                <a:solidFill>
                  <a:srgbClr val="1B2140"/>
                </a:solidFill>
                <a:latin typeface="Calibri" pitchFamily="34" charset="0"/>
                <a:ea typeface="Calibri" pitchFamily="34" charset="-122"/>
                <a:cs typeface="Calibri" pitchFamily="34" charset="-120"/>
              </a:rPr>
              <a:t>Every delta is measured against the coarse composite. Total reward is clipped to ±10.</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REINFORCEMENT LEARNING</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PPO: actor-critic with a clipped update</a:t>
            </a:r>
            <a:endParaRPr lang="en-US" sz="3000" dirty="0"/>
          </a:p>
        </p:txBody>
      </p:sp>
      <p:sp>
        <p:nvSpPr>
          <p:cNvPr id="5" name="Shape 2"/>
          <p:cNvSpPr/>
          <p:nvPr/>
        </p:nvSpPr>
        <p:spPr>
          <a:xfrm>
            <a:off x="457200" y="1280160"/>
            <a:ext cx="4297680" cy="3337560"/>
          </a:xfrm>
          <a:prstGeom prst="roundRect">
            <a:avLst>
              <a:gd name="adj" fmla="val 3288"/>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6" name="Shape 3"/>
          <p:cNvSpPr/>
          <p:nvPr/>
        </p:nvSpPr>
        <p:spPr>
          <a:xfrm>
            <a:off x="640080" y="2331720"/>
            <a:ext cx="960120" cy="1005840"/>
          </a:xfrm>
          <a:prstGeom prst="roundRect">
            <a:avLst>
              <a:gd name="adj" fmla="val 9524"/>
            </a:avLst>
          </a:prstGeom>
          <a:solidFill>
            <a:srgbClr val="FFF0D6"/>
          </a:solidFill>
          <a:ln w="19050">
            <a:solidFill>
              <a:srgbClr val="F59E0B"/>
            </a:solidFill>
            <a:prstDash val="solid"/>
          </a:ln>
        </p:spPr>
      </p:sp>
      <p:sp>
        <p:nvSpPr>
          <p:cNvPr id="7" name="Text 4"/>
          <p:cNvSpPr txBox="1"/>
          <p:nvPr/>
        </p:nvSpPr>
        <p:spPr>
          <a:xfrm>
            <a:off x="713232" y="2331720"/>
            <a:ext cx="813816" cy="100584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State</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261-D</a:t>
            </a:r>
            <a:endParaRPr lang="en-US" sz="1300" dirty="0"/>
          </a:p>
        </p:txBody>
      </p:sp>
      <p:sp>
        <p:nvSpPr>
          <p:cNvPr id="8" name="Shape 5"/>
          <p:cNvSpPr/>
          <p:nvPr/>
        </p:nvSpPr>
        <p:spPr>
          <a:xfrm>
            <a:off x="1965960" y="1554480"/>
            <a:ext cx="1325880" cy="868680"/>
          </a:xfrm>
          <a:prstGeom prst="roundRect">
            <a:avLst>
              <a:gd name="adj" fmla="val 10526"/>
            </a:avLst>
          </a:prstGeom>
          <a:solidFill>
            <a:srgbClr val="E4E8FB"/>
          </a:solidFill>
          <a:ln w="19050">
            <a:solidFill>
              <a:srgbClr val="6D5DFC"/>
            </a:solidFill>
            <a:prstDash val="solid"/>
          </a:ln>
        </p:spPr>
      </p:sp>
      <p:sp>
        <p:nvSpPr>
          <p:cNvPr id="9" name="Text 6"/>
          <p:cNvSpPr txBox="1"/>
          <p:nvPr/>
        </p:nvSpPr>
        <p:spPr>
          <a:xfrm>
            <a:off x="2039112" y="1554480"/>
            <a:ext cx="1179576" cy="86868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Actor</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MLP 64 × 64</a:t>
            </a:r>
            <a:endParaRPr lang="en-US" sz="1300" dirty="0"/>
          </a:p>
        </p:txBody>
      </p:sp>
      <p:sp>
        <p:nvSpPr>
          <p:cNvPr id="10" name="Shape 7"/>
          <p:cNvSpPr/>
          <p:nvPr/>
        </p:nvSpPr>
        <p:spPr>
          <a:xfrm>
            <a:off x="1965960" y="3246120"/>
            <a:ext cx="1325880" cy="868680"/>
          </a:xfrm>
          <a:prstGeom prst="roundRect">
            <a:avLst>
              <a:gd name="adj" fmla="val 10526"/>
            </a:avLst>
          </a:prstGeom>
          <a:solidFill>
            <a:srgbClr val="DDF5EC"/>
          </a:solidFill>
          <a:ln w="19050">
            <a:solidFill>
              <a:srgbClr val="14B8A6"/>
            </a:solidFill>
            <a:prstDash val="solid"/>
          </a:ln>
        </p:spPr>
      </p:sp>
      <p:sp>
        <p:nvSpPr>
          <p:cNvPr id="11" name="Text 8"/>
          <p:cNvSpPr txBox="1"/>
          <p:nvPr/>
        </p:nvSpPr>
        <p:spPr>
          <a:xfrm>
            <a:off x="2039112" y="3246120"/>
            <a:ext cx="1179576" cy="868680"/>
          </a:xfrm>
          <a:prstGeom prst="rect">
            <a:avLst/>
          </a:prstGeom>
          <a:noFill/>
          <a:ln/>
        </p:spPr>
        <p:txBody>
          <a:bodyPr wrap="square" lIns="0" tIns="0" rIns="0" bIns="0" rtlCol="0" anchor="ctr"/>
          <a:lstStyle/>
          <a:p>
            <a:pPr algn="ctr" indent="0" marL="0">
              <a:buNone/>
            </a:pPr>
            <a:r>
              <a:rPr lang="en-US" sz="1300" b="1" dirty="0">
                <a:solidFill>
                  <a:srgbClr val="1B2140"/>
                </a:solidFill>
                <a:latin typeface="Calibri" pitchFamily="34" charset="0"/>
                <a:ea typeface="Calibri" pitchFamily="34" charset="-122"/>
                <a:cs typeface="Calibri" pitchFamily="34" charset="-120"/>
              </a:rPr>
              <a:t>Critic</a:t>
            </a:r>
            <a:endParaRPr lang="en-US" sz="1300" dirty="0"/>
          </a:p>
          <a:p>
            <a:pPr algn="ctr" indent="0" marL="0">
              <a:buNone/>
            </a:pPr>
            <a:r>
              <a:rPr lang="en-US" sz="1100" dirty="0">
                <a:solidFill>
                  <a:srgbClr val="5B6285"/>
                </a:solidFill>
                <a:latin typeface="Calibri" pitchFamily="34" charset="0"/>
                <a:ea typeface="Calibri" pitchFamily="34" charset="-122"/>
                <a:cs typeface="Calibri" pitchFamily="34" charset="-120"/>
              </a:rPr>
              <a:t>MLP 64 × 64</a:t>
            </a:r>
            <a:endParaRPr lang="en-US" sz="1300" dirty="0"/>
          </a:p>
        </p:txBody>
      </p:sp>
      <p:sp>
        <p:nvSpPr>
          <p:cNvPr id="12" name="Shape 9"/>
          <p:cNvSpPr/>
          <p:nvPr/>
        </p:nvSpPr>
        <p:spPr>
          <a:xfrm flipV="1">
            <a:off x="1600200" y="2011680"/>
            <a:ext cx="365760" cy="731520"/>
          </a:xfrm>
          <a:prstGeom prst="line">
            <a:avLst/>
          </a:prstGeom>
          <a:noFill/>
          <a:ln w="22860">
            <a:solidFill>
              <a:srgbClr val="5B6285"/>
            </a:solidFill>
            <a:prstDash val="solid"/>
            <a:tailEnd type="triangle"/>
          </a:ln>
        </p:spPr>
      </p:sp>
      <p:sp>
        <p:nvSpPr>
          <p:cNvPr id="13" name="Shape 10"/>
          <p:cNvSpPr/>
          <p:nvPr/>
        </p:nvSpPr>
        <p:spPr>
          <a:xfrm>
            <a:off x="1600200" y="2926080"/>
            <a:ext cx="365760" cy="731520"/>
          </a:xfrm>
          <a:prstGeom prst="line">
            <a:avLst/>
          </a:prstGeom>
          <a:noFill/>
          <a:ln w="22860">
            <a:solidFill>
              <a:srgbClr val="5B6285"/>
            </a:solidFill>
            <a:prstDash val="solid"/>
            <a:tailEnd type="triangle"/>
          </a:ln>
        </p:spPr>
      </p:sp>
      <p:sp>
        <p:nvSpPr>
          <p:cNvPr id="14" name="Shape 11"/>
          <p:cNvSpPr/>
          <p:nvPr/>
        </p:nvSpPr>
        <p:spPr>
          <a:xfrm>
            <a:off x="3291840" y="1984248"/>
            <a:ext cx="320040" cy="0"/>
          </a:xfrm>
          <a:prstGeom prst="line">
            <a:avLst/>
          </a:prstGeom>
          <a:noFill/>
          <a:ln w="22860">
            <a:solidFill>
              <a:srgbClr val="6D5DFC"/>
            </a:solidFill>
            <a:prstDash val="solid"/>
            <a:tailEnd type="triangle"/>
          </a:ln>
        </p:spPr>
      </p:sp>
      <p:sp>
        <p:nvSpPr>
          <p:cNvPr id="15" name="Shape 12"/>
          <p:cNvSpPr/>
          <p:nvPr/>
        </p:nvSpPr>
        <p:spPr>
          <a:xfrm>
            <a:off x="3291840" y="3675888"/>
            <a:ext cx="320040" cy="0"/>
          </a:xfrm>
          <a:prstGeom prst="line">
            <a:avLst/>
          </a:prstGeom>
          <a:noFill/>
          <a:ln w="22860">
            <a:solidFill>
              <a:srgbClr val="14B8A6"/>
            </a:solidFill>
            <a:prstDash val="solid"/>
            <a:tailEnd type="triangle"/>
          </a:ln>
        </p:spPr>
      </p:sp>
      <p:sp>
        <p:nvSpPr>
          <p:cNvPr id="16" name="Text 13"/>
          <p:cNvSpPr txBox="1"/>
          <p:nvPr/>
        </p:nvSpPr>
        <p:spPr>
          <a:xfrm>
            <a:off x="3611880" y="1371600"/>
            <a:ext cx="1051560" cy="228600"/>
          </a:xfrm>
          <a:prstGeom prst="rect">
            <a:avLst/>
          </a:prstGeom>
          <a:noFill/>
          <a:ln/>
        </p:spPr>
        <p:txBody>
          <a:bodyPr wrap="square" lIns="0" tIns="0" rIns="0" bIns="0" rtlCol="0" anchor="t"/>
          <a:lstStyle/>
          <a:p>
            <a:pPr algn="ctr" indent="0" marL="0">
              <a:buNone/>
            </a:pPr>
            <a:r>
              <a:rPr lang="en-US" sz="1200" b="1" dirty="0">
                <a:solidFill>
                  <a:srgbClr val="6D5DFC"/>
                </a:solidFill>
                <a:latin typeface="Calibri" pitchFamily="34" charset="0"/>
                <a:ea typeface="Calibri" pitchFamily="34" charset="-122"/>
                <a:cs typeface="Calibri" pitchFamily="34" charset="-120"/>
              </a:rPr>
              <a:t>π(a | s)</a:t>
            </a:r>
            <a:endParaRPr lang="en-US" sz="1200" dirty="0"/>
          </a:p>
        </p:txBody>
      </p:sp>
      <p:sp>
        <p:nvSpPr>
          <p:cNvPr id="17" name="Shape 14"/>
          <p:cNvSpPr/>
          <p:nvPr/>
        </p:nvSpPr>
        <p:spPr>
          <a:xfrm>
            <a:off x="3657600" y="2066544"/>
            <a:ext cx="182880" cy="402336"/>
          </a:xfrm>
          <a:prstGeom prst="rect">
            <a:avLst/>
          </a:prstGeom>
          <a:solidFill>
            <a:srgbClr val="6D5DFC"/>
          </a:solidFill>
          <a:ln w="12700">
            <a:solidFill>
              <a:srgbClr val="6D5DFC"/>
            </a:solidFill>
            <a:prstDash val="solid"/>
          </a:ln>
        </p:spPr>
      </p:sp>
      <p:sp>
        <p:nvSpPr>
          <p:cNvPr id="18" name="Shape 15"/>
          <p:cNvSpPr/>
          <p:nvPr/>
        </p:nvSpPr>
        <p:spPr>
          <a:xfrm>
            <a:off x="3904488" y="2249424"/>
            <a:ext cx="182880" cy="219456"/>
          </a:xfrm>
          <a:prstGeom prst="rect">
            <a:avLst/>
          </a:prstGeom>
          <a:solidFill>
            <a:srgbClr val="0EA5E9"/>
          </a:solidFill>
          <a:ln w="12700">
            <a:solidFill>
              <a:srgbClr val="0EA5E9"/>
            </a:solidFill>
            <a:prstDash val="solid"/>
          </a:ln>
        </p:spPr>
      </p:sp>
      <p:sp>
        <p:nvSpPr>
          <p:cNvPr id="19" name="Shape 16"/>
          <p:cNvSpPr/>
          <p:nvPr/>
        </p:nvSpPr>
        <p:spPr>
          <a:xfrm>
            <a:off x="4151376" y="1920240"/>
            <a:ext cx="182880" cy="548640"/>
          </a:xfrm>
          <a:prstGeom prst="rect">
            <a:avLst/>
          </a:prstGeom>
          <a:solidFill>
            <a:srgbClr val="F59E0B"/>
          </a:solidFill>
          <a:ln w="12700">
            <a:solidFill>
              <a:srgbClr val="F59E0B"/>
            </a:solidFill>
            <a:prstDash val="solid"/>
          </a:ln>
        </p:spPr>
      </p:sp>
      <p:sp>
        <p:nvSpPr>
          <p:cNvPr id="20" name="Shape 17"/>
          <p:cNvSpPr/>
          <p:nvPr/>
        </p:nvSpPr>
        <p:spPr>
          <a:xfrm>
            <a:off x="4398264" y="2176272"/>
            <a:ext cx="182880" cy="292608"/>
          </a:xfrm>
          <a:prstGeom prst="rect">
            <a:avLst/>
          </a:prstGeom>
          <a:solidFill>
            <a:srgbClr val="EC4899"/>
          </a:solidFill>
          <a:ln w="12700">
            <a:solidFill>
              <a:srgbClr val="EC4899"/>
            </a:solidFill>
            <a:prstDash val="solid"/>
          </a:ln>
        </p:spPr>
      </p:sp>
      <p:sp>
        <p:nvSpPr>
          <p:cNvPr id="21" name="Text 18"/>
          <p:cNvSpPr txBox="1"/>
          <p:nvPr/>
        </p:nvSpPr>
        <p:spPr>
          <a:xfrm>
            <a:off x="3566160" y="2542032"/>
            <a:ext cx="1143000" cy="365760"/>
          </a:xfrm>
          <a:prstGeom prst="rect">
            <a:avLst/>
          </a:prstGeom>
          <a:noFill/>
          <a:ln/>
        </p:spPr>
        <p:txBody>
          <a:bodyPr wrap="square" lIns="0" tIns="0" rIns="0" bIns="0" rtlCol="0" anchor="t"/>
          <a:lstStyle/>
          <a:p>
            <a:pPr algn="ctr" indent="0" marL="0">
              <a:buNone/>
            </a:pPr>
            <a:r>
              <a:rPr lang="en-US" sz="1000" dirty="0">
                <a:solidFill>
                  <a:srgbClr val="5B6285"/>
                </a:solidFill>
                <a:latin typeface="Calibri" pitchFamily="34" charset="0"/>
                <a:ea typeface="Calibri" pitchFamily="34" charset="-122"/>
                <a:cs typeface="Calibri" pitchFamily="34" charset="-120"/>
              </a:rPr>
              <a:t>softmax over 4 adapters (schematic)</a:t>
            </a:r>
            <a:endParaRPr lang="en-US" sz="1000" dirty="0"/>
          </a:p>
        </p:txBody>
      </p:sp>
      <p:sp>
        <p:nvSpPr>
          <p:cNvPr id="22" name="Shape 19"/>
          <p:cNvSpPr/>
          <p:nvPr/>
        </p:nvSpPr>
        <p:spPr>
          <a:xfrm>
            <a:off x="3657600" y="3474720"/>
            <a:ext cx="1005840" cy="411480"/>
          </a:xfrm>
          <a:prstGeom prst="roundRect">
            <a:avLst>
              <a:gd name="adj" fmla="val 17778"/>
            </a:avLst>
          </a:prstGeom>
          <a:solidFill>
            <a:srgbClr val="14B8A6"/>
          </a:solidFill>
          <a:ln w="12700">
            <a:solidFill>
              <a:srgbClr val="14B8A6"/>
            </a:solidFill>
            <a:prstDash val="solid"/>
          </a:ln>
        </p:spPr>
      </p:sp>
      <p:sp>
        <p:nvSpPr>
          <p:cNvPr id="23" name="Text 20"/>
          <p:cNvSpPr txBox="1"/>
          <p:nvPr/>
        </p:nvSpPr>
        <p:spPr>
          <a:xfrm>
            <a:off x="3657600" y="3474720"/>
            <a:ext cx="10058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V(s)</a:t>
            </a:r>
            <a:endParaRPr lang="en-US" sz="1500" dirty="0"/>
          </a:p>
        </p:txBody>
      </p:sp>
      <p:sp>
        <p:nvSpPr>
          <p:cNvPr id="24" name="Text 21"/>
          <p:cNvSpPr txBox="1"/>
          <p:nvPr/>
        </p:nvSpPr>
        <p:spPr>
          <a:xfrm>
            <a:off x="3566160" y="3931920"/>
            <a:ext cx="1188720" cy="228600"/>
          </a:xfrm>
          <a:prstGeom prst="rect">
            <a:avLst/>
          </a:prstGeom>
          <a:noFill/>
          <a:ln/>
        </p:spPr>
        <p:txBody>
          <a:bodyPr wrap="square" lIns="0" tIns="0" rIns="0" bIns="0" rtlCol="0" anchor="t"/>
          <a:lstStyle/>
          <a:p>
            <a:pPr algn="ctr" indent="0" marL="0">
              <a:buNone/>
            </a:pPr>
            <a:r>
              <a:rPr lang="en-US" sz="1000" dirty="0">
                <a:solidFill>
                  <a:srgbClr val="5B6285"/>
                </a:solidFill>
                <a:latin typeface="Calibri" pitchFamily="34" charset="0"/>
                <a:ea typeface="Calibri" pitchFamily="34" charset="-122"/>
                <a:cs typeface="Calibri" pitchFamily="34" charset="-120"/>
              </a:rPr>
              <a:t>expected reward</a:t>
            </a:r>
            <a:endParaRPr lang="en-US" sz="1000" dirty="0"/>
          </a:p>
        </p:txBody>
      </p:sp>
      <p:sp>
        <p:nvSpPr>
          <p:cNvPr id="25" name="Shape 22"/>
          <p:cNvSpPr/>
          <p:nvPr/>
        </p:nvSpPr>
        <p:spPr>
          <a:xfrm>
            <a:off x="4937760" y="1280160"/>
            <a:ext cx="374904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6" name="Text 23"/>
          <p:cNvSpPr txBox="1"/>
          <p:nvPr/>
        </p:nvSpPr>
        <p:spPr>
          <a:xfrm>
            <a:off x="5120640" y="1389888"/>
            <a:ext cx="3474720" cy="201168"/>
          </a:xfrm>
          <a:prstGeom prst="rect">
            <a:avLst/>
          </a:prstGeom>
          <a:noFill/>
          <a:ln/>
        </p:spPr>
        <p:txBody>
          <a:bodyPr wrap="square" lIns="0" tIns="0" rIns="0" bIns="0" rtlCol="0" anchor="t"/>
          <a:lstStyle/>
          <a:p>
            <a:pPr indent="0" marL="0">
              <a:buNone/>
            </a:pPr>
            <a:r>
              <a:rPr lang="en-US" sz="1000" b="1" spc="200" kern="0" dirty="0">
                <a:solidFill>
                  <a:srgbClr val="6D5DFC"/>
                </a:solidFill>
                <a:latin typeface="Calibri" pitchFamily="34" charset="0"/>
                <a:ea typeface="Calibri" pitchFamily="34" charset="-122"/>
                <a:cs typeface="Calibri" pitchFamily="34" charset="-120"/>
              </a:rPr>
              <a:t>ADVANTAGE</a:t>
            </a:r>
            <a:endParaRPr lang="en-US" sz="1000" dirty="0"/>
          </a:p>
        </p:txBody>
      </p:sp>
      <p:sp>
        <p:nvSpPr>
          <p:cNvPr id="27" name="Text 24"/>
          <p:cNvSpPr txBox="1"/>
          <p:nvPr/>
        </p:nvSpPr>
        <p:spPr>
          <a:xfrm>
            <a:off x="5120640" y="1627632"/>
            <a:ext cx="3474720" cy="365760"/>
          </a:xfrm>
          <a:prstGeom prst="rect">
            <a:avLst/>
          </a:prstGeom>
          <a:noFill/>
          <a:ln/>
        </p:spPr>
        <p:txBody>
          <a:bodyPr wrap="square" lIns="0" tIns="0" rIns="0" bIns="0" rtlCol="0" anchor="ctr"/>
          <a:lstStyle/>
          <a:p>
            <a:pPr indent="0" marL="0">
              <a:buNone/>
            </a:pPr>
            <a:r>
              <a:rPr lang="en-US" sz="1500" b="1" dirty="0">
                <a:solidFill>
                  <a:srgbClr val="1B2140"/>
                </a:solidFill>
                <a:latin typeface="Cambria" pitchFamily="34" charset="0"/>
                <a:ea typeface="Cambria" pitchFamily="34" charset="-122"/>
                <a:cs typeface="Cambria" pitchFamily="34" charset="-120"/>
              </a:rPr>
              <a:t>A = r − V(s)</a:t>
            </a:r>
            <a:endParaRPr lang="en-US" sz="1500" dirty="0"/>
          </a:p>
        </p:txBody>
      </p:sp>
      <p:sp>
        <p:nvSpPr>
          <p:cNvPr id="28" name="Text 25"/>
          <p:cNvSpPr txBox="1"/>
          <p:nvPr/>
        </p:nvSpPr>
        <p:spPr>
          <a:xfrm>
            <a:off x="5120640" y="2011680"/>
            <a:ext cx="3474720" cy="2286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γ = 0, so no bootstrapping</a:t>
            </a:r>
            <a:endParaRPr lang="en-US" sz="1200" dirty="0"/>
          </a:p>
        </p:txBody>
      </p:sp>
      <p:sp>
        <p:nvSpPr>
          <p:cNvPr id="29" name="Shape 26"/>
          <p:cNvSpPr/>
          <p:nvPr/>
        </p:nvSpPr>
        <p:spPr>
          <a:xfrm>
            <a:off x="4937760" y="2423160"/>
            <a:ext cx="374904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0" name="Text 27"/>
          <p:cNvSpPr txBox="1"/>
          <p:nvPr/>
        </p:nvSpPr>
        <p:spPr>
          <a:xfrm>
            <a:off x="5120640" y="2532888"/>
            <a:ext cx="3474720" cy="201168"/>
          </a:xfrm>
          <a:prstGeom prst="rect">
            <a:avLst/>
          </a:prstGeom>
          <a:noFill/>
          <a:ln/>
        </p:spPr>
        <p:txBody>
          <a:bodyPr wrap="square" lIns="0" tIns="0" rIns="0" bIns="0" rtlCol="0" anchor="t"/>
          <a:lstStyle/>
          <a:p>
            <a:pPr indent="0" marL="0">
              <a:buNone/>
            </a:pPr>
            <a:r>
              <a:rPr lang="en-US" sz="1000" b="1" spc="200" kern="0" dirty="0">
                <a:solidFill>
                  <a:srgbClr val="F59E0B"/>
                </a:solidFill>
                <a:latin typeface="Calibri" pitchFamily="34" charset="0"/>
                <a:ea typeface="Calibri" pitchFamily="34" charset="-122"/>
                <a:cs typeface="Calibri" pitchFamily="34" charset="-120"/>
              </a:rPr>
              <a:t>CLIPPED OBJECTIVE</a:t>
            </a:r>
            <a:endParaRPr lang="en-US" sz="1000" dirty="0"/>
          </a:p>
        </p:txBody>
      </p:sp>
      <p:sp>
        <p:nvSpPr>
          <p:cNvPr id="31" name="Text 28"/>
          <p:cNvSpPr txBox="1"/>
          <p:nvPr/>
        </p:nvSpPr>
        <p:spPr>
          <a:xfrm>
            <a:off x="5120640" y="2770632"/>
            <a:ext cx="3474720" cy="365760"/>
          </a:xfrm>
          <a:prstGeom prst="rect">
            <a:avLst/>
          </a:prstGeom>
          <a:noFill/>
          <a:ln/>
        </p:spPr>
        <p:txBody>
          <a:bodyPr wrap="square" lIns="0" tIns="0" rIns="0" bIns="0" rtlCol="0" anchor="ctr"/>
          <a:lstStyle/>
          <a:p>
            <a:pPr indent="0" marL="0">
              <a:buNone/>
            </a:pPr>
            <a:r>
              <a:rPr lang="en-US" sz="1500" b="1" dirty="0">
                <a:solidFill>
                  <a:srgbClr val="1B2140"/>
                </a:solidFill>
                <a:latin typeface="Cambria" pitchFamily="34" charset="0"/>
                <a:ea typeface="Cambria" pitchFamily="34" charset="-122"/>
                <a:cs typeface="Cambria" pitchFamily="34" charset="-120"/>
              </a:rPr>
              <a:t>min( ρ·A, clip(ρ, 1−ε, 1+ε)·A )</a:t>
            </a:r>
            <a:endParaRPr lang="en-US" sz="1500" dirty="0"/>
          </a:p>
        </p:txBody>
      </p:sp>
      <p:sp>
        <p:nvSpPr>
          <p:cNvPr id="32" name="Text 29"/>
          <p:cNvSpPr txBox="1"/>
          <p:nvPr/>
        </p:nvSpPr>
        <p:spPr>
          <a:xfrm>
            <a:off x="5120640" y="3154680"/>
            <a:ext cx="3474720" cy="2286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ρ = π_new / π_old, ε = 0.2</a:t>
            </a:r>
            <a:endParaRPr lang="en-US" sz="1200" dirty="0"/>
          </a:p>
        </p:txBody>
      </p:sp>
      <p:sp>
        <p:nvSpPr>
          <p:cNvPr id="33" name="Shape 30"/>
          <p:cNvSpPr/>
          <p:nvPr/>
        </p:nvSpPr>
        <p:spPr>
          <a:xfrm>
            <a:off x="4937760" y="3566160"/>
            <a:ext cx="374904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4" name="Text 31"/>
          <p:cNvSpPr txBox="1"/>
          <p:nvPr/>
        </p:nvSpPr>
        <p:spPr>
          <a:xfrm>
            <a:off x="5120640" y="3675888"/>
            <a:ext cx="3474720" cy="201168"/>
          </a:xfrm>
          <a:prstGeom prst="rect">
            <a:avLst/>
          </a:prstGeom>
          <a:noFill/>
          <a:ln/>
        </p:spPr>
        <p:txBody>
          <a:bodyPr wrap="square" lIns="0" tIns="0" rIns="0" bIns="0" rtlCol="0" anchor="t"/>
          <a:lstStyle/>
          <a:p>
            <a:pPr indent="0" marL="0">
              <a:buNone/>
            </a:pPr>
            <a:r>
              <a:rPr lang="en-US" sz="1000" b="1" spc="200" kern="0" dirty="0">
                <a:solidFill>
                  <a:srgbClr val="EC4899"/>
                </a:solidFill>
                <a:latin typeface="Calibri" pitchFamily="34" charset="0"/>
                <a:ea typeface="Calibri" pitchFamily="34" charset="-122"/>
                <a:cs typeface="Calibri" pitchFamily="34" charset="-120"/>
              </a:rPr>
              <a:t>TOTAL LOSS</a:t>
            </a:r>
            <a:endParaRPr lang="en-US" sz="1000" dirty="0"/>
          </a:p>
        </p:txBody>
      </p:sp>
      <p:sp>
        <p:nvSpPr>
          <p:cNvPr id="35" name="Text 32"/>
          <p:cNvSpPr txBox="1"/>
          <p:nvPr/>
        </p:nvSpPr>
        <p:spPr>
          <a:xfrm>
            <a:off x="5120640" y="3913632"/>
            <a:ext cx="3474720" cy="365760"/>
          </a:xfrm>
          <a:prstGeom prst="rect">
            <a:avLst/>
          </a:prstGeom>
          <a:noFill/>
          <a:ln/>
        </p:spPr>
        <p:txBody>
          <a:bodyPr wrap="square" lIns="0" tIns="0" rIns="0" bIns="0" rtlCol="0" anchor="ctr"/>
          <a:lstStyle/>
          <a:p>
            <a:pPr indent="0" marL="0">
              <a:buNone/>
            </a:pPr>
            <a:r>
              <a:rPr lang="en-US" sz="1500" b="1" dirty="0">
                <a:solidFill>
                  <a:srgbClr val="1B2140"/>
                </a:solidFill>
                <a:latin typeface="Cambria" pitchFamily="34" charset="0"/>
                <a:ea typeface="Cambria" pitchFamily="34" charset="-122"/>
                <a:cs typeface="Cambria" pitchFamily="34" charset="-120"/>
              </a:rPr>
              <a:t>−L_clip + 0.5·L_V − 0.05·H(π)</a:t>
            </a:r>
            <a:endParaRPr lang="en-US" sz="1500" dirty="0"/>
          </a:p>
        </p:txBody>
      </p:sp>
      <p:sp>
        <p:nvSpPr>
          <p:cNvPr id="36" name="Text 33"/>
          <p:cNvSpPr txBox="1"/>
          <p:nvPr/>
        </p:nvSpPr>
        <p:spPr>
          <a:xfrm>
            <a:off x="5120640" y="4297680"/>
            <a:ext cx="3474720" cy="2286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entropy bonus keeps all 4 adapters in play</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TRAINING</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Two stages, backbone never updated</a:t>
            </a:r>
            <a:endParaRPr lang="en-US" sz="3000" dirty="0"/>
          </a:p>
        </p:txBody>
      </p:sp>
      <p:sp>
        <p:nvSpPr>
          <p:cNvPr id="5" name="Shape 2"/>
          <p:cNvSpPr/>
          <p:nvPr/>
        </p:nvSpPr>
        <p:spPr>
          <a:xfrm>
            <a:off x="457200" y="1280160"/>
            <a:ext cx="356616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6" name="Shape 3"/>
          <p:cNvSpPr/>
          <p:nvPr/>
        </p:nvSpPr>
        <p:spPr>
          <a:xfrm>
            <a:off x="640080" y="1417320"/>
            <a:ext cx="457200" cy="457200"/>
          </a:xfrm>
          <a:prstGeom prst="ellipse">
            <a:avLst/>
          </a:prstGeom>
          <a:solidFill>
            <a:srgbClr val="6D5DFC"/>
          </a:solidFill>
          <a:ln w="12700">
            <a:solidFill>
              <a:srgbClr val="6D5DFC"/>
            </a:solidFill>
            <a:prstDash val="solid"/>
          </a:ln>
        </p:spPr>
      </p:sp>
      <p:sp>
        <p:nvSpPr>
          <p:cNvPr id="7" name="Text 4"/>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234440" y="1417320"/>
            <a:ext cx="2651760" cy="457200"/>
          </a:xfrm>
          <a:prstGeom prst="rect">
            <a:avLst/>
          </a:prstGeom>
          <a:noFill/>
          <a:ln/>
        </p:spPr>
        <p:txBody>
          <a:bodyPr wrap="square" lIns="0" tIns="0" rIns="0" bIns="0" rtlCol="0" anchor="ctr"/>
          <a:lstStyle/>
          <a:p>
            <a:pPr indent="0" marL="0">
              <a:buNone/>
            </a:pPr>
            <a:r>
              <a:rPr lang="en-US" sz="1700" b="1" dirty="0">
                <a:solidFill>
                  <a:srgbClr val="1B2140"/>
                </a:solidFill>
                <a:latin typeface="Cambria" pitchFamily="34" charset="0"/>
                <a:ea typeface="Cambria" pitchFamily="34" charset="-122"/>
                <a:cs typeface="Cambria" pitchFamily="34" charset="-120"/>
              </a:rPr>
              <a:t>Adapter pretraining</a:t>
            </a:r>
            <a:endParaRPr lang="en-US" sz="1700" dirty="0"/>
          </a:p>
        </p:txBody>
      </p:sp>
      <p:sp>
        <p:nvSpPr>
          <p:cNvPr id="9" name="Text 6"/>
          <p:cNvSpPr txBox="1"/>
          <p:nvPr/>
        </p:nvSpPr>
        <p:spPr>
          <a:xfrm>
            <a:off x="685800" y="2011680"/>
            <a:ext cx="3200400" cy="91440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COCO val2017, random stroke masks</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Own loss for each adapter</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Adam 1e-4, batch 4, 5 epochs</a:t>
            </a:r>
            <a:endParaRPr lang="en-US" sz="1300" dirty="0"/>
          </a:p>
        </p:txBody>
      </p:sp>
      <p:sp>
        <p:nvSpPr>
          <p:cNvPr id="10" name="Shape 7"/>
          <p:cNvSpPr/>
          <p:nvPr/>
        </p:nvSpPr>
        <p:spPr>
          <a:xfrm>
            <a:off x="4206240" y="1600200"/>
            <a:ext cx="731520" cy="1143000"/>
          </a:xfrm>
          <a:prstGeom prst="roundRect">
            <a:avLst>
              <a:gd name="adj" fmla="val 12500"/>
            </a:avLst>
          </a:prstGeom>
          <a:solidFill>
            <a:srgbClr val="DDF5EC"/>
          </a:solidFill>
          <a:ln w="19050">
            <a:solidFill>
              <a:srgbClr val="14B8A6"/>
            </a:solidFill>
            <a:prstDash val="solid"/>
          </a:ln>
        </p:spPr>
      </p:sp>
      <p:sp>
        <p:nvSpPr>
          <p:cNvPr id="11" name="Shape 8"/>
          <p:cNvSpPr/>
          <p:nvPr/>
        </p:nvSpPr>
        <p:spPr>
          <a:xfrm>
            <a:off x="4407408" y="1709928"/>
            <a:ext cx="329184" cy="329184"/>
          </a:xfrm>
          <a:prstGeom prst="ellipse">
            <a:avLst/>
          </a:prstGeom>
          <a:solidFill>
            <a:srgbClr val="14B8A6"/>
          </a:solidFill>
          <a:ln w="12700">
            <a:solidFill>
              <a:srgbClr val="14B8A6"/>
            </a:solidFill>
            <a:prstDash val="solid"/>
          </a:ln>
        </p:spPr>
      </p:sp>
      <p:pic>
        <p:nvPicPr>
          <p:cNvPr id="12" name="Image 0" descr="preencoded.png">    </p:cNvPr>
          <p:cNvPicPr>
            <a:picLocks noChangeAspect="1"/>
          </p:cNvPicPr>
          <p:nvPr/>
        </p:nvPicPr>
        <p:blipFill>
          <a:blip r:embed="rId1"/>
          <a:stretch>
            <a:fillRect/>
          </a:stretch>
        </p:blipFill>
        <p:spPr>
          <a:xfrm>
            <a:off x="4489704" y="1792224"/>
            <a:ext cx="164592" cy="164592"/>
          </a:xfrm>
          <a:prstGeom prst="rect">
            <a:avLst/>
          </a:prstGeom>
        </p:spPr>
      </p:pic>
      <p:sp>
        <p:nvSpPr>
          <p:cNvPr id="13" name="Text 9"/>
          <p:cNvSpPr txBox="1"/>
          <p:nvPr/>
        </p:nvSpPr>
        <p:spPr>
          <a:xfrm>
            <a:off x="4206240" y="2093976"/>
            <a:ext cx="731520" cy="228600"/>
          </a:xfrm>
          <a:prstGeom prst="rect">
            <a:avLst/>
          </a:prstGeom>
          <a:noFill/>
          <a:ln/>
        </p:spPr>
        <p:txBody>
          <a:bodyPr wrap="square" lIns="0" tIns="0" rIns="0" bIns="0" rtlCol="0" anchor="t"/>
          <a:lstStyle/>
          <a:p>
            <a:pPr algn="ctr" indent="0" marL="0">
              <a:buNone/>
            </a:pPr>
            <a:r>
              <a:rPr lang="en-US" sz="1000" b="1" dirty="0">
                <a:solidFill>
                  <a:srgbClr val="0F766E"/>
                </a:solidFill>
                <a:latin typeface="Calibri" pitchFamily="34" charset="0"/>
                <a:ea typeface="Calibri" pitchFamily="34" charset="-122"/>
                <a:cs typeface="Calibri" pitchFamily="34" charset="-120"/>
              </a:rPr>
              <a:t>verify gate</a:t>
            </a:r>
            <a:endParaRPr lang="en-US" sz="1000" dirty="0"/>
          </a:p>
        </p:txBody>
      </p:sp>
      <p:sp>
        <p:nvSpPr>
          <p:cNvPr id="14" name="Text 10"/>
          <p:cNvSpPr txBox="1"/>
          <p:nvPr/>
        </p:nvSpPr>
        <p:spPr>
          <a:xfrm>
            <a:off x="4224528" y="2304288"/>
            <a:ext cx="694944" cy="411480"/>
          </a:xfrm>
          <a:prstGeom prst="rect">
            <a:avLst/>
          </a:prstGeom>
          <a:noFill/>
          <a:ln/>
        </p:spPr>
        <p:txBody>
          <a:bodyPr wrap="square" lIns="0" tIns="0" rIns="0" bIns="0" rtlCol="0" anchor="t"/>
          <a:lstStyle/>
          <a:p>
            <a:pPr algn="ctr" indent="0" marL="0">
              <a:buNone/>
            </a:pPr>
            <a:r>
              <a:rPr lang="en-US" sz="900" dirty="0">
                <a:solidFill>
                  <a:srgbClr val="5B6285"/>
                </a:solidFill>
                <a:latin typeface="Calibri" pitchFamily="34" charset="0"/>
                <a:ea typeface="Calibri" pitchFamily="34" charset="-122"/>
                <a:cs typeface="Calibri" pitchFamily="34" charset="-120"/>
              </a:rPr>
              <a:t>no strategy &gt; 80%</a:t>
            </a:r>
            <a:endParaRPr lang="en-US" sz="900" dirty="0"/>
          </a:p>
        </p:txBody>
      </p:sp>
      <p:sp>
        <p:nvSpPr>
          <p:cNvPr id="15" name="Shape 11"/>
          <p:cNvSpPr/>
          <p:nvPr/>
        </p:nvSpPr>
        <p:spPr>
          <a:xfrm>
            <a:off x="4023360" y="2167128"/>
            <a:ext cx="182880" cy="0"/>
          </a:xfrm>
          <a:prstGeom prst="line">
            <a:avLst/>
          </a:prstGeom>
          <a:noFill/>
          <a:ln w="25400">
            <a:solidFill>
              <a:srgbClr val="5B6285"/>
            </a:solidFill>
            <a:prstDash val="solid"/>
            <a:tailEnd type="triangle"/>
          </a:ln>
        </p:spPr>
      </p:sp>
      <p:sp>
        <p:nvSpPr>
          <p:cNvPr id="16" name="Shape 12"/>
          <p:cNvSpPr/>
          <p:nvPr/>
        </p:nvSpPr>
        <p:spPr>
          <a:xfrm>
            <a:off x="4937760" y="2167128"/>
            <a:ext cx="182880" cy="0"/>
          </a:xfrm>
          <a:prstGeom prst="line">
            <a:avLst/>
          </a:prstGeom>
          <a:noFill/>
          <a:ln w="25400">
            <a:solidFill>
              <a:srgbClr val="5B6285"/>
            </a:solidFill>
            <a:prstDash val="solid"/>
            <a:tailEnd type="triangle"/>
          </a:ln>
        </p:spPr>
      </p:sp>
      <p:sp>
        <p:nvSpPr>
          <p:cNvPr id="17" name="Shape 13"/>
          <p:cNvSpPr/>
          <p:nvPr/>
        </p:nvSpPr>
        <p:spPr>
          <a:xfrm>
            <a:off x="5120640" y="1280160"/>
            <a:ext cx="356616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8" name="Shape 14"/>
          <p:cNvSpPr/>
          <p:nvPr/>
        </p:nvSpPr>
        <p:spPr>
          <a:xfrm>
            <a:off x="5303520" y="1417320"/>
            <a:ext cx="457200" cy="457200"/>
          </a:xfrm>
          <a:prstGeom prst="ellipse">
            <a:avLst/>
          </a:prstGeom>
          <a:solidFill>
            <a:srgbClr val="F59E0B"/>
          </a:solidFill>
          <a:ln w="12700">
            <a:solidFill>
              <a:srgbClr val="F59E0B"/>
            </a:solidFill>
            <a:prstDash val="solid"/>
          </a:ln>
        </p:spPr>
      </p:sp>
      <p:sp>
        <p:nvSpPr>
          <p:cNvPr id="19" name="Text 15"/>
          <p:cNvSpPr txBox="1"/>
          <p:nvPr/>
        </p:nvSpPr>
        <p:spPr>
          <a:xfrm>
            <a:off x="530352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0" name="Text 16"/>
          <p:cNvSpPr txBox="1"/>
          <p:nvPr/>
        </p:nvSpPr>
        <p:spPr>
          <a:xfrm>
            <a:off x="5897880" y="1417320"/>
            <a:ext cx="2651760" cy="457200"/>
          </a:xfrm>
          <a:prstGeom prst="rect">
            <a:avLst/>
          </a:prstGeom>
          <a:noFill/>
          <a:ln/>
        </p:spPr>
        <p:txBody>
          <a:bodyPr wrap="square" lIns="0" tIns="0" rIns="0" bIns="0" rtlCol="0" anchor="ctr"/>
          <a:lstStyle/>
          <a:p>
            <a:pPr indent="0" marL="0">
              <a:buNone/>
            </a:pPr>
            <a:r>
              <a:rPr lang="en-US" sz="1700" b="1" dirty="0">
                <a:solidFill>
                  <a:srgbClr val="1B2140"/>
                </a:solidFill>
                <a:latin typeface="Cambria" pitchFamily="34" charset="0"/>
                <a:ea typeface="Cambria" pitchFamily="34" charset="-122"/>
                <a:cs typeface="Cambria" pitchFamily="34" charset="-120"/>
              </a:rPr>
              <a:t>PPO bandit training</a:t>
            </a:r>
            <a:endParaRPr lang="en-US" sz="1700" dirty="0"/>
          </a:p>
        </p:txBody>
      </p:sp>
      <p:sp>
        <p:nvSpPr>
          <p:cNvPr id="21" name="Text 17"/>
          <p:cNvSpPr txBox="1"/>
          <p:nvPr/>
        </p:nvSpPr>
        <p:spPr>
          <a:xfrm>
            <a:off x="5349240" y="2011680"/>
            <a:ext cx="3200400" cy="91440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Stable-Baselines3 PPO, γ = 0, seed 42</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Backbone and adapters frozen</a:t>
            </a:r>
            <a:endParaRPr lang="en-US" sz="1300" dirty="0"/>
          </a:p>
          <a:p>
            <a:pPr marL="177800" indent="-177800">
              <a:spcAft>
                <a:spcPts val="300"/>
              </a:spcAft>
              <a:buSzPct val="100000"/>
              <a:buChar char="•"/>
            </a:pPr>
            <a:r>
              <a:rPr lang="en-US" sz="1300" dirty="0">
                <a:solidFill>
                  <a:srgbClr val="1B2140"/>
                </a:solidFill>
                <a:latin typeface="Calibri" pitchFamily="34" charset="0"/>
                <a:ea typeface="Calibri" pitchFamily="34" charset="-122"/>
                <a:cs typeface="Calibri" pitchFamily="34" charset="-120"/>
              </a:rPr>
              <a:t>lr 3e-4, entropy coef 0.05</a:t>
            </a:r>
            <a:endParaRPr lang="en-US" sz="1300" dirty="0"/>
          </a:p>
        </p:txBody>
      </p:sp>
      <p:sp>
        <p:nvSpPr>
          <p:cNvPr id="22" name="Text 18"/>
          <p:cNvSpPr txBox="1"/>
          <p:nvPr/>
        </p:nvSpPr>
        <p:spPr>
          <a:xfrm>
            <a:off x="457200" y="3154680"/>
            <a:ext cx="4572000" cy="201168"/>
          </a:xfrm>
          <a:prstGeom prst="rect">
            <a:avLst/>
          </a:prstGeom>
          <a:noFill/>
          <a:ln/>
        </p:spPr>
        <p:txBody>
          <a:bodyPr wrap="square" lIns="0" tIns="0" rIns="0" bIns="0" rtlCol="0" anchor="t"/>
          <a:lstStyle/>
          <a:p>
            <a:pPr indent="0" marL="0">
              <a:buNone/>
            </a:pPr>
            <a:r>
              <a:rPr lang="en-US" sz="1000" b="1" spc="300" kern="0" dirty="0">
                <a:solidFill>
                  <a:srgbClr val="6D5DFC"/>
                </a:solidFill>
                <a:latin typeface="Calibri" pitchFamily="34" charset="0"/>
                <a:ea typeface="Calibri" pitchFamily="34" charset="-122"/>
                <a:cs typeface="Calibri" pitchFamily="34" charset="-120"/>
              </a:rPr>
              <a:t>ONE PPO ITERATION</a:t>
            </a:r>
            <a:endParaRPr lang="en-US" sz="1000" dirty="0"/>
          </a:p>
        </p:txBody>
      </p:sp>
      <p:sp>
        <p:nvSpPr>
          <p:cNvPr id="23" name="Shape 19"/>
          <p:cNvSpPr/>
          <p:nvPr/>
        </p:nvSpPr>
        <p:spPr>
          <a:xfrm>
            <a:off x="457200" y="3429000"/>
            <a:ext cx="182880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4" name="Shape 20"/>
          <p:cNvSpPr/>
          <p:nvPr/>
        </p:nvSpPr>
        <p:spPr>
          <a:xfrm>
            <a:off x="594360" y="3566160"/>
            <a:ext cx="457200" cy="457200"/>
          </a:xfrm>
          <a:prstGeom prst="ellipse">
            <a:avLst/>
          </a:prstGeom>
          <a:solidFill>
            <a:srgbClr val="6D5DFC"/>
          </a:solidFill>
          <a:ln w="12700">
            <a:solidFill>
              <a:srgbClr val="6D5DFC"/>
            </a:solidFill>
            <a:prstDash val="solid"/>
          </a:ln>
        </p:spPr>
      </p:sp>
      <p:pic>
        <p:nvPicPr>
          <p:cNvPr id="25" name="Image 1" descr="preencoded.png">    </p:cNvPr>
          <p:cNvPicPr>
            <a:picLocks noChangeAspect="1"/>
          </p:cNvPicPr>
          <p:nvPr/>
        </p:nvPicPr>
        <p:blipFill>
          <a:blip r:embed="rId2"/>
          <a:stretch>
            <a:fillRect/>
          </a:stretch>
        </p:blipFill>
        <p:spPr>
          <a:xfrm>
            <a:off x="708660" y="3680460"/>
            <a:ext cx="228600" cy="228600"/>
          </a:xfrm>
          <a:prstGeom prst="rect">
            <a:avLst/>
          </a:prstGeom>
        </p:spPr>
      </p:pic>
      <p:sp>
        <p:nvSpPr>
          <p:cNvPr id="26" name="Text 21"/>
          <p:cNvSpPr txBox="1"/>
          <p:nvPr/>
        </p:nvSpPr>
        <p:spPr>
          <a:xfrm>
            <a:off x="1143000" y="3566160"/>
            <a:ext cx="1097280" cy="457200"/>
          </a:xfrm>
          <a:prstGeom prst="rect">
            <a:avLst/>
          </a:prstGeom>
          <a:noFill/>
          <a:ln/>
        </p:spPr>
        <p:txBody>
          <a:bodyPr wrap="square" lIns="0" tIns="0" rIns="0" bIns="0" rtlCol="0" anchor="ctr"/>
          <a:lstStyle/>
          <a:p>
            <a:pPr indent="0" marL="0">
              <a:buNone/>
            </a:pPr>
            <a:r>
              <a:rPr lang="en-US" sz="1500" b="1" dirty="0">
                <a:solidFill>
                  <a:srgbClr val="1B2140"/>
                </a:solidFill>
                <a:latin typeface="Calibri" pitchFamily="34" charset="0"/>
                <a:ea typeface="Calibri" pitchFamily="34" charset="-122"/>
                <a:cs typeface="Calibri" pitchFamily="34" charset="-120"/>
              </a:rPr>
              <a:t>Rollout</a:t>
            </a:r>
            <a:endParaRPr lang="en-US" sz="1500" dirty="0"/>
          </a:p>
        </p:txBody>
      </p:sp>
      <p:sp>
        <p:nvSpPr>
          <p:cNvPr id="27" name="Text 22"/>
          <p:cNvSpPr txBox="1"/>
          <p:nvPr/>
        </p:nvSpPr>
        <p:spPr>
          <a:xfrm>
            <a:off x="594360" y="4114800"/>
            <a:ext cx="1600200" cy="4572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128 one-step episodes</a:t>
            </a:r>
            <a:endParaRPr lang="en-US" sz="1200" dirty="0"/>
          </a:p>
        </p:txBody>
      </p:sp>
      <p:sp>
        <p:nvSpPr>
          <p:cNvPr id="28" name="Shape 23"/>
          <p:cNvSpPr/>
          <p:nvPr/>
        </p:nvSpPr>
        <p:spPr>
          <a:xfrm>
            <a:off x="2286000" y="4023360"/>
            <a:ext cx="256032" cy="0"/>
          </a:xfrm>
          <a:prstGeom prst="line">
            <a:avLst/>
          </a:prstGeom>
          <a:noFill/>
          <a:ln w="22860">
            <a:solidFill>
              <a:srgbClr val="5B6285"/>
            </a:solidFill>
            <a:prstDash val="solid"/>
            <a:tailEnd type="triangle"/>
          </a:ln>
        </p:spPr>
      </p:sp>
      <p:sp>
        <p:nvSpPr>
          <p:cNvPr id="29" name="Shape 24"/>
          <p:cNvSpPr/>
          <p:nvPr/>
        </p:nvSpPr>
        <p:spPr>
          <a:xfrm>
            <a:off x="2542032" y="3429000"/>
            <a:ext cx="182880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0" name="Shape 25"/>
          <p:cNvSpPr/>
          <p:nvPr/>
        </p:nvSpPr>
        <p:spPr>
          <a:xfrm>
            <a:off x="2679192" y="3566160"/>
            <a:ext cx="457200" cy="457200"/>
          </a:xfrm>
          <a:prstGeom prst="ellipse">
            <a:avLst/>
          </a:prstGeom>
          <a:solidFill>
            <a:srgbClr val="0EA5E9"/>
          </a:solidFill>
          <a:ln w="12700">
            <a:solidFill>
              <a:srgbClr val="0EA5E9"/>
            </a:solidFill>
            <a:prstDash val="solid"/>
          </a:ln>
        </p:spPr>
      </p:sp>
      <p:pic>
        <p:nvPicPr>
          <p:cNvPr id="31" name="Image 2" descr="preencoded.png">    </p:cNvPr>
          <p:cNvPicPr>
            <a:picLocks noChangeAspect="1"/>
          </p:cNvPicPr>
          <p:nvPr/>
        </p:nvPicPr>
        <p:blipFill>
          <a:blip r:embed="rId3"/>
          <a:stretch>
            <a:fillRect/>
          </a:stretch>
        </p:blipFill>
        <p:spPr>
          <a:xfrm>
            <a:off x="2793492" y="3680460"/>
            <a:ext cx="228600" cy="228600"/>
          </a:xfrm>
          <a:prstGeom prst="rect">
            <a:avLst/>
          </a:prstGeom>
        </p:spPr>
      </p:pic>
      <p:sp>
        <p:nvSpPr>
          <p:cNvPr id="32" name="Text 26"/>
          <p:cNvSpPr txBox="1"/>
          <p:nvPr/>
        </p:nvSpPr>
        <p:spPr>
          <a:xfrm>
            <a:off x="3227832" y="3566160"/>
            <a:ext cx="1097280" cy="457200"/>
          </a:xfrm>
          <a:prstGeom prst="rect">
            <a:avLst/>
          </a:prstGeom>
          <a:noFill/>
          <a:ln/>
        </p:spPr>
        <p:txBody>
          <a:bodyPr wrap="square" lIns="0" tIns="0" rIns="0" bIns="0" rtlCol="0" anchor="ctr"/>
          <a:lstStyle/>
          <a:p>
            <a:pPr indent="0" marL="0">
              <a:buNone/>
            </a:pPr>
            <a:r>
              <a:rPr lang="en-US" sz="1500" b="1" dirty="0">
                <a:solidFill>
                  <a:srgbClr val="1B2140"/>
                </a:solidFill>
                <a:latin typeface="Calibri" pitchFamily="34" charset="0"/>
                <a:ea typeface="Calibri" pitchFamily="34" charset="-122"/>
                <a:cs typeface="Calibri" pitchFamily="34" charset="-120"/>
              </a:rPr>
              <a:t>Advantage</a:t>
            </a:r>
            <a:endParaRPr lang="en-US" sz="1500" dirty="0"/>
          </a:p>
        </p:txBody>
      </p:sp>
      <p:sp>
        <p:nvSpPr>
          <p:cNvPr id="33" name="Text 27"/>
          <p:cNvSpPr txBox="1"/>
          <p:nvPr/>
        </p:nvSpPr>
        <p:spPr>
          <a:xfrm>
            <a:off x="2679192" y="4114800"/>
            <a:ext cx="1600200" cy="4572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A = r − V(s)</a:t>
            </a:r>
            <a:endParaRPr lang="en-US" sz="1200" dirty="0"/>
          </a:p>
        </p:txBody>
      </p:sp>
      <p:sp>
        <p:nvSpPr>
          <p:cNvPr id="34" name="Shape 28"/>
          <p:cNvSpPr/>
          <p:nvPr/>
        </p:nvSpPr>
        <p:spPr>
          <a:xfrm>
            <a:off x="4370832" y="4023360"/>
            <a:ext cx="256032" cy="0"/>
          </a:xfrm>
          <a:prstGeom prst="line">
            <a:avLst/>
          </a:prstGeom>
          <a:noFill/>
          <a:ln w="22860">
            <a:solidFill>
              <a:srgbClr val="5B6285"/>
            </a:solidFill>
            <a:prstDash val="solid"/>
            <a:tailEnd type="triangle"/>
          </a:ln>
        </p:spPr>
      </p:sp>
      <p:sp>
        <p:nvSpPr>
          <p:cNvPr id="35" name="Shape 29"/>
          <p:cNvSpPr/>
          <p:nvPr/>
        </p:nvSpPr>
        <p:spPr>
          <a:xfrm>
            <a:off x="4626864" y="3429000"/>
            <a:ext cx="182880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36" name="Shape 30"/>
          <p:cNvSpPr/>
          <p:nvPr/>
        </p:nvSpPr>
        <p:spPr>
          <a:xfrm>
            <a:off x="4764024" y="3566160"/>
            <a:ext cx="457200" cy="457200"/>
          </a:xfrm>
          <a:prstGeom prst="ellipse">
            <a:avLst/>
          </a:prstGeom>
          <a:solidFill>
            <a:srgbClr val="F59E0B"/>
          </a:solidFill>
          <a:ln w="12700">
            <a:solidFill>
              <a:srgbClr val="F59E0B"/>
            </a:solidFill>
            <a:prstDash val="solid"/>
          </a:ln>
        </p:spPr>
      </p:sp>
      <p:pic>
        <p:nvPicPr>
          <p:cNvPr id="37" name="Image 3" descr="preencoded.png">    </p:cNvPr>
          <p:cNvPicPr>
            <a:picLocks noChangeAspect="1"/>
          </p:cNvPicPr>
          <p:nvPr/>
        </p:nvPicPr>
        <p:blipFill>
          <a:blip r:embed="rId4"/>
          <a:stretch>
            <a:fillRect/>
          </a:stretch>
        </p:blipFill>
        <p:spPr>
          <a:xfrm>
            <a:off x="4878324" y="3680460"/>
            <a:ext cx="228600" cy="228600"/>
          </a:xfrm>
          <a:prstGeom prst="rect">
            <a:avLst/>
          </a:prstGeom>
        </p:spPr>
      </p:pic>
      <p:sp>
        <p:nvSpPr>
          <p:cNvPr id="38" name="Text 31"/>
          <p:cNvSpPr txBox="1"/>
          <p:nvPr/>
        </p:nvSpPr>
        <p:spPr>
          <a:xfrm>
            <a:off x="5312664" y="3566160"/>
            <a:ext cx="1097280" cy="457200"/>
          </a:xfrm>
          <a:prstGeom prst="rect">
            <a:avLst/>
          </a:prstGeom>
          <a:noFill/>
          <a:ln/>
        </p:spPr>
        <p:txBody>
          <a:bodyPr wrap="square" lIns="0" tIns="0" rIns="0" bIns="0" rtlCol="0" anchor="ctr"/>
          <a:lstStyle/>
          <a:p>
            <a:pPr indent="0" marL="0">
              <a:buNone/>
            </a:pPr>
            <a:r>
              <a:rPr lang="en-US" sz="1500" b="1" dirty="0">
                <a:solidFill>
                  <a:srgbClr val="1B2140"/>
                </a:solidFill>
                <a:latin typeface="Calibri" pitchFamily="34" charset="0"/>
                <a:ea typeface="Calibri" pitchFamily="34" charset="-122"/>
                <a:cs typeface="Calibri" pitchFamily="34" charset="-120"/>
              </a:rPr>
              <a:t>Update</a:t>
            </a:r>
            <a:endParaRPr lang="en-US" sz="1500" dirty="0"/>
          </a:p>
        </p:txBody>
      </p:sp>
      <p:sp>
        <p:nvSpPr>
          <p:cNvPr id="39" name="Text 32"/>
          <p:cNvSpPr txBox="1"/>
          <p:nvPr/>
        </p:nvSpPr>
        <p:spPr>
          <a:xfrm>
            <a:off x="4764024" y="4114800"/>
            <a:ext cx="1600200" cy="4572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4 epochs × batch 32</a:t>
            </a:r>
            <a:endParaRPr lang="en-US" sz="1200" dirty="0"/>
          </a:p>
        </p:txBody>
      </p:sp>
      <p:sp>
        <p:nvSpPr>
          <p:cNvPr id="40" name="Shape 33"/>
          <p:cNvSpPr/>
          <p:nvPr/>
        </p:nvSpPr>
        <p:spPr>
          <a:xfrm>
            <a:off x="6455664" y="4023360"/>
            <a:ext cx="256032" cy="0"/>
          </a:xfrm>
          <a:prstGeom prst="line">
            <a:avLst/>
          </a:prstGeom>
          <a:noFill/>
          <a:ln w="22860">
            <a:solidFill>
              <a:srgbClr val="5B6285"/>
            </a:solidFill>
            <a:prstDash val="solid"/>
            <a:tailEnd type="triangle"/>
          </a:ln>
        </p:spPr>
      </p:sp>
      <p:sp>
        <p:nvSpPr>
          <p:cNvPr id="41" name="Shape 34"/>
          <p:cNvSpPr/>
          <p:nvPr/>
        </p:nvSpPr>
        <p:spPr>
          <a:xfrm>
            <a:off x="6711696" y="3429000"/>
            <a:ext cx="182880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42" name="Shape 35"/>
          <p:cNvSpPr/>
          <p:nvPr/>
        </p:nvSpPr>
        <p:spPr>
          <a:xfrm>
            <a:off x="6848856" y="3566160"/>
            <a:ext cx="457200" cy="457200"/>
          </a:xfrm>
          <a:prstGeom prst="ellipse">
            <a:avLst/>
          </a:prstGeom>
          <a:solidFill>
            <a:srgbClr val="14B8A6"/>
          </a:solidFill>
          <a:ln w="12700">
            <a:solidFill>
              <a:srgbClr val="14B8A6"/>
            </a:solidFill>
            <a:prstDash val="solid"/>
          </a:ln>
        </p:spPr>
      </p:sp>
      <p:pic>
        <p:nvPicPr>
          <p:cNvPr id="43" name="Image 4" descr="preencoded.png">    </p:cNvPr>
          <p:cNvPicPr>
            <a:picLocks noChangeAspect="1"/>
          </p:cNvPicPr>
          <p:nvPr/>
        </p:nvPicPr>
        <p:blipFill>
          <a:blip r:embed="rId5"/>
          <a:stretch>
            <a:fillRect/>
          </a:stretch>
        </p:blipFill>
        <p:spPr>
          <a:xfrm>
            <a:off x="6963156" y="3680460"/>
            <a:ext cx="228600" cy="228600"/>
          </a:xfrm>
          <a:prstGeom prst="rect">
            <a:avLst/>
          </a:prstGeom>
        </p:spPr>
      </p:pic>
      <p:sp>
        <p:nvSpPr>
          <p:cNvPr id="44" name="Text 36"/>
          <p:cNvSpPr txBox="1"/>
          <p:nvPr/>
        </p:nvSpPr>
        <p:spPr>
          <a:xfrm>
            <a:off x="7397496" y="3566160"/>
            <a:ext cx="1097280" cy="457200"/>
          </a:xfrm>
          <a:prstGeom prst="rect">
            <a:avLst/>
          </a:prstGeom>
          <a:noFill/>
          <a:ln/>
        </p:spPr>
        <p:txBody>
          <a:bodyPr wrap="square" lIns="0" tIns="0" rIns="0" bIns="0" rtlCol="0" anchor="ctr"/>
          <a:lstStyle/>
          <a:p>
            <a:pPr indent="0" marL="0">
              <a:buNone/>
            </a:pPr>
            <a:r>
              <a:rPr lang="en-US" sz="1500" b="1" dirty="0">
                <a:solidFill>
                  <a:srgbClr val="1B2140"/>
                </a:solidFill>
                <a:latin typeface="Calibri" pitchFamily="34" charset="0"/>
                <a:ea typeface="Calibri" pitchFamily="34" charset="-122"/>
                <a:cs typeface="Calibri" pitchFamily="34" charset="-120"/>
              </a:rPr>
              <a:t>Log</a:t>
            </a:r>
            <a:endParaRPr lang="en-US" sz="1500" dirty="0"/>
          </a:p>
        </p:txBody>
      </p:sp>
      <p:sp>
        <p:nvSpPr>
          <p:cNvPr id="45" name="Text 37"/>
          <p:cNvSpPr txBox="1"/>
          <p:nvPr/>
        </p:nvSpPr>
        <p:spPr>
          <a:xfrm>
            <a:off x="6848856" y="4114800"/>
            <a:ext cx="1600200" cy="45720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actions + reward terms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Adapters lift PSNR by up to 5.9 dB</a:t>
            </a:r>
            <a:endParaRPr lang="en-US" sz="3000" dirty="0"/>
          </a:p>
        </p:txBody>
      </p:sp>
      <p:sp>
        <p:nvSpPr>
          <p:cNvPr id="5" name="Shape 2"/>
          <p:cNvSpPr/>
          <p:nvPr/>
        </p:nvSpPr>
        <p:spPr>
          <a:xfrm>
            <a:off x="457200" y="1280160"/>
            <a:ext cx="5760720"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graphicFrame>
        <p:nvGraphicFramePr>
          <p:cNvPr id="6" name="Chart 0" descr=""/>
          <p:cNvGraphicFramePr/>
          <p:nvPr/>
        </p:nvGraphicFramePr>
        <p:xfrm>
          <a:off x="548640" y="1325880"/>
          <a:ext cx="5577840" cy="292608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57200" y="4389120"/>
            <a:ext cx="5760720" cy="274320"/>
          </a:xfrm>
          <a:prstGeom prst="rect">
            <a:avLst/>
          </a:prstGeom>
          <a:noFill/>
          <a:ln/>
        </p:spPr>
        <p:txBody>
          <a:bodyPr wrap="square" lIns="0" tIns="0" rIns="0" bIns="0" rtlCol="0" anchor="t"/>
          <a:lstStyle/>
          <a:p>
            <a:pPr indent="0" marL="0">
              <a:buNone/>
            </a:pPr>
            <a:r>
              <a:rPr lang="en-US" sz="1200" i="1" dirty="0">
                <a:solidFill>
                  <a:srgbClr val="5B6285"/>
                </a:solidFill>
                <a:latin typeface="Calibri" pitchFamily="34" charset="0"/>
                <a:ea typeface="Calibri" pitchFamily="34" charset="-122"/>
                <a:cs typeface="Calibri" pitchFamily="34" charset="-120"/>
              </a:rPr>
              <a:t>A to C: one feed-forward pass.  D: adds 400 AdamW steps on the test image.</a:t>
            </a:r>
            <a:endParaRPr lang="en-US" sz="1200" dirty="0"/>
          </a:p>
        </p:txBody>
      </p:sp>
      <p:sp>
        <p:nvSpPr>
          <p:cNvPr id="8" name="Shape 4"/>
          <p:cNvSpPr/>
          <p:nvPr/>
        </p:nvSpPr>
        <p:spPr>
          <a:xfrm>
            <a:off x="6400800" y="1280160"/>
            <a:ext cx="2286000"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9" name="Text 5"/>
          <p:cNvSpPr txBox="1"/>
          <p:nvPr/>
        </p:nvSpPr>
        <p:spPr>
          <a:xfrm>
            <a:off x="6583680" y="1371600"/>
            <a:ext cx="2011680" cy="50292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+5.9 dB</a:t>
            </a:r>
            <a:endParaRPr lang="en-US" sz="2800" dirty="0"/>
          </a:p>
        </p:txBody>
      </p:sp>
      <p:sp>
        <p:nvSpPr>
          <p:cNvPr id="10" name="Text 6"/>
          <p:cNvSpPr txBox="1"/>
          <p:nvPr/>
        </p:nvSpPr>
        <p:spPr>
          <a:xfrm>
            <a:off x="6583680" y="1883664"/>
            <a:ext cx="2011680" cy="3657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peak gain, stage D on the meadow</a:t>
            </a:r>
            <a:endParaRPr lang="en-US" sz="1200" dirty="0"/>
          </a:p>
        </p:txBody>
      </p:sp>
      <p:sp>
        <p:nvSpPr>
          <p:cNvPr id="11" name="Shape 7"/>
          <p:cNvSpPr/>
          <p:nvPr/>
        </p:nvSpPr>
        <p:spPr>
          <a:xfrm>
            <a:off x="6400800" y="2423160"/>
            <a:ext cx="2286000"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2" name="Text 8"/>
          <p:cNvSpPr txBox="1"/>
          <p:nvPr/>
        </p:nvSpPr>
        <p:spPr>
          <a:xfrm>
            <a:off x="6583680" y="2514600"/>
            <a:ext cx="2011680" cy="502920"/>
          </a:xfrm>
          <a:prstGeom prst="rect">
            <a:avLst/>
          </a:prstGeom>
          <a:noFill/>
          <a:ln/>
        </p:spPr>
        <p:txBody>
          <a:bodyPr wrap="square" lIns="0" tIns="0" rIns="0" bIns="0" rtlCol="0" anchor="ctr"/>
          <a:lstStyle/>
          <a:p>
            <a:pPr indent="0" marL="0">
              <a:buNone/>
            </a:pPr>
            <a:r>
              <a:rPr lang="en-US" sz="2800" b="1" dirty="0">
                <a:solidFill>
                  <a:srgbClr val="14B8A6"/>
                </a:solidFill>
                <a:latin typeface="Cambria" pitchFamily="34" charset="0"/>
                <a:ea typeface="Cambria" pitchFamily="34" charset="-122"/>
                <a:cs typeface="Cambria" pitchFamily="34" charset="-120"/>
              </a:rPr>
              <a:t>+0.8 dB</a:t>
            </a:r>
            <a:endParaRPr lang="en-US" sz="2800" dirty="0"/>
          </a:p>
        </p:txBody>
      </p:sp>
      <p:sp>
        <p:nvSpPr>
          <p:cNvPr id="13" name="Text 9"/>
          <p:cNvSpPr txBox="1"/>
          <p:nvPr/>
        </p:nvSpPr>
        <p:spPr>
          <a:xfrm>
            <a:off x="6583680" y="3026664"/>
            <a:ext cx="2011680" cy="3657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Global adapter on lake and meadow</a:t>
            </a:r>
            <a:endParaRPr lang="en-US" sz="1200" dirty="0"/>
          </a:p>
        </p:txBody>
      </p:sp>
      <p:sp>
        <p:nvSpPr>
          <p:cNvPr id="14" name="Shape 10"/>
          <p:cNvSpPr/>
          <p:nvPr/>
        </p:nvSpPr>
        <p:spPr>
          <a:xfrm>
            <a:off x="6400800" y="3566160"/>
            <a:ext cx="2286000"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5" name="Text 11"/>
          <p:cNvSpPr txBox="1"/>
          <p:nvPr/>
        </p:nvSpPr>
        <p:spPr>
          <a:xfrm>
            <a:off x="6583680" y="3657600"/>
            <a:ext cx="2011680" cy="502920"/>
          </a:xfrm>
          <a:prstGeom prst="rect">
            <a:avLst/>
          </a:prstGeom>
          <a:noFill/>
          <a:ln/>
        </p:spPr>
        <p:txBody>
          <a:bodyPr wrap="square" lIns="0" tIns="0" rIns="0" bIns="0" rtlCol="0" anchor="ctr"/>
          <a:lstStyle/>
          <a:p>
            <a:pPr indent="0" marL="0">
              <a:buNone/>
            </a:pPr>
            <a:r>
              <a:rPr lang="en-US" sz="2800" b="1" dirty="0">
                <a:solidFill>
                  <a:srgbClr val="6D5DFC"/>
                </a:solidFill>
                <a:latin typeface="Cambria" pitchFamily="34" charset="0"/>
                <a:ea typeface="Cambria" pitchFamily="34" charset="-122"/>
                <a:cs typeface="Cambria" pitchFamily="34" charset="-120"/>
              </a:rPr>
              <a:t>0.9946</a:t>
            </a:r>
            <a:endParaRPr lang="en-US" sz="2800" dirty="0"/>
          </a:p>
        </p:txBody>
      </p:sp>
      <p:sp>
        <p:nvSpPr>
          <p:cNvPr id="16" name="Text 12"/>
          <p:cNvSpPr txBox="1"/>
          <p:nvPr/>
        </p:nvSpPr>
        <p:spPr>
          <a:xfrm>
            <a:off x="6583680" y="4169664"/>
            <a:ext cx="2011680" cy="36576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best SSIM, sunset peaks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WHY ADAPTIVE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Different images favour different adapters</a:t>
            </a:r>
            <a:endParaRPr lang="en-US" sz="3000" dirty="0"/>
          </a:p>
        </p:txBody>
      </p:sp>
      <p:sp>
        <p:nvSpPr>
          <p:cNvPr id="5" name="Shape 2"/>
          <p:cNvSpPr/>
          <p:nvPr/>
        </p:nvSpPr>
        <p:spPr>
          <a:xfrm>
            <a:off x="457200" y="1280160"/>
            <a:ext cx="5760720" cy="3383280"/>
          </a:xfrm>
          <a:prstGeom prst="roundRect">
            <a:avLst>
              <a:gd name="adj" fmla="val 3243"/>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graphicFrame>
        <p:nvGraphicFramePr>
          <p:cNvPr id="6" name="Chart 0" descr=""/>
          <p:cNvGraphicFramePr/>
          <p:nvPr/>
        </p:nvGraphicFramePr>
        <p:xfrm>
          <a:off x="548640" y="1371600"/>
          <a:ext cx="5577840" cy="32004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400800" y="1280160"/>
            <a:ext cx="2286000" cy="1554480"/>
          </a:xfrm>
          <a:prstGeom prst="roundRect">
            <a:avLst>
              <a:gd name="adj" fmla="val 7059"/>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8" name="Text 4"/>
          <p:cNvSpPr txBox="1"/>
          <p:nvPr/>
        </p:nvSpPr>
        <p:spPr>
          <a:xfrm>
            <a:off x="6583680" y="1389888"/>
            <a:ext cx="2011680" cy="274320"/>
          </a:xfrm>
          <a:prstGeom prst="rect">
            <a:avLst/>
          </a:prstGeom>
          <a:noFill/>
          <a:ln/>
        </p:spPr>
        <p:txBody>
          <a:bodyPr wrap="square" lIns="0" tIns="0" rIns="0" bIns="0" rtlCol="0" anchor="t"/>
          <a:lstStyle/>
          <a:p>
            <a:pPr indent="0" marL="0">
              <a:buNone/>
            </a:pPr>
            <a:r>
              <a:rPr lang="en-US" sz="1400" b="1" dirty="0">
                <a:solidFill>
                  <a:srgbClr val="1B2140"/>
                </a:solidFill>
                <a:latin typeface="Calibri" pitchFamily="34" charset="0"/>
                <a:ea typeface="Calibri" pitchFamily="34" charset="-122"/>
                <a:cs typeface="Calibri" pitchFamily="34" charset="-120"/>
              </a:rPr>
              <a:t>Best per image</a:t>
            </a:r>
            <a:endParaRPr lang="en-US" sz="1400" dirty="0"/>
          </a:p>
        </p:txBody>
      </p:sp>
      <p:sp>
        <p:nvSpPr>
          <p:cNvPr id="9" name="Shape 5"/>
          <p:cNvSpPr/>
          <p:nvPr/>
        </p:nvSpPr>
        <p:spPr>
          <a:xfrm>
            <a:off x="6583680" y="1874520"/>
            <a:ext cx="182880" cy="182880"/>
          </a:xfrm>
          <a:prstGeom prst="ellipse">
            <a:avLst/>
          </a:prstGeom>
          <a:solidFill>
            <a:srgbClr val="6D5DFC"/>
          </a:solidFill>
          <a:ln w="12700">
            <a:solidFill>
              <a:srgbClr val="6D5DFC"/>
            </a:solidFill>
            <a:prstDash val="solid"/>
          </a:ln>
        </p:spPr>
      </p:sp>
      <p:sp>
        <p:nvSpPr>
          <p:cNvPr id="10" name="Text 6"/>
          <p:cNvSpPr txBox="1"/>
          <p:nvPr/>
        </p:nvSpPr>
        <p:spPr>
          <a:xfrm>
            <a:off x="6858000" y="1801368"/>
            <a:ext cx="822960" cy="329184"/>
          </a:xfrm>
          <a:prstGeom prst="rect">
            <a:avLst/>
          </a:prstGeom>
          <a:noFill/>
          <a:ln/>
        </p:spPr>
        <p:txBody>
          <a:bodyPr wrap="square" lIns="0" tIns="0" rIns="0" bIns="0" rtlCol="0" anchor="ctr"/>
          <a:lstStyle/>
          <a:p>
            <a:pPr indent="0" marL="0">
              <a:buNone/>
            </a:pPr>
            <a:r>
              <a:rPr lang="en-US" sz="1400" b="1" dirty="0">
                <a:solidFill>
                  <a:srgbClr val="1B2140"/>
                </a:solidFill>
                <a:latin typeface="Calibri" pitchFamily="34" charset="0"/>
                <a:ea typeface="Calibri" pitchFamily="34" charset="-122"/>
                <a:cs typeface="Calibri" pitchFamily="34" charset="-120"/>
              </a:rPr>
              <a:t>Global</a:t>
            </a:r>
            <a:endParaRPr lang="en-US" sz="1400" dirty="0"/>
          </a:p>
        </p:txBody>
      </p:sp>
      <p:sp>
        <p:nvSpPr>
          <p:cNvPr id="11" name="Text 7"/>
          <p:cNvSpPr txBox="1"/>
          <p:nvPr/>
        </p:nvSpPr>
        <p:spPr>
          <a:xfrm>
            <a:off x="7680960" y="1801368"/>
            <a:ext cx="914400" cy="329184"/>
          </a:xfrm>
          <a:prstGeom prst="rect">
            <a:avLst/>
          </a:prstGeom>
          <a:noFill/>
          <a:ln/>
        </p:spPr>
        <p:txBody>
          <a:bodyPr wrap="square" lIns="0" tIns="0" rIns="0" bIns="0" rtlCol="0" anchor="ctr"/>
          <a:lstStyle/>
          <a:p>
            <a:pPr indent="0" marL="0">
              <a:buNone/>
            </a:pPr>
            <a:r>
              <a:rPr lang="en-US" sz="1400" dirty="0">
                <a:solidFill>
                  <a:srgbClr val="5B6285"/>
                </a:solidFill>
                <a:latin typeface="Calibri" pitchFamily="34" charset="0"/>
                <a:ea typeface="Calibri" pitchFamily="34" charset="-122"/>
                <a:cs typeface="Calibri" pitchFamily="34" charset="-120"/>
              </a:rPr>
              <a:t>2 images</a:t>
            </a:r>
            <a:endParaRPr lang="en-US" sz="1400" dirty="0"/>
          </a:p>
        </p:txBody>
      </p:sp>
      <p:sp>
        <p:nvSpPr>
          <p:cNvPr id="12" name="Shape 8"/>
          <p:cNvSpPr/>
          <p:nvPr/>
        </p:nvSpPr>
        <p:spPr>
          <a:xfrm>
            <a:off x="6583680" y="2331720"/>
            <a:ext cx="182880" cy="182880"/>
          </a:xfrm>
          <a:prstGeom prst="ellipse">
            <a:avLst/>
          </a:prstGeom>
          <a:solidFill>
            <a:srgbClr val="0EA5E9"/>
          </a:solidFill>
          <a:ln w="12700">
            <a:solidFill>
              <a:srgbClr val="0EA5E9"/>
            </a:solidFill>
            <a:prstDash val="solid"/>
          </a:ln>
        </p:spPr>
      </p:sp>
      <p:sp>
        <p:nvSpPr>
          <p:cNvPr id="13" name="Text 9"/>
          <p:cNvSpPr txBox="1"/>
          <p:nvPr/>
        </p:nvSpPr>
        <p:spPr>
          <a:xfrm>
            <a:off x="6858000" y="2258568"/>
            <a:ext cx="822960" cy="329184"/>
          </a:xfrm>
          <a:prstGeom prst="rect">
            <a:avLst/>
          </a:prstGeom>
          <a:noFill/>
          <a:ln/>
        </p:spPr>
        <p:txBody>
          <a:bodyPr wrap="square" lIns="0" tIns="0" rIns="0" bIns="0" rtlCol="0" anchor="ctr"/>
          <a:lstStyle/>
          <a:p>
            <a:pPr indent="0" marL="0">
              <a:buNone/>
            </a:pPr>
            <a:r>
              <a:rPr lang="en-US" sz="1400" b="1" dirty="0">
                <a:solidFill>
                  <a:srgbClr val="1B2140"/>
                </a:solidFill>
                <a:latin typeface="Calibri" pitchFamily="34" charset="0"/>
                <a:ea typeface="Calibri" pitchFamily="34" charset="-122"/>
                <a:cs typeface="Calibri" pitchFamily="34" charset="-120"/>
              </a:rPr>
              <a:t>Local</a:t>
            </a:r>
            <a:endParaRPr lang="en-US" sz="1400" dirty="0"/>
          </a:p>
        </p:txBody>
      </p:sp>
      <p:sp>
        <p:nvSpPr>
          <p:cNvPr id="14" name="Text 10"/>
          <p:cNvSpPr txBox="1"/>
          <p:nvPr/>
        </p:nvSpPr>
        <p:spPr>
          <a:xfrm>
            <a:off x="7680960" y="2258568"/>
            <a:ext cx="914400" cy="329184"/>
          </a:xfrm>
          <a:prstGeom prst="rect">
            <a:avLst/>
          </a:prstGeom>
          <a:noFill/>
          <a:ln/>
        </p:spPr>
        <p:txBody>
          <a:bodyPr wrap="square" lIns="0" tIns="0" rIns="0" bIns="0" rtlCol="0" anchor="ctr"/>
          <a:lstStyle/>
          <a:p>
            <a:pPr indent="0" marL="0">
              <a:buNone/>
            </a:pPr>
            <a:r>
              <a:rPr lang="en-US" sz="1400" dirty="0">
                <a:solidFill>
                  <a:srgbClr val="5B6285"/>
                </a:solidFill>
                <a:latin typeface="Calibri" pitchFamily="34" charset="0"/>
                <a:ea typeface="Calibri" pitchFamily="34" charset="-122"/>
                <a:cs typeface="Calibri" pitchFamily="34" charset="-120"/>
              </a:rPr>
              <a:t>3 images</a:t>
            </a:r>
            <a:endParaRPr lang="en-US" sz="1400" dirty="0"/>
          </a:p>
        </p:txBody>
      </p:sp>
      <p:sp>
        <p:nvSpPr>
          <p:cNvPr id="15" name="Shape 11"/>
          <p:cNvSpPr/>
          <p:nvPr/>
        </p:nvSpPr>
        <p:spPr>
          <a:xfrm>
            <a:off x="6400800" y="3017520"/>
            <a:ext cx="2286000" cy="1645920"/>
          </a:xfrm>
          <a:prstGeom prst="roundRect">
            <a:avLst>
              <a:gd name="adj" fmla="val 6667"/>
            </a:avLst>
          </a:prstGeom>
          <a:solidFill>
            <a:srgbClr val="0B1026"/>
          </a:solidFill>
          <a:ln w="12700">
            <a:solidFill>
              <a:srgbClr val="0B1026"/>
            </a:solidFill>
            <a:prstDash val="solid"/>
          </a:ln>
          <a:effectLst>
            <a:outerShdw sx="100000" sy="100000" kx="0" ky="0" algn="bl" rotWithShape="0" blurRad="127000" dist="25400" dir="5400000">
              <a:srgbClr val="1B2140">
                <a:alpha val="12000"/>
              </a:srgbClr>
            </a:outerShdw>
          </a:effectLst>
        </p:spPr>
      </p:sp>
      <p:sp>
        <p:nvSpPr>
          <p:cNvPr id="16" name="Shape 12"/>
          <p:cNvSpPr/>
          <p:nvPr/>
        </p:nvSpPr>
        <p:spPr>
          <a:xfrm>
            <a:off x="6583680" y="3154680"/>
            <a:ext cx="457200" cy="457200"/>
          </a:xfrm>
          <a:prstGeom prst="ellipse">
            <a:avLst/>
          </a:prstGeom>
          <a:solidFill>
            <a:srgbClr val="6D5DFC"/>
          </a:solidFill>
          <a:ln w="12700">
            <a:solidFill>
              <a:srgbClr val="6D5DFC"/>
            </a:solidFill>
            <a:prstDash val="solid"/>
          </a:ln>
        </p:spPr>
      </p:sp>
      <p:pic>
        <p:nvPicPr>
          <p:cNvPr id="17" name="Image 0" descr="preencoded.png">    </p:cNvPr>
          <p:cNvPicPr>
            <a:picLocks noChangeAspect="1"/>
          </p:cNvPicPr>
          <p:nvPr/>
        </p:nvPicPr>
        <p:blipFill>
          <a:blip r:embed="rId2"/>
          <a:stretch>
            <a:fillRect/>
          </a:stretch>
        </p:blipFill>
        <p:spPr>
          <a:xfrm>
            <a:off x="6697980" y="3268980"/>
            <a:ext cx="228600" cy="228600"/>
          </a:xfrm>
          <a:prstGeom prst="rect">
            <a:avLst/>
          </a:prstGeom>
        </p:spPr>
      </p:pic>
      <p:sp>
        <p:nvSpPr>
          <p:cNvPr id="18" name="Text 13"/>
          <p:cNvSpPr txBox="1"/>
          <p:nvPr/>
        </p:nvSpPr>
        <p:spPr>
          <a:xfrm>
            <a:off x="6583680" y="3703320"/>
            <a:ext cx="196596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right strategy depends on the image, so a learned selector has real work to do.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VISUAL RESULTS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From damaged input to completed image</a:t>
            </a:r>
            <a:endParaRPr lang="en-US" sz="3000" dirty="0"/>
          </a:p>
        </p:txBody>
      </p:sp>
      <p:sp>
        <p:nvSpPr>
          <p:cNvPr id="5" name="Text 2"/>
          <p:cNvSpPr txBox="1"/>
          <p:nvPr/>
        </p:nvSpPr>
        <p:spPr>
          <a:xfrm>
            <a:off x="2194560" y="1188720"/>
            <a:ext cx="1143000" cy="228600"/>
          </a:xfrm>
          <a:prstGeom prst="rect">
            <a:avLst/>
          </a:prstGeom>
          <a:noFill/>
          <a:ln/>
        </p:spPr>
        <p:txBody>
          <a:bodyPr wrap="square" lIns="0" tIns="0" rIns="0" bIns="0" rtlCol="0" anchor="t"/>
          <a:lstStyle/>
          <a:p>
            <a:pPr algn="ctr" indent="0" marL="0">
              <a:buNone/>
            </a:pPr>
            <a:r>
              <a:rPr lang="en-US" sz="1100" b="1" dirty="0">
                <a:solidFill>
                  <a:srgbClr val="5B6285"/>
                </a:solidFill>
                <a:latin typeface="Calibri" pitchFamily="34" charset="0"/>
                <a:ea typeface="Calibri" pitchFamily="34" charset="-122"/>
                <a:cs typeface="Calibri" pitchFamily="34" charset="-120"/>
              </a:rPr>
              <a:t>Ground truth</a:t>
            </a:r>
            <a:endParaRPr lang="en-US" sz="1100" dirty="0"/>
          </a:p>
        </p:txBody>
      </p:sp>
      <p:sp>
        <p:nvSpPr>
          <p:cNvPr id="6" name="Text 3"/>
          <p:cNvSpPr txBox="1"/>
          <p:nvPr/>
        </p:nvSpPr>
        <p:spPr>
          <a:xfrm>
            <a:off x="3474720" y="1188720"/>
            <a:ext cx="1143000" cy="228600"/>
          </a:xfrm>
          <a:prstGeom prst="rect">
            <a:avLst/>
          </a:prstGeom>
          <a:noFill/>
          <a:ln/>
        </p:spPr>
        <p:txBody>
          <a:bodyPr wrap="square" lIns="0" tIns="0" rIns="0" bIns="0" rtlCol="0" anchor="t"/>
          <a:lstStyle/>
          <a:p>
            <a:pPr algn="ctr" indent="0" marL="0">
              <a:buNone/>
            </a:pPr>
            <a:r>
              <a:rPr lang="en-US" sz="1100" b="1" dirty="0">
                <a:solidFill>
                  <a:srgbClr val="5B6285"/>
                </a:solidFill>
                <a:latin typeface="Calibri" pitchFamily="34" charset="0"/>
                <a:ea typeface="Calibri" pitchFamily="34" charset="-122"/>
                <a:cs typeface="Calibri" pitchFamily="34" charset="-120"/>
              </a:rPr>
              <a:t>Masked</a:t>
            </a:r>
            <a:endParaRPr lang="en-US" sz="1100" dirty="0"/>
          </a:p>
        </p:txBody>
      </p:sp>
      <p:sp>
        <p:nvSpPr>
          <p:cNvPr id="7" name="Text 4"/>
          <p:cNvSpPr txBox="1"/>
          <p:nvPr/>
        </p:nvSpPr>
        <p:spPr>
          <a:xfrm>
            <a:off x="4754880" y="1188720"/>
            <a:ext cx="1143000" cy="228600"/>
          </a:xfrm>
          <a:prstGeom prst="rect">
            <a:avLst/>
          </a:prstGeom>
          <a:noFill/>
          <a:ln/>
        </p:spPr>
        <p:txBody>
          <a:bodyPr wrap="square" lIns="0" tIns="0" rIns="0" bIns="0" rtlCol="0" anchor="t"/>
          <a:lstStyle/>
          <a:p>
            <a:pPr algn="ctr" indent="0" marL="0">
              <a:buNone/>
            </a:pPr>
            <a:r>
              <a:rPr lang="en-US" sz="1100" b="1" dirty="0">
                <a:solidFill>
                  <a:srgbClr val="5B6285"/>
                </a:solidFill>
                <a:latin typeface="Calibri" pitchFamily="34" charset="0"/>
                <a:ea typeface="Calibri" pitchFamily="34" charset="-122"/>
                <a:cs typeface="Calibri" pitchFamily="34" charset="-120"/>
              </a:rPr>
              <a:t>A  Backbone</a:t>
            </a:r>
            <a:endParaRPr lang="en-US" sz="1100" dirty="0"/>
          </a:p>
        </p:txBody>
      </p:sp>
      <p:sp>
        <p:nvSpPr>
          <p:cNvPr id="8" name="Text 5"/>
          <p:cNvSpPr txBox="1"/>
          <p:nvPr/>
        </p:nvSpPr>
        <p:spPr>
          <a:xfrm>
            <a:off x="6035040" y="1188720"/>
            <a:ext cx="1143000" cy="228600"/>
          </a:xfrm>
          <a:prstGeom prst="rect">
            <a:avLst/>
          </a:prstGeom>
          <a:noFill/>
          <a:ln/>
        </p:spPr>
        <p:txBody>
          <a:bodyPr wrap="square" lIns="0" tIns="0" rIns="0" bIns="0" rtlCol="0" anchor="t"/>
          <a:lstStyle/>
          <a:p>
            <a:pPr algn="ctr" indent="0" marL="0">
              <a:buNone/>
            </a:pPr>
            <a:r>
              <a:rPr lang="en-US" sz="1100" b="1" dirty="0">
                <a:solidFill>
                  <a:srgbClr val="6D5DFC"/>
                </a:solidFill>
                <a:latin typeface="Calibri" pitchFamily="34" charset="0"/>
                <a:ea typeface="Calibri" pitchFamily="34" charset="-122"/>
                <a:cs typeface="Calibri" pitchFamily="34" charset="-120"/>
              </a:rPr>
              <a:t>C  PPO-selected</a:t>
            </a:r>
            <a:endParaRPr lang="en-US" sz="1100" dirty="0"/>
          </a:p>
        </p:txBody>
      </p:sp>
      <p:sp>
        <p:nvSpPr>
          <p:cNvPr id="9" name="Text 6"/>
          <p:cNvSpPr txBox="1"/>
          <p:nvPr/>
        </p:nvSpPr>
        <p:spPr>
          <a:xfrm>
            <a:off x="7315200" y="1188720"/>
            <a:ext cx="1143000" cy="228600"/>
          </a:xfrm>
          <a:prstGeom prst="rect">
            <a:avLst/>
          </a:prstGeom>
          <a:noFill/>
          <a:ln/>
        </p:spPr>
        <p:txBody>
          <a:bodyPr wrap="square" lIns="0" tIns="0" rIns="0" bIns="0" rtlCol="0" anchor="t"/>
          <a:lstStyle/>
          <a:p>
            <a:pPr algn="ctr" indent="0" marL="0">
              <a:buNone/>
            </a:pPr>
            <a:r>
              <a:rPr lang="en-US" sz="1100" b="1" dirty="0">
                <a:solidFill>
                  <a:srgbClr val="B45309"/>
                </a:solidFill>
                <a:latin typeface="Calibri" pitchFamily="34" charset="0"/>
                <a:ea typeface="Calibri" pitchFamily="34" charset="-122"/>
                <a:cs typeface="Calibri" pitchFamily="34" charset="-120"/>
              </a:rPr>
              <a:t>D  PPO + refine</a:t>
            </a:r>
            <a:endParaRPr lang="en-US" sz="1100" dirty="0"/>
          </a:p>
        </p:txBody>
      </p:sp>
      <p:sp>
        <p:nvSpPr>
          <p:cNvPr id="10" name="Text 7"/>
          <p:cNvSpPr txBox="1"/>
          <p:nvPr/>
        </p:nvSpPr>
        <p:spPr>
          <a:xfrm>
            <a:off x="457200" y="1709928"/>
            <a:ext cx="1691640" cy="274320"/>
          </a:xfrm>
          <a:prstGeom prst="rect">
            <a:avLst/>
          </a:prstGeom>
          <a:noFill/>
          <a:ln/>
        </p:spPr>
        <p:txBody>
          <a:bodyPr wrap="square" lIns="0" tIns="0" rIns="0" bIns="0" rtlCol="0" anchor="t"/>
          <a:lstStyle/>
          <a:p>
            <a:pPr indent="0" marL="0">
              <a:buNone/>
            </a:pPr>
            <a:r>
              <a:rPr lang="en-US" sz="1500" b="1" dirty="0">
                <a:solidFill>
                  <a:srgbClr val="1B2140"/>
                </a:solidFill>
                <a:latin typeface="Calibri" pitchFamily="34" charset="0"/>
                <a:ea typeface="Calibri" pitchFamily="34" charset="-122"/>
                <a:cs typeface="Calibri" pitchFamily="34" charset="-120"/>
              </a:rPr>
              <a:t>Alpine lake</a:t>
            </a:r>
            <a:endParaRPr lang="en-US" sz="1500" dirty="0"/>
          </a:p>
        </p:txBody>
      </p:sp>
      <p:sp>
        <p:nvSpPr>
          <p:cNvPr id="11" name="Text 8"/>
          <p:cNvSpPr txBox="1"/>
          <p:nvPr/>
        </p:nvSpPr>
        <p:spPr>
          <a:xfrm>
            <a:off x="457200" y="2002536"/>
            <a:ext cx="1691640" cy="27432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PPO: Boundary</a:t>
            </a:r>
            <a:endParaRPr lang="en-US" sz="1200" dirty="0"/>
          </a:p>
        </p:txBody>
      </p:sp>
      <p:pic>
        <p:nvPicPr>
          <p:cNvPr id="12" name="Image 0" descr="Alpine lake Ground truth">    </p:cNvPr>
          <p:cNvPicPr>
            <a:picLocks noChangeAspect="1"/>
          </p:cNvPicPr>
          <p:nvPr/>
        </p:nvPicPr>
        <p:blipFill>
          <a:blip r:embed="rId1"/>
          <a:stretch>
            <a:fillRect/>
          </a:stretch>
        </p:blipFill>
        <p:spPr>
          <a:xfrm>
            <a:off x="2286000" y="1481328"/>
            <a:ext cx="960120" cy="960120"/>
          </a:xfrm>
          <a:prstGeom prst="rect">
            <a:avLst/>
          </a:prstGeom>
        </p:spPr>
      </p:pic>
      <p:pic>
        <p:nvPicPr>
          <p:cNvPr id="13" name="Image 1" descr="Alpine lake Masked">    </p:cNvPr>
          <p:cNvPicPr>
            <a:picLocks noChangeAspect="1"/>
          </p:cNvPicPr>
          <p:nvPr/>
        </p:nvPicPr>
        <p:blipFill>
          <a:blip r:embed="rId2"/>
          <a:stretch>
            <a:fillRect/>
          </a:stretch>
        </p:blipFill>
        <p:spPr>
          <a:xfrm>
            <a:off x="3566160" y="1481328"/>
            <a:ext cx="960120" cy="960120"/>
          </a:xfrm>
          <a:prstGeom prst="rect">
            <a:avLst/>
          </a:prstGeom>
        </p:spPr>
      </p:pic>
      <p:pic>
        <p:nvPicPr>
          <p:cNvPr id="14" name="Image 2" descr="Alpine lake A  Backbone">    </p:cNvPr>
          <p:cNvPicPr>
            <a:picLocks noChangeAspect="1"/>
          </p:cNvPicPr>
          <p:nvPr/>
        </p:nvPicPr>
        <p:blipFill>
          <a:blip r:embed="rId3"/>
          <a:stretch>
            <a:fillRect/>
          </a:stretch>
        </p:blipFill>
        <p:spPr>
          <a:xfrm>
            <a:off x="4846320" y="1481328"/>
            <a:ext cx="960120" cy="960120"/>
          </a:xfrm>
          <a:prstGeom prst="rect">
            <a:avLst/>
          </a:prstGeom>
        </p:spPr>
      </p:pic>
      <p:pic>
        <p:nvPicPr>
          <p:cNvPr id="15" name="Image 3" descr="Alpine lake C  PPO-selected">    </p:cNvPr>
          <p:cNvPicPr>
            <a:picLocks noChangeAspect="1"/>
          </p:cNvPicPr>
          <p:nvPr/>
        </p:nvPicPr>
        <p:blipFill>
          <a:blip r:embed="rId4"/>
          <a:stretch>
            <a:fillRect/>
          </a:stretch>
        </p:blipFill>
        <p:spPr>
          <a:xfrm>
            <a:off x="6126480" y="1481328"/>
            <a:ext cx="960120" cy="960120"/>
          </a:xfrm>
          <a:prstGeom prst="rect">
            <a:avLst/>
          </a:prstGeom>
        </p:spPr>
      </p:pic>
      <p:pic>
        <p:nvPicPr>
          <p:cNvPr id="16" name="Image 4" descr="Alpine lake D  PPO + refine">    </p:cNvPr>
          <p:cNvPicPr>
            <a:picLocks noChangeAspect="1"/>
          </p:cNvPicPr>
          <p:nvPr/>
        </p:nvPicPr>
        <p:blipFill>
          <a:blip r:embed="rId5"/>
          <a:stretch>
            <a:fillRect/>
          </a:stretch>
        </p:blipFill>
        <p:spPr>
          <a:xfrm>
            <a:off x="7406640" y="1481328"/>
            <a:ext cx="960120" cy="960120"/>
          </a:xfrm>
          <a:prstGeom prst="rect">
            <a:avLst/>
          </a:prstGeom>
        </p:spPr>
      </p:pic>
      <p:sp>
        <p:nvSpPr>
          <p:cNvPr id="17" name="Shape 9"/>
          <p:cNvSpPr/>
          <p:nvPr/>
        </p:nvSpPr>
        <p:spPr>
          <a:xfrm>
            <a:off x="5042916" y="2203704"/>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18" name="Text 10"/>
          <p:cNvSpPr txBox="1"/>
          <p:nvPr/>
        </p:nvSpPr>
        <p:spPr>
          <a:xfrm>
            <a:off x="5042916" y="2203704"/>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34.45 dB</a:t>
            </a:r>
            <a:endParaRPr lang="en-US" sz="900" dirty="0"/>
          </a:p>
        </p:txBody>
      </p:sp>
      <p:sp>
        <p:nvSpPr>
          <p:cNvPr id="19" name="Shape 11"/>
          <p:cNvSpPr/>
          <p:nvPr/>
        </p:nvSpPr>
        <p:spPr>
          <a:xfrm>
            <a:off x="6323076" y="2203704"/>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20" name="Text 12"/>
          <p:cNvSpPr txBox="1"/>
          <p:nvPr/>
        </p:nvSpPr>
        <p:spPr>
          <a:xfrm>
            <a:off x="6323076" y="2203704"/>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32.25 dB</a:t>
            </a:r>
            <a:endParaRPr lang="en-US" sz="900" dirty="0"/>
          </a:p>
        </p:txBody>
      </p:sp>
      <p:sp>
        <p:nvSpPr>
          <p:cNvPr id="21" name="Shape 13"/>
          <p:cNvSpPr/>
          <p:nvPr/>
        </p:nvSpPr>
        <p:spPr>
          <a:xfrm>
            <a:off x="7603236" y="2203704"/>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22" name="Text 14"/>
          <p:cNvSpPr txBox="1"/>
          <p:nvPr/>
        </p:nvSpPr>
        <p:spPr>
          <a:xfrm>
            <a:off x="7603236" y="2203704"/>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37.23 dB</a:t>
            </a:r>
            <a:endParaRPr lang="en-US" sz="900" dirty="0"/>
          </a:p>
        </p:txBody>
      </p:sp>
      <p:sp>
        <p:nvSpPr>
          <p:cNvPr id="23" name="Text 15"/>
          <p:cNvSpPr txBox="1"/>
          <p:nvPr/>
        </p:nvSpPr>
        <p:spPr>
          <a:xfrm>
            <a:off x="457200" y="2752344"/>
            <a:ext cx="1691640" cy="274320"/>
          </a:xfrm>
          <a:prstGeom prst="rect">
            <a:avLst/>
          </a:prstGeom>
          <a:noFill/>
          <a:ln/>
        </p:spPr>
        <p:txBody>
          <a:bodyPr wrap="square" lIns="0" tIns="0" rIns="0" bIns="0" rtlCol="0" anchor="t"/>
          <a:lstStyle/>
          <a:p>
            <a:pPr indent="0" marL="0">
              <a:buNone/>
            </a:pPr>
            <a:r>
              <a:rPr lang="en-US" sz="1500" b="1" dirty="0">
                <a:solidFill>
                  <a:srgbClr val="1B2140"/>
                </a:solidFill>
                <a:latin typeface="Calibri" pitchFamily="34" charset="0"/>
                <a:ea typeface="Calibri" pitchFamily="34" charset="-122"/>
                <a:cs typeface="Calibri" pitchFamily="34" charset="-120"/>
              </a:rPr>
              <a:t>Lush meadow</a:t>
            </a:r>
            <a:endParaRPr lang="en-US" sz="1500" dirty="0"/>
          </a:p>
        </p:txBody>
      </p:sp>
      <p:sp>
        <p:nvSpPr>
          <p:cNvPr id="24" name="Text 16"/>
          <p:cNvSpPr txBox="1"/>
          <p:nvPr/>
        </p:nvSpPr>
        <p:spPr>
          <a:xfrm>
            <a:off x="457200" y="3044952"/>
            <a:ext cx="1691640" cy="27432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PPO: Global</a:t>
            </a:r>
            <a:endParaRPr lang="en-US" sz="1200" dirty="0"/>
          </a:p>
        </p:txBody>
      </p:sp>
      <p:pic>
        <p:nvPicPr>
          <p:cNvPr id="25" name="Image 5" descr="Lush meadow Ground truth">    </p:cNvPr>
          <p:cNvPicPr>
            <a:picLocks noChangeAspect="1"/>
          </p:cNvPicPr>
          <p:nvPr/>
        </p:nvPicPr>
        <p:blipFill>
          <a:blip r:embed="rId6"/>
          <a:stretch>
            <a:fillRect/>
          </a:stretch>
        </p:blipFill>
        <p:spPr>
          <a:xfrm>
            <a:off x="2286000" y="2523744"/>
            <a:ext cx="960120" cy="960120"/>
          </a:xfrm>
          <a:prstGeom prst="rect">
            <a:avLst/>
          </a:prstGeom>
        </p:spPr>
      </p:pic>
      <p:pic>
        <p:nvPicPr>
          <p:cNvPr id="26" name="Image 6" descr="Lush meadow Masked">    </p:cNvPr>
          <p:cNvPicPr>
            <a:picLocks noChangeAspect="1"/>
          </p:cNvPicPr>
          <p:nvPr/>
        </p:nvPicPr>
        <p:blipFill>
          <a:blip r:embed="rId7"/>
          <a:stretch>
            <a:fillRect/>
          </a:stretch>
        </p:blipFill>
        <p:spPr>
          <a:xfrm>
            <a:off x="3566160" y="2523744"/>
            <a:ext cx="960120" cy="960120"/>
          </a:xfrm>
          <a:prstGeom prst="rect">
            <a:avLst/>
          </a:prstGeom>
        </p:spPr>
      </p:pic>
      <p:pic>
        <p:nvPicPr>
          <p:cNvPr id="27" name="Image 7" descr="Lush meadow A  Backbone">    </p:cNvPr>
          <p:cNvPicPr>
            <a:picLocks noChangeAspect="1"/>
          </p:cNvPicPr>
          <p:nvPr/>
        </p:nvPicPr>
        <p:blipFill>
          <a:blip r:embed="rId8"/>
          <a:stretch>
            <a:fillRect/>
          </a:stretch>
        </p:blipFill>
        <p:spPr>
          <a:xfrm>
            <a:off x="4846320" y="2523744"/>
            <a:ext cx="960120" cy="960120"/>
          </a:xfrm>
          <a:prstGeom prst="rect">
            <a:avLst/>
          </a:prstGeom>
        </p:spPr>
      </p:pic>
      <p:pic>
        <p:nvPicPr>
          <p:cNvPr id="28" name="Image 8" descr="Lush meadow C  PPO-selected">    </p:cNvPr>
          <p:cNvPicPr>
            <a:picLocks noChangeAspect="1"/>
          </p:cNvPicPr>
          <p:nvPr/>
        </p:nvPicPr>
        <p:blipFill>
          <a:blip r:embed="rId9"/>
          <a:stretch>
            <a:fillRect/>
          </a:stretch>
        </p:blipFill>
        <p:spPr>
          <a:xfrm>
            <a:off x="6126480" y="2523744"/>
            <a:ext cx="960120" cy="960120"/>
          </a:xfrm>
          <a:prstGeom prst="rect">
            <a:avLst/>
          </a:prstGeom>
        </p:spPr>
      </p:pic>
      <p:pic>
        <p:nvPicPr>
          <p:cNvPr id="29" name="Image 9" descr="Lush meadow D  PPO + refine">    </p:cNvPr>
          <p:cNvPicPr>
            <a:picLocks noChangeAspect="1"/>
          </p:cNvPicPr>
          <p:nvPr/>
        </p:nvPicPr>
        <p:blipFill>
          <a:blip r:embed="rId10"/>
          <a:stretch>
            <a:fillRect/>
          </a:stretch>
        </p:blipFill>
        <p:spPr>
          <a:xfrm>
            <a:off x="7406640" y="2523744"/>
            <a:ext cx="960120" cy="960120"/>
          </a:xfrm>
          <a:prstGeom prst="rect">
            <a:avLst/>
          </a:prstGeom>
        </p:spPr>
      </p:pic>
      <p:sp>
        <p:nvSpPr>
          <p:cNvPr id="30" name="Shape 17"/>
          <p:cNvSpPr/>
          <p:nvPr/>
        </p:nvSpPr>
        <p:spPr>
          <a:xfrm>
            <a:off x="5042916" y="3246120"/>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31" name="Text 18"/>
          <p:cNvSpPr txBox="1"/>
          <p:nvPr/>
        </p:nvSpPr>
        <p:spPr>
          <a:xfrm>
            <a:off x="5042916" y="3246120"/>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33.72 dB</a:t>
            </a:r>
            <a:endParaRPr lang="en-US" sz="900" dirty="0"/>
          </a:p>
        </p:txBody>
      </p:sp>
      <p:sp>
        <p:nvSpPr>
          <p:cNvPr id="32" name="Shape 19"/>
          <p:cNvSpPr/>
          <p:nvPr/>
        </p:nvSpPr>
        <p:spPr>
          <a:xfrm>
            <a:off x="6323076" y="3246120"/>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33" name="Text 20"/>
          <p:cNvSpPr txBox="1"/>
          <p:nvPr/>
        </p:nvSpPr>
        <p:spPr>
          <a:xfrm>
            <a:off x="6323076" y="3246120"/>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34.54 dB</a:t>
            </a:r>
            <a:endParaRPr lang="en-US" sz="900" dirty="0"/>
          </a:p>
        </p:txBody>
      </p:sp>
      <p:sp>
        <p:nvSpPr>
          <p:cNvPr id="34" name="Shape 21"/>
          <p:cNvSpPr/>
          <p:nvPr/>
        </p:nvSpPr>
        <p:spPr>
          <a:xfrm>
            <a:off x="7603236" y="3246120"/>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35" name="Text 22"/>
          <p:cNvSpPr txBox="1"/>
          <p:nvPr/>
        </p:nvSpPr>
        <p:spPr>
          <a:xfrm>
            <a:off x="7603236" y="3246120"/>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39.65 dB</a:t>
            </a:r>
            <a:endParaRPr lang="en-US" sz="900" dirty="0"/>
          </a:p>
        </p:txBody>
      </p:sp>
      <p:sp>
        <p:nvSpPr>
          <p:cNvPr id="36" name="Text 23"/>
          <p:cNvSpPr txBox="1"/>
          <p:nvPr/>
        </p:nvSpPr>
        <p:spPr>
          <a:xfrm>
            <a:off x="457200" y="3794760"/>
            <a:ext cx="1691640" cy="274320"/>
          </a:xfrm>
          <a:prstGeom prst="rect">
            <a:avLst/>
          </a:prstGeom>
          <a:noFill/>
          <a:ln/>
        </p:spPr>
        <p:txBody>
          <a:bodyPr wrap="square" lIns="0" tIns="0" rIns="0" bIns="0" rtlCol="0" anchor="t"/>
          <a:lstStyle/>
          <a:p>
            <a:pPr indent="0" marL="0">
              <a:buNone/>
            </a:pPr>
            <a:r>
              <a:rPr lang="en-US" sz="1500" b="1" dirty="0">
                <a:solidFill>
                  <a:srgbClr val="1B2140"/>
                </a:solidFill>
                <a:latin typeface="Calibri" pitchFamily="34" charset="0"/>
                <a:ea typeface="Calibri" pitchFamily="34" charset="-122"/>
                <a:cs typeface="Calibri" pitchFamily="34" charset="-120"/>
              </a:rPr>
              <a:t>Sunset peaks</a:t>
            </a:r>
            <a:endParaRPr lang="en-US" sz="1500" dirty="0"/>
          </a:p>
        </p:txBody>
      </p:sp>
      <p:sp>
        <p:nvSpPr>
          <p:cNvPr id="37" name="Text 24"/>
          <p:cNvSpPr txBox="1"/>
          <p:nvPr/>
        </p:nvSpPr>
        <p:spPr>
          <a:xfrm>
            <a:off x="457200" y="4087368"/>
            <a:ext cx="1691640" cy="274320"/>
          </a:xfrm>
          <a:prstGeom prst="rect">
            <a:avLst/>
          </a:prstGeom>
          <a:noFill/>
          <a:ln/>
        </p:spPr>
        <p:txBody>
          <a:bodyPr wrap="square" lIns="0" tIns="0" rIns="0" bIns="0" rtlCol="0" anchor="t"/>
          <a:lstStyle/>
          <a:p>
            <a:pPr indent="0" marL="0">
              <a:buNone/>
            </a:pPr>
            <a:r>
              <a:rPr lang="en-US" sz="1200" dirty="0">
                <a:solidFill>
                  <a:srgbClr val="5B6285"/>
                </a:solidFill>
                <a:latin typeface="Calibri" pitchFamily="34" charset="0"/>
                <a:ea typeface="Calibri" pitchFamily="34" charset="-122"/>
                <a:cs typeface="Calibri" pitchFamily="34" charset="-120"/>
              </a:rPr>
              <a:t>PPO: Boundary</a:t>
            </a:r>
            <a:endParaRPr lang="en-US" sz="1200" dirty="0"/>
          </a:p>
        </p:txBody>
      </p:sp>
      <p:pic>
        <p:nvPicPr>
          <p:cNvPr id="38" name="Image 10" descr="Sunset peaks Ground truth">    </p:cNvPr>
          <p:cNvPicPr>
            <a:picLocks noChangeAspect="1"/>
          </p:cNvPicPr>
          <p:nvPr/>
        </p:nvPicPr>
        <p:blipFill>
          <a:blip r:embed="rId11"/>
          <a:stretch>
            <a:fillRect/>
          </a:stretch>
        </p:blipFill>
        <p:spPr>
          <a:xfrm>
            <a:off x="2286000" y="3566160"/>
            <a:ext cx="960120" cy="960120"/>
          </a:xfrm>
          <a:prstGeom prst="rect">
            <a:avLst/>
          </a:prstGeom>
        </p:spPr>
      </p:pic>
      <p:pic>
        <p:nvPicPr>
          <p:cNvPr id="39" name="Image 11" descr="Sunset peaks Masked">    </p:cNvPr>
          <p:cNvPicPr>
            <a:picLocks noChangeAspect="1"/>
          </p:cNvPicPr>
          <p:nvPr/>
        </p:nvPicPr>
        <p:blipFill>
          <a:blip r:embed="rId12"/>
          <a:stretch>
            <a:fillRect/>
          </a:stretch>
        </p:blipFill>
        <p:spPr>
          <a:xfrm>
            <a:off x="3566160" y="3566160"/>
            <a:ext cx="960120" cy="960120"/>
          </a:xfrm>
          <a:prstGeom prst="rect">
            <a:avLst/>
          </a:prstGeom>
        </p:spPr>
      </p:pic>
      <p:pic>
        <p:nvPicPr>
          <p:cNvPr id="40" name="Image 12" descr="Sunset peaks A  Backbone">    </p:cNvPr>
          <p:cNvPicPr>
            <a:picLocks noChangeAspect="1"/>
          </p:cNvPicPr>
          <p:nvPr/>
        </p:nvPicPr>
        <p:blipFill>
          <a:blip r:embed="rId13"/>
          <a:stretch>
            <a:fillRect/>
          </a:stretch>
        </p:blipFill>
        <p:spPr>
          <a:xfrm>
            <a:off x="4846320" y="3566160"/>
            <a:ext cx="960120" cy="960120"/>
          </a:xfrm>
          <a:prstGeom prst="rect">
            <a:avLst/>
          </a:prstGeom>
        </p:spPr>
      </p:pic>
      <p:pic>
        <p:nvPicPr>
          <p:cNvPr id="41" name="Image 13" descr="Sunset peaks C  PPO-selected">    </p:cNvPr>
          <p:cNvPicPr>
            <a:picLocks noChangeAspect="1"/>
          </p:cNvPicPr>
          <p:nvPr/>
        </p:nvPicPr>
        <p:blipFill>
          <a:blip r:embed="rId14"/>
          <a:stretch>
            <a:fillRect/>
          </a:stretch>
        </p:blipFill>
        <p:spPr>
          <a:xfrm>
            <a:off x="6126480" y="3566160"/>
            <a:ext cx="960120" cy="960120"/>
          </a:xfrm>
          <a:prstGeom prst="rect">
            <a:avLst/>
          </a:prstGeom>
        </p:spPr>
      </p:pic>
      <p:pic>
        <p:nvPicPr>
          <p:cNvPr id="42" name="Image 14" descr="Sunset peaks D  PPO + refine">    </p:cNvPr>
          <p:cNvPicPr>
            <a:picLocks noChangeAspect="1"/>
          </p:cNvPicPr>
          <p:nvPr/>
        </p:nvPicPr>
        <p:blipFill>
          <a:blip r:embed="rId15"/>
          <a:stretch>
            <a:fillRect/>
          </a:stretch>
        </p:blipFill>
        <p:spPr>
          <a:xfrm>
            <a:off x="7406640" y="3566160"/>
            <a:ext cx="960120" cy="960120"/>
          </a:xfrm>
          <a:prstGeom prst="rect">
            <a:avLst/>
          </a:prstGeom>
        </p:spPr>
      </p:pic>
      <p:sp>
        <p:nvSpPr>
          <p:cNvPr id="43" name="Shape 25"/>
          <p:cNvSpPr/>
          <p:nvPr/>
        </p:nvSpPr>
        <p:spPr>
          <a:xfrm>
            <a:off x="5042916" y="4288536"/>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44" name="Text 26"/>
          <p:cNvSpPr txBox="1"/>
          <p:nvPr/>
        </p:nvSpPr>
        <p:spPr>
          <a:xfrm>
            <a:off x="5042916" y="4288536"/>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40.58 dB</a:t>
            </a:r>
            <a:endParaRPr lang="en-US" sz="900" dirty="0"/>
          </a:p>
        </p:txBody>
      </p:sp>
      <p:sp>
        <p:nvSpPr>
          <p:cNvPr id="45" name="Shape 27"/>
          <p:cNvSpPr/>
          <p:nvPr/>
        </p:nvSpPr>
        <p:spPr>
          <a:xfrm>
            <a:off x="6323076" y="4288536"/>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46" name="Text 28"/>
          <p:cNvSpPr txBox="1"/>
          <p:nvPr/>
        </p:nvSpPr>
        <p:spPr>
          <a:xfrm>
            <a:off x="6323076" y="4288536"/>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36.80 dB</a:t>
            </a:r>
            <a:endParaRPr lang="en-US" sz="900" dirty="0"/>
          </a:p>
        </p:txBody>
      </p:sp>
      <p:sp>
        <p:nvSpPr>
          <p:cNvPr id="47" name="Shape 29"/>
          <p:cNvSpPr/>
          <p:nvPr/>
        </p:nvSpPr>
        <p:spPr>
          <a:xfrm>
            <a:off x="7603236" y="4288536"/>
            <a:ext cx="566928" cy="201168"/>
          </a:xfrm>
          <a:prstGeom prst="roundRect">
            <a:avLst>
              <a:gd name="adj" fmla="val 22727"/>
            </a:avLst>
          </a:prstGeom>
          <a:solidFill>
            <a:srgbClr val="0B1026">
              <a:alpha val="75000"/>
            </a:srgbClr>
          </a:solidFill>
          <a:ln w="12700">
            <a:solidFill>
              <a:srgbClr val="0B1026">
                <a:alpha val="0"/>
              </a:srgbClr>
            </a:solidFill>
            <a:prstDash val="solid"/>
          </a:ln>
        </p:spPr>
      </p:sp>
      <p:sp>
        <p:nvSpPr>
          <p:cNvPr id="48" name="Text 30"/>
          <p:cNvSpPr txBox="1"/>
          <p:nvPr/>
        </p:nvSpPr>
        <p:spPr>
          <a:xfrm>
            <a:off x="7603236" y="4288536"/>
            <a:ext cx="5669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43.19 dB</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6D5DFC"/>
                </a:solidFill>
                <a:latin typeface="Calibri" pitchFamily="34" charset="0"/>
                <a:ea typeface="Calibri" pitchFamily="34" charset="-122"/>
                <a:cs typeface="Calibri" pitchFamily="34" charset="-120"/>
              </a:rPr>
              <a:t>LIVE DEMO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B1026"/>
                </a:solidFill>
                <a:latin typeface="Cambria" pitchFamily="34" charset="0"/>
                <a:ea typeface="Cambria" pitchFamily="34" charset="-122"/>
                <a:cs typeface="Cambria" pitchFamily="34" charset="-120"/>
              </a:rPr>
              <a:t>RL-GAN Studio: draw, run, compare</a:t>
            </a:r>
            <a:endParaRPr lang="en-US" sz="3000" dirty="0"/>
          </a:p>
        </p:txBody>
      </p:sp>
      <p:sp>
        <p:nvSpPr>
          <p:cNvPr id="5" name="Shape 2"/>
          <p:cNvSpPr/>
          <p:nvPr/>
        </p:nvSpPr>
        <p:spPr>
          <a:xfrm>
            <a:off x="457200" y="1234440"/>
            <a:ext cx="4526280" cy="3429000"/>
          </a:xfrm>
          <a:prstGeom prst="roundRect">
            <a:avLst>
              <a:gd name="adj" fmla="val 3200"/>
            </a:avLst>
          </a:prstGeom>
          <a:solidFill>
            <a:srgbClr val="0D1226"/>
          </a:solidFill>
          <a:ln w="12700">
            <a:solidFill>
              <a:srgbClr val="0D1226"/>
            </a:solidFill>
            <a:prstDash val="solid"/>
          </a:ln>
          <a:effectLst>
            <a:outerShdw sx="100000" sy="100000" kx="0" ky="0" algn="bl" rotWithShape="0" blurRad="127000" dist="25400" dir="5400000">
              <a:srgbClr val="1B2140">
                <a:alpha val="12000"/>
              </a:srgbClr>
            </a:outerShdw>
          </a:effectLst>
        </p:spPr>
      </p:sp>
      <p:pic>
        <p:nvPicPr>
          <p:cNvPr id="6" name="Image 0" descr="RL-GAN Studio screenshot">    </p:cNvPr>
          <p:cNvPicPr>
            <a:picLocks noChangeAspect="1"/>
          </p:cNvPicPr>
          <p:nvPr/>
        </p:nvPicPr>
        <p:blipFill>
          <a:blip r:embed="rId1"/>
          <a:stretch>
            <a:fillRect/>
          </a:stretch>
        </p:blipFill>
        <p:spPr>
          <a:xfrm>
            <a:off x="566928" y="1344168"/>
            <a:ext cx="4306824" cy="3209544"/>
          </a:xfrm>
          <a:prstGeom prst="rect">
            <a:avLst/>
          </a:prstGeom>
        </p:spPr>
      </p:pic>
      <p:sp>
        <p:nvSpPr>
          <p:cNvPr id="7" name="Shape 3"/>
          <p:cNvSpPr/>
          <p:nvPr/>
        </p:nvSpPr>
        <p:spPr>
          <a:xfrm>
            <a:off x="5212080" y="1234440"/>
            <a:ext cx="347472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8" name="Shape 4"/>
          <p:cNvSpPr/>
          <p:nvPr/>
        </p:nvSpPr>
        <p:spPr>
          <a:xfrm>
            <a:off x="5349240" y="1362456"/>
            <a:ext cx="493776" cy="493776"/>
          </a:xfrm>
          <a:prstGeom prst="ellipse">
            <a:avLst/>
          </a:prstGeom>
          <a:solidFill>
            <a:srgbClr val="6D5DFC"/>
          </a:solidFill>
          <a:ln w="12700">
            <a:solidFill>
              <a:srgbClr val="6D5DFC"/>
            </a:solidFill>
            <a:prstDash val="solid"/>
          </a:ln>
        </p:spPr>
      </p:sp>
      <p:pic>
        <p:nvPicPr>
          <p:cNvPr id="9" name="Image 1" descr="preencoded.png">    </p:cNvPr>
          <p:cNvPicPr>
            <a:picLocks noChangeAspect="1"/>
          </p:cNvPicPr>
          <p:nvPr/>
        </p:nvPicPr>
        <p:blipFill>
          <a:blip r:embed="rId2"/>
          <a:stretch>
            <a:fillRect/>
          </a:stretch>
        </p:blipFill>
        <p:spPr>
          <a:xfrm>
            <a:off x="5472684" y="1485900"/>
            <a:ext cx="246888" cy="246888"/>
          </a:xfrm>
          <a:prstGeom prst="rect">
            <a:avLst/>
          </a:prstGeom>
        </p:spPr>
      </p:pic>
      <p:sp>
        <p:nvSpPr>
          <p:cNvPr id="10" name="Text 5"/>
          <p:cNvSpPr txBox="1"/>
          <p:nvPr/>
        </p:nvSpPr>
        <p:spPr>
          <a:xfrm>
            <a:off x="5989320" y="1307592"/>
            <a:ext cx="2651760" cy="256032"/>
          </a:xfrm>
          <a:prstGeom prst="rect">
            <a:avLst/>
          </a:prstGeom>
          <a:noFill/>
          <a:ln/>
        </p:spPr>
        <p:txBody>
          <a:bodyPr wrap="square" lIns="0" tIns="0" rIns="0" bIns="0" rtlCol="0" anchor="t"/>
          <a:lstStyle/>
          <a:p>
            <a:pPr indent="0" marL="0">
              <a:buNone/>
            </a:pPr>
            <a:r>
              <a:rPr lang="en-US" sz="1400" b="1" dirty="0">
                <a:solidFill>
                  <a:srgbClr val="1B2140"/>
                </a:solidFill>
                <a:latin typeface="Calibri" pitchFamily="34" charset="0"/>
                <a:ea typeface="Calibri" pitchFamily="34" charset="-122"/>
                <a:cs typeface="Calibri" pitchFamily="34" charset="-120"/>
              </a:rPr>
              <a:t>Paint the hole</a:t>
            </a:r>
            <a:endParaRPr lang="en-US" sz="1400" dirty="0"/>
          </a:p>
        </p:txBody>
      </p:sp>
      <p:sp>
        <p:nvSpPr>
          <p:cNvPr id="11" name="Text 6"/>
          <p:cNvSpPr txBox="1"/>
          <p:nvPr/>
        </p:nvSpPr>
        <p:spPr>
          <a:xfrm>
            <a:off x="5989320" y="1581912"/>
            <a:ext cx="2651760" cy="384048"/>
          </a:xfrm>
          <a:prstGeom prst="rect">
            <a:avLst/>
          </a:prstGeom>
          <a:noFill/>
          <a:ln/>
        </p:spPr>
        <p:txBody>
          <a:bodyPr wrap="square" lIns="0" tIns="0" rIns="0" bIns="0" rtlCol="0" anchor="t"/>
          <a:lstStyle/>
          <a:p>
            <a:pPr indent="0" marL="0">
              <a:buNone/>
            </a:pPr>
            <a:r>
              <a:rPr lang="en-US" sz="1150" dirty="0">
                <a:solidFill>
                  <a:srgbClr val="5B6285"/>
                </a:solidFill>
                <a:latin typeface="Calibri" pitchFamily="34" charset="0"/>
                <a:ea typeface="Calibri" pitchFamily="34" charset="-122"/>
                <a:cs typeface="Calibri" pitchFamily="34" charset="-120"/>
              </a:rPr>
              <a:t>Brush canvas, random masks, or upload a photo.</a:t>
            </a:r>
            <a:endParaRPr lang="en-US" sz="1150" dirty="0"/>
          </a:p>
        </p:txBody>
      </p:sp>
      <p:sp>
        <p:nvSpPr>
          <p:cNvPr id="12" name="Shape 7"/>
          <p:cNvSpPr/>
          <p:nvPr/>
        </p:nvSpPr>
        <p:spPr>
          <a:xfrm>
            <a:off x="5212080" y="2103120"/>
            <a:ext cx="347472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3" name="Shape 8"/>
          <p:cNvSpPr/>
          <p:nvPr/>
        </p:nvSpPr>
        <p:spPr>
          <a:xfrm>
            <a:off x="5349240" y="2231136"/>
            <a:ext cx="493776" cy="493776"/>
          </a:xfrm>
          <a:prstGeom prst="ellipse">
            <a:avLst/>
          </a:prstGeom>
          <a:solidFill>
            <a:srgbClr val="F59E0B"/>
          </a:solidFill>
          <a:ln w="12700">
            <a:solidFill>
              <a:srgbClr val="F59E0B"/>
            </a:solidFill>
            <a:prstDash val="solid"/>
          </a:ln>
        </p:spPr>
      </p:sp>
      <p:pic>
        <p:nvPicPr>
          <p:cNvPr id="14" name="Image 2" descr="preencoded.png">    </p:cNvPr>
          <p:cNvPicPr>
            <a:picLocks noChangeAspect="1"/>
          </p:cNvPicPr>
          <p:nvPr/>
        </p:nvPicPr>
        <p:blipFill>
          <a:blip r:embed="rId3"/>
          <a:stretch>
            <a:fillRect/>
          </a:stretch>
        </p:blipFill>
        <p:spPr>
          <a:xfrm>
            <a:off x="5472684" y="2354580"/>
            <a:ext cx="246888" cy="246888"/>
          </a:xfrm>
          <a:prstGeom prst="rect">
            <a:avLst/>
          </a:prstGeom>
        </p:spPr>
      </p:pic>
      <p:sp>
        <p:nvSpPr>
          <p:cNvPr id="15" name="Text 9"/>
          <p:cNvSpPr txBox="1"/>
          <p:nvPr/>
        </p:nvSpPr>
        <p:spPr>
          <a:xfrm>
            <a:off x="5989320" y="2176272"/>
            <a:ext cx="2651760" cy="256032"/>
          </a:xfrm>
          <a:prstGeom prst="rect">
            <a:avLst/>
          </a:prstGeom>
          <a:noFill/>
          <a:ln/>
        </p:spPr>
        <p:txBody>
          <a:bodyPr wrap="square" lIns="0" tIns="0" rIns="0" bIns="0" rtlCol="0" anchor="t"/>
          <a:lstStyle/>
          <a:p>
            <a:pPr indent="0" marL="0">
              <a:buNone/>
            </a:pPr>
            <a:r>
              <a:rPr lang="en-US" sz="1400" b="1" dirty="0">
                <a:solidFill>
                  <a:srgbClr val="1B2140"/>
                </a:solidFill>
                <a:latin typeface="Calibri" pitchFamily="34" charset="0"/>
                <a:ea typeface="Calibri" pitchFamily="34" charset="-122"/>
                <a:cs typeface="Calibri" pitchFamily="34" charset="-120"/>
              </a:rPr>
              <a:t>See the decision</a:t>
            </a:r>
            <a:endParaRPr lang="en-US" sz="1400" dirty="0"/>
          </a:p>
        </p:txBody>
      </p:sp>
      <p:sp>
        <p:nvSpPr>
          <p:cNvPr id="16" name="Text 10"/>
          <p:cNvSpPr txBox="1"/>
          <p:nvPr/>
        </p:nvSpPr>
        <p:spPr>
          <a:xfrm>
            <a:off x="5989320" y="2450592"/>
            <a:ext cx="2651760" cy="384048"/>
          </a:xfrm>
          <a:prstGeom prst="rect">
            <a:avLst/>
          </a:prstGeom>
          <a:noFill/>
          <a:ln/>
        </p:spPr>
        <p:txBody>
          <a:bodyPr wrap="square" lIns="0" tIns="0" rIns="0" bIns="0" rtlCol="0" anchor="t"/>
          <a:lstStyle/>
          <a:p>
            <a:pPr indent="0" marL="0">
              <a:buNone/>
            </a:pPr>
            <a:r>
              <a:rPr lang="en-US" sz="1150" dirty="0">
                <a:solidFill>
                  <a:srgbClr val="5B6285"/>
                </a:solidFill>
                <a:latin typeface="Calibri" pitchFamily="34" charset="0"/>
                <a:ea typeface="Calibri" pitchFamily="34" charset="-122"/>
                <a:cs typeface="Calibri" pitchFamily="34" charset="-120"/>
              </a:rPr>
              <a:t>Strategy chosen by PPO and PSNR gain over baseline.</a:t>
            </a:r>
            <a:endParaRPr lang="en-US" sz="1150" dirty="0"/>
          </a:p>
        </p:txBody>
      </p:sp>
      <p:sp>
        <p:nvSpPr>
          <p:cNvPr id="17" name="Shape 11"/>
          <p:cNvSpPr/>
          <p:nvPr/>
        </p:nvSpPr>
        <p:spPr>
          <a:xfrm>
            <a:off x="5212080" y="2971800"/>
            <a:ext cx="347472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18" name="Shape 12"/>
          <p:cNvSpPr/>
          <p:nvPr/>
        </p:nvSpPr>
        <p:spPr>
          <a:xfrm>
            <a:off x="5349240" y="3099816"/>
            <a:ext cx="493776" cy="493776"/>
          </a:xfrm>
          <a:prstGeom prst="ellipse">
            <a:avLst/>
          </a:prstGeom>
          <a:solidFill>
            <a:srgbClr val="0EA5E9"/>
          </a:solidFill>
          <a:ln w="12700">
            <a:solidFill>
              <a:srgbClr val="0EA5E9"/>
            </a:solidFill>
            <a:prstDash val="solid"/>
          </a:ln>
        </p:spPr>
      </p:sp>
      <p:pic>
        <p:nvPicPr>
          <p:cNvPr id="19" name="Image 3" descr="preencoded.png">    </p:cNvPr>
          <p:cNvPicPr>
            <a:picLocks noChangeAspect="1"/>
          </p:cNvPicPr>
          <p:nvPr/>
        </p:nvPicPr>
        <p:blipFill>
          <a:blip r:embed="rId4"/>
          <a:stretch>
            <a:fillRect/>
          </a:stretch>
        </p:blipFill>
        <p:spPr>
          <a:xfrm>
            <a:off x="5472684" y="3223260"/>
            <a:ext cx="246888" cy="246888"/>
          </a:xfrm>
          <a:prstGeom prst="rect">
            <a:avLst/>
          </a:prstGeom>
        </p:spPr>
      </p:pic>
      <p:sp>
        <p:nvSpPr>
          <p:cNvPr id="20" name="Text 13"/>
          <p:cNvSpPr txBox="1"/>
          <p:nvPr/>
        </p:nvSpPr>
        <p:spPr>
          <a:xfrm>
            <a:off x="5989320" y="3044952"/>
            <a:ext cx="2651760" cy="256032"/>
          </a:xfrm>
          <a:prstGeom prst="rect">
            <a:avLst/>
          </a:prstGeom>
          <a:noFill/>
          <a:ln/>
        </p:spPr>
        <p:txBody>
          <a:bodyPr wrap="square" lIns="0" tIns="0" rIns="0" bIns="0" rtlCol="0" anchor="t"/>
          <a:lstStyle/>
          <a:p>
            <a:pPr indent="0" marL="0">
              <a:buNone/>
            </a:pPr>
            <a:r>
              <a:rPr lang="en-US" sz="1400" b="1" dirty="0">
                <a:solidFill>
                  <a:srgbClr val="1B2140"/>
                </a:solidFill>
                <a:latin typeface="Calibri" pitchFamily="34" charset="0"/>
                <a:ea typeface="Calibri" pitchFamily="34" charset="-122"/>
                <a:cs typeface="Calibri" pitchFamily="34" charset="-120"/>
              </a:rPr>
              <a:t>Compare instantly</a:t>
            </a:r>
            <a:endParaRPr lang="en-US" sz="1400" dirty="0"/>
          </a:p>
        </p:txBody>
      </p:sp>
      <p:sp>
        <p:nvSpPr>
          <p:cNvPr id="21" name="Text 14"/>
          <p:cNvSpPr txBox="1"/>
          <p:nvPr/>
        </p:nvSpPr>
        <p:spPr>
          <a:xfrm>
            <a:off x="5989320" y="3319272"/>
            <a:ext cx="2651760" cy="384048"/>
          </a:xfrm>
          <a:prstGeom prst="rect">
            <a:avLst/>
          </a:prstGeom>
          <a:noFill/>
          <a:ln/>
        </p:spPr>
        <p:txBody>
          <a:bodyPr wrap="square" lIns="0" tIns="0" rIns="0" bIns="0" rtlCol="0" anchor="t"/>
          <a:lstStyle/>
          <a:p>
            <a:pPr indent="0" marL="0">
              <a:buNone/>
            </a:pPr>
            <a:r>
              <a:rPr lang="en-US" sz="1150" dirty="0">
                <a:solidFill>
                  <a:srgbClr val="5B6285"/>
                </a:solidFill>
                <a:latin typeface="Calibri" pitchFamily="34" charset="0"/>
                <a:ea typeface="Calibri" pitchFamily="34" charset="-122"/>
                <a:cs typeface="Calibri" pitchFamily="34" charset="-120"/>
              </a:rPr>
              <a:t>Split slider and a 5-stage pipeline view.</a:t>
            </a:r>
            <a:endParaRPr lang="en-US" sz="1150" dirty="0"/>
          </a:p>
        </p:txBody>
      </p:sp>
      <p:sp>
        <p:nvSpPr>
          <p:cNvPr id="22" name="Shape 15"/>
          <p:cNvSpPr/>
          <p:nvPr/>
        </p:nvSpPr>
        <p:spPr>
          <a:xfrm>
            <a:off x="5212080" y="3840480"/>
            <a:ext cx="347472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127000" dist="25400" dir="5400000">
              <a:srgbClr val="1B2140">
                <a:alpha val="12000"/>
              </a:srgbClr>
            </a:outerShdw>
          </a:effectLst>
        </p:spPr>
      </p:sp>
      <p:sp>
        <p:nvSpPr>
          <p:cNvPr id="23" name="Shape 16"/>
          <p:cNvSpPr/>
          <p:nvPr/>
        </p:nvSpPr>
        <p:spPr>
          <a:xfrm>
            <a:off x="5349240" y="3968496"/>
            <a:ext cx="493776" cy="493776"/>
          </a:xfrm>
          <a:prstGeom prst="ellipse">
            <a:avLst/>
          </a:prstGeom>
          <a:solidFill>
            <a:srgbClr val="EC4899"/>
          </a:solidFill>
          <a:ln w="12700">
            <a:solidFill>
              <a:srgbClr val="EC4899"/>
            </a:solidFill>
            <a:prstDash val="solid"/>
          </a:ln>
        </p:spPr>
      </p:sp>
      <p:pic>
        <p:nvPicPr>
          <p:cNvPr id="24" name="Image 4" descr="preencoded.png">    </p:cNvPr>
          <p:cNvPicPr>
            <a:picLocks noChangeAspect="1"/>
          </p:cNvPicPr>
          <p:nvPr/>
        </p:nvPicPr>
        <p:blipFill>
          <a:blip r:embed="rId5"/>
          <a:stretch>
            <a:fillRect/>
          </a:stretch>
        </p:blipFill>
        <p:spPr>
          <a:xfrm>
            <a:off x="5472684" y="4091940"/>
            <a:ext cx="246888" cy="246888"/>
          </a:xfrm>
          <a:prstGeom prst="rect">
            <a:avLst/>
          </a:prstGeom>
        </p:spPr>
      </p:pic>
      <p:sp>
        <p:nvSpPr>
          <p:cNvPr id="25" name="Text 17"/>
          <p:cNvSpPr txBox="1"/>
          <p:nvPr/>
        </p:nvSpPr>
        <p:spPr>
          <a:xfrm>
            <a:off x="5989320" y="3913632"/>
            <a:ext cx="2651760" cy="256032"/>
          </a:xfrm>
          <a:prstGeom prst="rect">
            <a:avLst/>
          </a:prstGeom>
          <a:noFill/>
          <a:ln/>
        </p:spPr>
        <p:txBody>
          <a:bodyPr wrap="square" lIns="0" tIns="0" rIns="0" bIns="0" rtlCol="0" anchor="t"/>
          <a:lstStyle/>
          <a:p>
            <a:pPr indent="0" marL="0">
              <a:buNone/>
            </a:pPr>
            <a:r>
              <a:rPr lang="en-US" sz="1400" b="1" dirty="0">
                <a:solidFill>
                  <a:srgbClr val="1B2140"/>
                </a:solidFill>
                <a:latin typeface="Calibri" pitchFamily="34" charset="0"/>
                <a:ea typeface="Calibri" pitchFamily="34" charset="-122"/>
                <a:cs typeface="Calibri" pitchFamily="34" charset="-120"/>
              </a:rPr>
              <a:t>Two modes</a:t>
            </a:r>
            <a:endParaRPr lang="en-US" sz="1400" dirty="0"/>
          </a:p>
        </p:txBody>
      </p:sp>
      <p:sp>
        <p:nvSpPr>
          <p:cNvPr id="26" name="Text 18"/>
          <p:cNvSpPr txBox="1"/>
          <p:nvPr/>
        </p:nvSpPr>
        <p:spPr>
          <a:xfrm>
            <a:off x="5989320" y="4187952"/>
            <a:ext cx="2651760" cy="384048"/>
          </a:xfrm>
          <a:prstGeom prst="rect">
            <a:avLst/>
          </a:prstGeom>
          <a:noFill/>
          <a:ln/>
        </p:spPr>
        <p:txBody>
          <a:bodyPr wrap="square" lIns="0" tIns="0" rIns="0" bIns="0" rtlCol="0" anchor="t"/>
          <a:lstStyle/>
          <a:p>
            <a:pPr indent="0" marL="0">
              <a:buNone/>
            </a:pPr>
            <a:r>
              <a:rPr lang="en-US" sz="1150" dirty="0">
                <a:solidFill>
                  <a:srgbClr val="5B6285"/>
                </a:solidFill>
                <a:latin typeface="Calibri" pitchFamily="34" charset="0"/>
                <a:ea typeface="Calibri" pitchFamily="34" charset="-122"/>
                <a:cs typeface="Calibri" pitchFamily="34" charset="-120"/>
              </a:rPr>
              <a:t>Instant ~235 ms, or Ultra-Precision with 60-step tuning.</a:t>
            </a:r>
            <a:endParaRPr lang="en-US" sz="11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2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6217920" y="-1371600"/>
            <a:ext cx="4572000" cy="4572000"/>
          </a:xfrm>
          <a:prstGeom prst="ellipse">
            <a:avLst/>
          </a:prstGeom>
          <a:solidFill>
            <a:srgbClr val="6D5DFC">
              <a:alpha val="18000"/>
            </a:srgbClr>
          </a:solidFill>
          <a:ln w="12700">
            <a:solidFill>
              <a:srgbClr val="6D5DFC">
                <a:alpha val="0"/>
              </a:srgbClr>
            </a:solidFill>
            <a:prstDash val="solid"/>
          </a:ln>
        </p:spPr>
      </p:sp>
      <p:sp>
        <p:nvSpPr>
          <p:cNvPr id="4" name="Text 1"/>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200" b="1" spc="400" kern="0" dirty="0">
                <a:solidFill>
                  <a:srgbClr val="0EA5E9"/>
                </a:solidFill>
                <a:latin typeface="Calibri" pitchFamily="34" charset="0"/>
                <a:ea typeface="Calibri" pitchFamily="34" charset="-122"/>
                <a:cs typeface="Calibri" pitchFamily="34" charset="-120"/>
              </a:rPr>
              <a:t>KEY TAKEAWAYS</a:t>
            </a:r>
            <a:endParaRPr lang="en-US" sz="1200" dirty="0"/>
          </a:p>
        </p:txBody>
      </p:sp>
      <p:sp>
        <p:nvSpPr>
          <p:cNvPr id="5" name="Text 2"/>
          <p:cNvSpPr txBox="1"/>
          <p:nvPr/>
        </p:nvSpPr>
        <p:spPr>
          <a:xfrm>
            <a:off x="548640" y="822960"/>
            <a:ext cx="7498080" cy="6400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Learn to choose the repair</a:t>
            </a:r>
            <a:endParaRPr lang="en-US" sz="3400" dirty="0"/>
          </a:p>
        </p:txBody>
      </p:sp>
      <p:sp>
        <p:nvSpPr>
          <p:cNvPr id="6" name="Shape 3"/>
          <p:cNvSpPr/>
          <p:nvPr/>
        </p:nvSpPr>
        <p:spPr>
          <a:xfrm>
            <a:off x="548640" y="1828800"/>
            <a:ext cx="3703320" cy="914400"/>
          </a:xfrm>
          <a:prstGeom prst="roundRect">
            <a:avLst>
              <a:gd name="adj" fmla="val 12000"/>
            </a:avLst>
          </a:prstGeom>
          <a:solidFill>
            <a:srgbClr val="151C42"/>
          </a:solidFill>
          <a:ln w="12700">
            <a:solidFill>
              <a:srgbClr val="2B3566"/>
            </a:solidFill>
            <a:prstDash val="solid"/>
          </a:ln>
        </p:spPr>
      </p:sp>
      <p:sp>
        <p:nvSpPr>
          <p:cNvPr id="7" name="Shape 4"/>
          <p:cNvSpPr/>
          <p:nvPr/>
        </p:nvSpPr>
        <p:spPr>
          <a:xfrm>
            <a:off x="731520" y="2029968"/>
            <a:ext cx="512064" cy="512064"/>
          </a:xfrm>
          <a:prstGeom prst="ellipse">
            <a:avLst/>
          </a:prstGeom>
          <a:solidFill>
            <a:srgbClr val="8A93B8"/>
          </a:solidFill>
          <a:ln w="12700">
            <a:solidFill>
              <a:srgbClr val="8A93B8"/>
            </a:solidFill>
            <a:prstDash val="solid"/>
          </a:ln>
        </p:spPr>
      </p:sp>
      <p:pic>
        <p:nvPicPr>
          <p:cNvPr id="8" name="Image 0" descr="preencoded.png">    </p:cNvPr>
          <p:cNvPicPr>
            <a:picLocks noChangeAspect="1"/>
          </p:cNvPicPr>
          <p:nvPr/>
        </p:nvPicPr>
        <p:blipFill>
          <a:blip r:embed="rId1"/>
          <a:stretch>
            <a:fillRect/>
          </a:stretch>
        </p:blipFill>
        <p:spPr>
          <a:xfrm>
            <a:off x="859536" y="2157984"/>
            <a:ext cx="256032" cy="256032"/>
          </a:xfrm>
          <a:prstGeom prst="rect">
            <a:avLst/>
          </a:prstGeom>
        </p:spPr>
      </p:pic>
      <p:sp>
        <p:nvSpPr>
          <p:cNvPr id="9" name="Text 5"/>
          <p:cNvSpPr txBox="1"/>
          <p:nvPr/>
        </p:nvSpPr>
        <p:spPr>
          <a:xfrm>
            <a:off x="1417320" y="1956816"/>
            <a:ext cx="27432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Strong prior kept</a:t>
            </a:r>
            <a:endParaRPr lang="en-US" sz="1600" dirty="0"/>
          </a:p>
        </p:txBody>
      </p:sp>
      <p:sp>
        <p:nvSpPr>
          <p:cNvPr id="10" name="Text 6"/>
          <p:cNvSpPr txBox="1"/>
          <p:nvPr/>
        </p:nvSpPr>
        <p:spPr>
          <a:xfrm>
            <a:off x="1417320" y="2286000"/>
            <a:ext cx="2743200" cy="365760"/>
          </a:xfrm>
          <a:prstGeom prst="rect">
            <a:avLst/>
          </a:prstGeom>
          <a:noFill/>
          <a:ln/>
        </p:spPr>
        <p:txBody>
          <a:bodyPr wrap="square" lIns="0" tIns="0" rIns="0" bIns="0" rtlCol="0" anchor="t"/>
          <a:lstStyle/>
          <a:p>
            <a:pPr indent="0" marL="0">
              <a:buNone/>
            </a:pPr>
            <a:r>
              <a:rPr lang="en-US" sz="1300" dirty="0">
                <a:solidFill>
                  <a:srgbClr val="C9D1F5"/>
                </a:solidFill>
                <a:latin typeface="Calibri" pitchFamily="34" charset="0"/>
                <a:ea typeface="Calibri" pitchFamily="34" charset="-122"/>
                <a:cs typeface="Calibri" pitchFamily="34" charset="-120"/>
              </a:rPr>
              <a:t>Frozen Places2 DeepFill-v2 backbone.</a:t>
            </a:r>
            <a:endParaRPr lang="en-US" sz="1300" dirty="0"/>
          </a:p>
        </p:txBody>
      </p:sp>
      <p:sp>
        <p:nvSpPr>
          <p:cNvPr id="11" name="Shape 7"/>
          <p:cNvSpPr/>
          <p:nvPr/>
        </p:nvSpPr>
        <p:spPr>
          <a:xfrm>
            <a:off x="4434840" y="1828800"/>
            <a:ext cx="3703320" cy="914400"/>
          </a:xfrm>
          <a:prstGeom prst="roundRect">
            <a:avLst>
              <a:gd name="adj" fmla="val 12000"/>
            </a:avLst>
          </a:prstGeom>
          <a:solidFill>
            <a:srgbClr val="151C42"/>
          </a:solidFill>
          <a:ln w="12700">
            <a:solidFill>
              <a:srgbClr val="2B3566"/>
            </a:solidFill>
            <a:prstDash val="solid"/>
          </a:ln>
        </p:spPr>
      </p:sp>
      <p:sp>
        <p:nvSpPr>
          <p:cNvPr id="12" name="Shape 8"/>
          <p:cNvSpPr/>
          <p:nvPr/>
        </p:nvSpPr>
        <p:spPr>
          <a:xfrm>
            <a:off x="4617720" y="2029968"/>
            <a:ext cx="512064" cy="512064"/>
          </a:xfrm>
          <a:prstGeom prst="ellipse">
            <a:avLst/>
          </a:prstGeom>
          <a:solidFill>
            <a:srgbClr val="6D5DFC"/>
          </a:solidFill>
          <a:ln w="12700">
            <a:solidFill>
              <a:srgbClr val="6D5DFC"/>
            </a:solidFill>
            <a:prstDash val="solid"/>
          </a:ln>
        </p:spPr>
      </p:sp>
      <p:pic>
        <p:nvPicPr>
          <p:cNvPr id="13" name="Image 1" descr="preencoded.png">    </p:cNvPr>
          <p:cNvPicPr>
            <a:picLocks noChangeAspect="1"/>
          </p:cNvPicPr>
          <p:nvPr/>
        </p:nvPicPr>
        <p:blipFill>
          <a:blip r:embed="rId2"/>
          <a:stretch>
            <a:fillRect/>
          </a:stretch>
        </p:blipFill>
        <p:spPr>
          <a:xfrm>
            <a:off x="4745736" y="2157984"/>
            <a:ext cx="256032" cy="256032"/>
          </a:xfrm>
          <a:prstGeom prst="rect">
            <a:avLst/>
          </a:prstGeom>
        </p:spPr>
      </p:pic>
      <p:sp>
        <p:nvSpPr>
          <p:cNvPr id="14" name="Text 9"/>
          <p:cNvSpPr txBox="1"/>
          <p:nvPr/>
        </p:nvSpPr>
        <p:spPr>
          <a:xfrm>
            <a:off x="5303520" y="1956816"/>
            <a:ext cx="27432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Four specialists</a:t>
            </a:r>
            <a:endParaRPr lang="en-US" sz="1600" dirty="0"/>
          </a:p>
        </p:txBody>
      </p:sp>
      <p:sp>
        <p:nvSpPr>
          <p:cNvPr id="15" name="Text 10"/>
          <p:cNvSpPr txBox="1"/>
          <p:nvPr/>
        </p:nvSpPr>
        <p:spPr>
          <a:xfrm>
            <a:off x="5303520" y="2286000"/>
            <a:ext cx="2743200" cy="365760"/>
          </a:xfrm>
          <a:prstGeom prst="rect">
            <a:avLst/>
          </a:prstGeom>
          <a:noFill/>
          <a:ln/>
        </p:spPr>
        <p:txBody>
          <a:bodyPr wrap="square" lIns="0" tIns="0" rIns="0" bIns="0" rtlCol="0" anchor="t"/>
          <a:lstStyle/>
          <a:p>
            <a:pPr indent="0" marL="0">
              <a:buNone/>
            </a:pPr>
            <a:r>
              <a:rPr lang="en-US" sz="1300" dirty="0">
                <a:solidFill>
                  <a:srgbClr val="C9D1F5"/>
                </a:solidFill>
                <a:latin typeface="Calibri" pitchFamily="34" charset="0"/>
                <a:ea typeface="Calibri" pitchFamily="34" charset="-122"/>
                <a:cs typeface="Calibri" pitchFamily="34" charset="-120"/>
              </a:rPr>
              <a:t>Residual adapters with their own losses.</a:t>
            </a:r>
            <a:endParaRPr lang="en-US" sz="1300" dirty="0"/>
          </a:p>
        </p:txBody>
      </p:sp>
      <p:sp>
        <p:nvSpPr>
          <p:cNvPr id="16" name="Shape 11"/>
          <p:cNvSpPr/>
          <p:nvPr/>
        </p:nvSpPr>
        <p:spPr>
          <a:xfrm>
            <a:off x="548640" y="2926080"/>
            <a:ext cx="3703320" cy="914400"/>
          </a:xfrm>
          <a:prstGeom prst="roundRect">
            <a:avLst>
              <a:gd name="adj" fmla="val 12000"/>
            </a:avLst>
          </a:prstGeom>
          <a:solidFill>
            <a:srgbClr val="151C42"/>
          </a:solidFill>
          <a:ln w="12700">
            <a:solidFill>
              <a:srgbClr val="2B3566"/>
            </a:solidFill>
            <a:prstDash val="solid"/>
          </a:ln>
        </p:spPr>
      </p:sp>
      <p:sp>
        <p:nvSpPr>
          <p:cNvPr id="17" name="Shape 12"/>
          <p:cNvSpPr/>
          <p:nvPr/>
        </p:nvSpPr>
        <p:spPr>
          <a:xfrm>
            <a:off x="731520" y="3127248"/>
            <a:ext cx="512064" cy="512064"/>
          </a:xfrm>
          <a:prstGeom prst="ellipse">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859536" y="3255264"/>
            <a:ext cx="256032" cy="256032"/>
          </a:xfrm>
          <a:prstGeom prst="rect">
            <a:avLst/>
          </a:prstGeom>
        </p:spPr>
      </p:pic>
      <p:sp>
        <p:nvSpPr>
          <p:cNvPr id="19" name="Text 13"/>
          <p:cNvSpPr txBox="1"/>
          <p:nvPr/>
        </p:nvSpPr>
        <p:spPr>
          <a:xfrm>
            <a:off x="1417320" y="3054096"/>
            <a:ext cx="27432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Cost-aware PPO</a:t>
            </a:r>
            <a:endParaRPr lang="en-US" sz="1600" dirty="0"/>
          </a:p>
        </p:txBody>
      </p:sp>
      <p:sp>
        <p:nvSpPr>
          <p:cNvPr id="20" name="Text 14"/>
          <p:cNvSpPr txBox="1"/>
          <p:nvPr/>
        </p:nvSpPr>
        <p:spPr>
          <a:xfrm>
            <a:off x="1417320" y="3383280"/>
            <a:ext cx="2743200" cy="365760"/>
          </a:xfrm>
          <a:prstGeom prst="rect">
            <a:avLst/>
          </a:prstGeom>
          <a:noFill/>
          <a:ln/>
        </p:spPr>
        <p:txBody>
          <a:bodyPr wrap="square" lIns="0" tIns="0" rIns="0" bIns="0" rtlCol="0" anchor="t"/>
          <a:lstStyle/>
          <a:p>
            <a:pPr indent="0" marL="0">
              <a:buNone/>
            </a:pPr>
            <a:r>
              <a:rPr lang="en-US" sz="1300" dirty="0">
                <a:solidFill>
                  <a:srgbClr val="C9D1F5"/>
                </a:solidFill>
                <a:latin typeface="Calibri" pitchFamily="34" charset="0"/>
                <a:ea typeface="Calibri" pitchFamily="34" charset="-122"/>
                <a:cs typeface="Calibri" pitchFamily="34" charset="-120"/>
              </a:rPr>
              <a:t>One-step bandit over a 261-D state.</a:t>
            </a:r>
            <a:endParaRPr lang="en-US" sz="1300" dirty="0"/>
          </a:p>
        </p:txBody>
      </p:sp>
      <p:sp>
        <p:nvSpPr>
          <p:cNvPr id="21" name="Shape 15"/>
          <p:cNvSpPr/>
          <p:nvPr/>
        </p:nvSpPr>
        <p:spPr>
          <a:xfrm>
            <a:off x="4434840" y="2926080"/>
            <a:ext cx="3703320" cy="914400"/>
          </a:xfrm>
          <a:prstGeom prst="roundRect">
            <a:avLst>
              <a:gd name="adj" fmla="val 12000"/>
            </a:avLst>
          </a:prstGeom>
          <a:solidFill>
            <a:srgbClr val="151C42"/>
          </a:solidFill>
          <a:ln w="12700">
            <a:solidFill>
              <a:srgbClr val="2B3566"/>
            </a:solidFill>
            <a:prstDash val="solid"/>
          </a:ln>
        </p:spPr>
      </p:sp>
      <p:sp>
        <p:nvSpPr>
          <p:cNvPr id="22" name="Shape 16"/>
          <p:cNvSpPr/>
          <p:nvPr/>
        </p:nvSpPr>
        <p:spPr>
          <a:xfrm>
            <a:off x="4617720" y="3127248"/>
            <a:ext cx="512064" cy="512064"/>
          </a:xfrm>
          <a:prstGeom prst="ellipse">
            <a:avLst/>
          </a:prstGeom>
          <a:solidFill>
            <a:srgbClr val="EC4899"/>
          </a:solidFill>
          <a:ln w="12700">
            <a:solidFill>
              <a:srgbClr val="EC4899"/>
            </a:solidFill>
            <a:prstDash val="solid"/>
          </a:ln>
        </p:spPr>
      </p:sp>
      <p:pic>
        <p:nvPicPr>
          <p:cNvPr id="23" name="Image 3" descr="preencoded.png">    </p:cNvPr>
          <p:cNvPicPr>
            <a:picLocks noChangeAspect="1"/>
          </p:cNvPicPr>
          <p:nvPr/>
        </p:nvPicPr>
        <p:blipFill>
          <a:blip r:embed="rId4"/>
          <a:stretch>
            <a:fillRect/>
          </a:stretch>
        </p:blipFill>
        <p:spPr>
          <a:xfrm>
            <a:off x="4745736" y="3255264"/>
            <a:ext cx="256032" cy="256032"/>
          </a:xfrm>
          <a:prstGeom prst="rect">
            <a:avLst/>
          </a:prstGeom>
        </p:spPr>
      </p:pic>
      <p:sp>
        <p:nvSpPr>
          <p:cNvPr id="24" name="Text 17"/>
          <p:cNvSpPr txBox="1"/>
          <p:nvPr/>
        </p:nvSpPr>
        <p:spPr>
          <a:xfrm>
            <a:off x="5303520" y="3054096"/>
            <a:ext cx="27432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Interactive studio</a:t>
            </a:r>
            <a:endParaRPr lang="en-US" sz="1600" dirty="0"/>
          </a:p>
        </p:txBody>
      </p:sp>
      <p:sp>
        <p:nvSpPr>
          <p:cNvPr id="25" name="Text 18"/>
          <p:cNvSpPr txBox="1"/>
          <p:nvPr/>
        </p:nvSpPr>
        <p:spPr>
          <a:xfrm>
            <a:off x="5303520" y="3383280"/>
            <a:ext cx="2743200" cy="365760"/>
          </a:xfrm>
          <a:prstGeom prst="rect">
            <a:avLst/>
          </a:prstGeom>
          <a:noFill/>
          <a:ln/>
        </p:spPr>
        <p:txBody>
          <a:bodyPr wrap="square" lIns="0" tIns="0" rIns="0" bIns="0" rtlCol="0" anchor="t"/>
          <a:lstStyle/>
          <a:p>
            <a:pPr indent="0" marL="0">
              <a:buNone/>
            </a:pPr>
            <a:r>
              <a:rPr lang="en-US" sz="1300" dirty="0">
                <a:solidFill>
                  <a:srgbClr val="C9D1F5"/>
                </a:solidFill>
                <a:latin typeface="Calibri" pitchFamily="34" charset="0"/>
                <a:ea typeface="Calibri" pitchFamily="34" charset="-122"/>
                <a:cs typeface="Calibri" pitchFamily="34" charset="-120"/>
              </a:rPr>
              <a:t>Mask, decide, compare in about 235 ms.</a:t>
            </a:r>
            <a:endParaRPr lang="en-US" sz="1300" dirty="0"/>
          </a:p>
        </p:txBody>
      </p:sp>
      <p:sp>
        <p:nvSpPr>
          <p:cNvPr id="26" name="Text 19"/>
          <p:cNvSpPr txBox="1"/>
          <p:nvPr/>
        </p:nvSpPr>
        <p:spPr>
          <a:xfrm>
            <a:off x="548640" y="4206240"/>
            <a:ext cx="54864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  ·  Questions?</a:t>
            </a:r>
            <a:endParaRPr lang="en-US" sz="2200" dirty="0"/>
          </a:p>
        </p:txBody>
      </p:sp>
      <p:sp>
        <p:nvSpPr>
          <p:cNvPr id="27" name="Text 20"/>
          <p:cNvSpPr txBox="1"/>
          <p:nvPr/>
        </p:nvSpPr>
        <p:spPr>
          <a:xfrm>
            <a:off x="4572000" y="4206240"/>
            <a:ext cx="4023360" cy="457200"/>
          </a:xfrm>
          <a:prstGeom prst="rect">
            <a:avLst/>
          </a:prstGeom>
          <a:noFill/>
          <a:ln/>
        </p:spPr>
        <p:txBody>
          <a:bodyPr wrap="square" lIns="0" tIns="0" rIns="0" bIns="0" rtlCol="0" anchor="ctr"/>
          <a:lstStyle/>
          <a:p>
            <a:pPr algn="r" indent="0" marL="0">
              <a:buNone/>
            </a:pPr>
            <a:r>
              <a:rPr lang="en-US" sz="1300" dirty="0">
                <a:solidFill>
                  <a:srgbClr val="C9D1F5"/>
                </a:solidFill>
                <a:latin typeface="Calibri" pitchFamily="34" charset="0"/>
                <a:ea typeface="Calibri" pitchFamily="34" charset="-122"/>
                <a:cs typeface="Calibri" pitchFamily="34" charset="-120"/>
              </a:rPr>
              <a:t>Hariprasaadh K  ·  Nithish Kumar CS</a:t>
            </a:r>
            <a:endParaRPr lang="en-US" sz="1300" dirty="0"/>
          </a:p>
        </p:txBody>
      </p:sp>
    </p:spTree>
  </p:cSld>
  <p:clrMapOvr>
    <a:masterClrMapping/>
  </p:clrMapOvr>
</p:sld>
</file>

<file path=ppt/theme/theme1.xml><?xml version="1.0" encoding="utf-8"?>
<a:theme xmlns:a="http://schemas.openxmlformats.org/drawingml/2006/main" name="RL-GAN Midnight">
  <a:themeElements>
    <a:clrScheme name="RL-GAN Midnight">
      <a:dk1>
        <a:srgbClr val="1B2140"/>
      </a:dk1>
      <a:lt1>
        <a:srgbClr val="FFFFFF"/>
      </a:lt1>
      <a:dk2>
        <a:srgbClr val="0B1026"/>
      </a:dk2>
      <a:lt2>
        <a:srgbClr val="F5F6FB"/>
      </a:lt2>
      <a:accent1>
        <a:srgbClr val="6D5DFC"/>
      </a:accent1>
      <a:accent2>
        <a:srgbClr val="0EA5E9"/>
      </a:accent2>
      <a:accent3>
        <a:srgbClr val="F59E0B"/>
      </a:accent3>
      <a:accent4>
        <a:srgbClr val="EC4899"/>
      </a:accent4>
      <a:accent5>
        <a:srgbClr val="14B8A6"/>
      </a:accent5>
      <a:accent6>
        <a:srgbClr val="8A93B8"/>
      </a:accent6>
      <a:hlink>
        <a:srgbClr val="0EA5E9"/>
      </a:hlink>
      <a:folHlink>
        <a:srgbClr val="6D5DFC"/>
      </a:folHlink>
    </a:clrScheme>
    <a:fontScheme name="RL-GAN Mid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RL-GAN Adaptive Image Inpainting</dc:title>
  <dc:subject>PptxGenJS Presentation</dc:subject>
  <dc:creator>Hariprasaadh K, Nithish Kumar CS</dc:creator>
  <cp:lastModifiedBy>Hariprasaadh K, Nithish Kumar CS</cp:lastModifiedBy>
  <cp:revision>1</cp:revision>
  <dcterms:created xsi:type="dcterms:W3CDTF">2026-10-23T13:45:59Z</dcterms:created>
  <dcterms:modified xsi:type="dcterms:W3CDTF">2026-10-23T13:45:59Z</dcterms:modified>
</cp:coreProperties>
</file>